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Watermark-Guided Tamper Localization and Recovery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Self-embedding fragile watermarking that detects WHERE an image was altered—and rebuilds it</a:t>
            </a:r>
          </a:p>
          <a:p>
            <a:r>
              <a:t>Final Year Project — B.E./B.Tech CSE/IT</a:t>
            </a:r>
          </a:p>
          <a:p>
            <a:r>
              <a:t>Submitted by: (Student Name(s), Roll No.)</a:t>
            </a:r>
          </a:p>
          <a:p>
            <a:r>
              <a:t>Project Guide: (Guide Name, Designation)</a:t>
            </a:r>
          </a:p>
          <a:p>
            <a:r>
              <a:t>Department of CSE/IT, (College Name)</a:t>
            </a:r>
          </a:p>
          <a:p>
            <a:r>
              <a:t>Academic Year: (2026-27)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Editing an image is now a 10-second job — phone apps, one-click AI inpainting</a:t>
            </a:r>
          </a:p>
          <a:p>
            <a:pPr>
              <a:defRPr sz="1800"/>
            </a:pPr>
            <a:r>
              <a:t>Tampered images drive real damage: misinformation, forged insurance/accident evidence, doctored ID and legal document scans, altered medical scans</a:t>
            </a:r>
          </a:p>
          <a:p>
            <a:pPr>
              <a:defRPr sz="1800"/>
            </a:pPr>
            <a:r>
              <a:t>Courts and newsrooms need proof of integrity, not opinion</a:t>
            </a:r>
          </a:p>
          <a:p>
            <a:pPr>
              <a:defRPr sz="1800"/>
            </a:pPr>
            <a:r>
              <a:t>Existing tools answer only one question: “Is this fake?”</a:t>
            </a:r>
          </a:p>
          <a:p>
            <a:pPr>
              <a:defRPr sz="1800"/>
            </a:pPr>
            <a:r>
              <a:t>A single yes/no verdict is not actionable:</a:t>
            </a:r>
          </a:p>
          <a:p>
            <a:pPr lvl="1">
              <a:defRPr sz="1800"/>
            </a:pPr>
            <a:r>
              <a:t>Doesn't say which region was altered</a:t>
            </a:r>
          </a:p>
          <a:p>
            <a:pPr lvl="1">
              <a:defRPr sz="1800"/>
            </a:pPr>
            <a:r>
              <a:t>Doesn't say what was there before</a:t>
            </a:r>
          </a:p>
          <a:p>
            <a:pPr lvl="1">
              <a:defRPr sz="1800"/>
            </a:pPr>
            <a:r>
              <a:t>Destroyed evidence stays destroyed</a:t>
            </a:r>
          </a:p>
          <a:p>
            <a:pPr>
              <a:defRPr sz="1800"/>
            </a:pPr>
            <a:r>
              <a:t>Gap addressed: detection + localization + RECOVERY of the original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Embed a self-contained fragile watermark — the image carries its own backup, no external database</a:t>
            </a:r>
          </a:p>
          <a:p>
            <a:pPr>
              <a:defRPr sz="1800"/>
            </a:pPr>
            <a:r>
              <a:t>Detect tampering at block level and output a precise tamper localization mask</a:t>
            </a:r>
          </a:p>
          <a:p>
            <a:pPr>
              <a:defRPr sz="1800"/>
            </a:pPr>
            <a:r>
              <a:t>Recover an approximate version of tampered regions from redundant data stored elsewhere in the same image</a:t>
            </a:r>
          </a:p>
          <a:p>
            <a:pPr>
              <a:defRPr sz="1800"/>
            </a:pPr>
            <a:r>
              <a:t>Keep the watermark imperceptible — target PSNR &gt; 40 dB vs the original</a:t>
            </a:r>
          </a:p>
          <a:p>
            <a:pPr>
              <a:defRPr sz="1800"/>
            </a:pPr>
            <a:r>
              <a:t>Build an automated evaluation pipeline: self-generated ground-truth masks across 4 tamper types, measured on precision/recall/F1/IoU and recovery PSNR/SSIM</a:t>
            </a:r>
          </a:p>
          <a:p>
            <a:pPr>
              <a:defRPr sz="1800"/>
            </a:pPr>
            <a:r>
              <a:t>Achieve all of the above with classical, explainable signal processing — no training data, no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passive forgery detection (copy-move, JPEG-artifact, noise/CFA inconsistency)</a:t>
            </a:r>
          </a:p>
          <a:p>
            <a:pPr lvl="1">
              <a:defRPr sz="1800"/>
            </a:pPr>
            <a:r>
              <a:t>No prior watermark needed, but heuristic, sensitive to post-processing, coarse localization, no recovery</a:t>
            </a:r>
          </a:p>
          <a:p>
            <a:pPr>
              <a:defRPr sz="1800"/>
            </a:pPr>
            <a:r>
              <a:t>Deep-learning forgery / deepfake detectors (CNN, transformer, segmentation-based)</a:t>
            </a:r>
          </a:p>
          <a:p>
            <a:pPr lvl="1">
              <a:defRPr sz="1800"/>
            </a:pPr>
            <a:r>
              <a:t>Strong on benchmarks, but need large labelled datasets + GPU, generalize poorly, black-box scores</a:t>
            </a:r>
          </a:p>
          <a:p>
            <a:pPr>
              <a:defRPr sz="1800"/>
            </a:pPr>
            <a:r>
              <a:t>Robust watermarking (DCT/DWT, spread-spectrum)</a:t>
            </a:r>
          </a:p>
          <a:p>
            <a:pPr lvl="1">
              <a:defRPr sz="1800"/>
            </a:pPr>
            <a:r>
              <a:t>Built to SURVIVE attacks for copyright proof — deliberately insensitive to tampering, unsuitable for authentication</a:t>
            </a:r>
          </a:p>
          <a:p>
            <a:pPr>
              <a:defRPr sz="1800"/>
            </a:pPr>
            <a:r>
              <a:t>Fragile / semi-fragile watermarking</a:t>
            </a:r>
          </a:p>
          <a:p>
            <a:pPr lvl="1">
              <a:defRPr sz="1800"/>
            </a:pPr>
            <a:r>
              <a:t>Correct family for tamper detection; most schemes stop at detect-and-localize only; self-recovery variants underused in practice</a:t>
            </a:r>
          </a:p>
          <a:p>
            <a:pPr>
              <a:defRPr sz="1800"/>
            </a:pPr>
            <a:r>
              <a:t>Consolidated gap: detection-only pipelines, weak explainability, training-data dependence, no restoration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Image treated as a grid of small 8x8 blocks</a:t>
            </a:r>
          </a:p>
          <a:p>
            <a:pPr>
              <a:defRPr sz="1800"/>
            </a:pPr>
            <a:r>
              <a:t>Before distribution: every block compressed into a tiny “recovery code” hidden inside a distant partner block's LSBs; each block also carries a hash of itself</a:t>
            </a:r>
          </a:p>
          <a:p>
            <a:pPr>
              <a:defRPr sz="1800"/>
            </a:pPr>
            <a:r>
              <a:t>Every block has a backup living somewhere far away in the same image</a:t>
            </a:r>
          </a:p>
          <a:p>
            <a:pPr>
              <a:defRPr sz="1800"/>
            </a:pPr>
            <a:r>
              <a:t>After the image is shared/attacked: re-read every block, recompute its hash</a:t>
            </a:r>
          </a:p>
          <a:p>
            <a:pPr lvl="1">
              <a:defRPr sz="1800"/>
            </a:pPr>
            <a:r>
              <a:t>Match = authentic; Mismatch = tampered, marked on a binary mask</a:t>
            </a:r>
          </a:p>
          <a:p>
            <a:pPr>
              <a:defRPr sz="1800"/>
            </a:pPr>
            <a:r>
              <a:t>For each tampered block: fetch its recovery code from its (surviving) partner and repaint the region</a:t>
            </a:r>
          </a:p>
          <a:p>
            <a:pPr>
              <a:defRPr sz="1800"/>
            </a:pPr>
            <a:r>
              <a:t>Output: watermarked image, tamper mask, recovered image, plus full numeric report</a:t>
            </a:r>
          </a:p>
          <a:p>
            <a:pPr>
              <a:defRPr sz="1800"/>
            </a:pPr>
            <a:r>
              <a:t>Plain language: the image carries its own insurance policy, and can heal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/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(Diagram to insert: left-to-right pipeline)</a:t>
            </a:r>
          </a:p>
          <a:p>
            <a:pPr>
              <a:defRPr sz="1600"/>
            </a:pPr>
            <a:r>
              <a:t>Stage 1: Original Image → Stage 2: Block Partitioning (8x8 grid)</a:t>
            </a:r>
          </a:p>
          <a:p>
            <a:pPr>
              <a:defRPr sz="1600"/>
            </a:pPr>
            <a:r>
              <a:t>Stage 3: Recovery Data Generation (DCT low-freq coeffs / downsampled average → quantize)</a:t>
            </a:r>
          </a:p>
          <a:p>
            <a:pPr>
              <a:defRPr sz="1600"/>
            </a:pPr>
            <a:r>
              <a:t>Stage 4: Key-Seeded Block Mapping (secret key → CSPRNG → single-cycle permutation m(i))</a:t>
            </a:r>
          </a:p>
          <a:p>
            <a:pPr>
              <a:defRPr sz="1600"/>
            </a:pPr>
            <a:r>
              <a:t>Stage 5: LSB Embedding (partner's recovery bits + own index-bound hash) → Watermarked Image</a:t>
            </a:r>
          </a:p>
          <a:p>
            <a:pPr>
              <a:defRPr sz="1600"/>
            </a:pPr>
            <a:r>
              <a:t>(Test path only) Tamper Simulation → Tampered Image + Ground-Truth Mask</a:t>
            </a:r>
          </a:p>
          <a:p>
            <a:pPr>
              <a:defRPr sz="1600"/>
            </a:pPr>
            <a:r>
              <a:t>Stage 6: Detection (recompute hash, compare) → Tamper Localization Mask</a:t>
            </a:r>
          </a:p>
          <a:p>
            <a:pPr>
              <a:defRPr sz="1600"/>
            </a:pPr>
            <a:r>
              <a:t>Stage 7: Recovery (read backup from partner, inverse-transform, repaint) → Recovered Image</a:t>
            </a:r>
          </a:p>
          <a:p>
            <a:pPr>
              <a:defRPr sz="1600"/>
            </a:pPr>
            <a:r>
              <a:t>Stage 8: Evaluation (P/R/F1/IoU, recovery PSNR/SSIM, recoverability 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—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Load image, pad to multiple of 8, split into 8x8 blocks</a:t>
            </a:r>
          </a:p>
          <a:p>
            <a:pPr>
              <a:defRPr sz="1800"/>
            </a:pPr>
            <a:r>
              <a:t>Step 2: Clear LSB plane — zero the 2 LSBs of every pixel (stable hash + deterministic embedding)</a:t>
            </a:r>
          </a:p>
          <a:p>
            <a:pPr>
              <a:defRPr sz="1800"/>
            </a:pPr>
            <a:r>
              <a:t>Step 3: Recovery data per block — 2D DCT, keep low-frequency coefficients, quantize to a compact bitstring</a:t>
            </a:r>
          </a:p>
          <a:p>
            <a:pPr>
              <a:defRPr sz="1800"/>
            </a:pPr>
            <a:r>
              <a:t>Step 4: Partner mapping — key-seeded single-cycle permutation m(i), minimum spatial separation enforced</a:t>
            </a:r>
          </a:p>
          <a:p>
            <a:pPr lvl="1">
              <a:defRPr sz="1800"/>
            </a:pPr>
            <a:r>
              <a:t>Reason: a local tamper must not destroy a block AND its own backup at once</a:t>
            </a:r>
          </a:p>
          <a:p>
            <a:pPr>
              <a:defRPr sz="1800"/>
            </a:pPr>
            <a:r>
              <a:t>Step 5: Authentication hash — keyed hash bound to block index + image ID (defeats block-swap counterfeiting)</a:t>
            </a:r>
          </a:p>
          <a:p>
            <a:pPr>
              <a:defRPr sz="1800"/>
            </a:pPr>
            <a:r>
              <a:t>Step 6: Embed — write partner's recovery bits + own hash tag into block's LSBs</a:t>
            </a:r>
          </a:p>
          <a:p>
            <a:pPr>
              <a:defRPr sz="1800"/>
            </a:pPr>
            <a:r>
              <a:t>Output: watermarked image, visually identical, only LSBs changed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— Detection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Detection: recompute hash from current MSB content, compare to stored hash</a:t>
            </a:r>
          </a:p>
          <a:p>
            <a:pPr lvl="1">
              <a:defRPr sz="1800"/>
            </a:pPr>
            <a:r>
              <a:t>Match = authentic; Mismatch = tampered → binary tamper localization mask (with neighbourhood refinement)</a:t>
            </a:r>
          </a:p>
          <a:p>
            <a:pPr>
              <a:defRPr sz="1800"/>
            </a:pPr>
            <a:r>
              <a:t>Recovery: for each tampered block, look up its partner</a:t>
            </a:r>
          </a:p>
          <a:p>
            <a:pPr lvl="1">
              <a:defRPr sz="1800"/>
            </a:pPr>
            <a:r>
              <a:t>Partner authentic → read recovery bits, inverse-transform, repaint block</a:t>
            </a:r>
          </a:p>
          <a:p>
            <a:pPr lvl="1">
              <a:defRPr sz="1800"/>
            </a:pPr>
            <a:r>
              <a:t>Partner ALSO tampered → marked explicitly UNRECOVERABLE, never silently faked</a:t>
            </a:r>
          </a:p>
          <a:p>
            <a:pPr>
              <a:defRPr sz="1800"/>
            </a:pPr>
            <a:r>
              <a:t>Fully explainable: every flag traces to one named hash mismatch — no probability score, no black box</a:t>
            </a:r>
          </a:p>
          <a:p>
            <a:pPr>
              <a:defRPr sz="1800"/>
            </a:pPr>
            <a:r>
              <a:t>Deterministic: same key + same image → identical result, every run</a:t>
            </a:r>
          </a:p>
          <a:p>
            <a:pPr>
              <a:defRPr sz="1800"/>
            </a:pPr>
            <a:r>
              <a:t>Honest scope: built for a lossless pipeline (PNG) owned end-to-end, not for catching unknown external forgeries after re-compression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Python 3.x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Core implementation language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Block partitioning, LSB bit-plane manipulation, vectorized math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OpenCV (cv2)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Image I/O, DCT/IDCT, mask cleanup, inpainting fallback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scikit-image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PSNR and SSIM metric computation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hashlib / hmac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Keyed authentication tags bound to block index + image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NumPy CSPRNG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Secret-key-seeded block mapping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Result plots and visual comparisons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Interactive demo UI — upload, embed, tamper, detect, recover live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Aggregating metrics into result tables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120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No TensorFlow/PyTorch, no dataset download, no GPU — runs fully offline, zero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(Figure to insert: 5-panel strip (a)-(e) side by side)</a:t>
            </a:r>
          </a:p>
          <a:p>
            <a:pPr>
              <a:defRPr sz="1800"/>
            </a:pPr>
            <a:r>
              <a:t>(a) Original Image</a:t>
            </a:r>
          </a:p>
          <a:p>
            <a:pPr>
              <a:defRPr sz="1800"/>
            </a:pPr>
            <a:r>
              <a:t>(b) Watermarked Image — visually identical, PSNR/SSIM caption</a:t>
            </a:r>
          </a:p>
          <a:p>
            <a:pPr>
              <a:defRPr sz="1800"/>
            </a:pPr>
            <a:r>
              <a:t>(c) Tampered Image — object pasted in, or region removed/refilled</a:t>
            </a:r>
          </a:p>
          <a:p>
            <a:pPr>
              <a:defRPr sz="1800"/>
            </a:pPr>
            <a:r>
              <a:t>(d) Detected Tamper Mask — white = flagged, overlay in red on tampered image</a:t>
            </a:r>
          </a:p>
          <a:p>
            <a:pPr>
              <a:defRPr sz="1800"/>
            </a:pPr>
            <a:r>
              <a:t>(e) Recovered Image — repainted from partner-block backups, recovery PSNR caption</a:t>
            </a:r>
          </a:p>
          <a:p>
            <a:pPr>
              <a:defRPr sz="1800"/>
            </a:pPr>
            <a:r>
              <a:t>(Screenshot to insert: Streamlit demo UI — key/block-size/tamper-type controls + live metrics)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Imperceptibility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Descriptor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SSIM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Variant A (DCT) — mean, 32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Variant C (rate-distortion, default) — mean, 32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Lena, Variant A /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45.73 / 45.71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0.9883 / 0.9882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Measured results: PSNR &gt; 45 dB, SSIM min 0.98031 (Variant A) on every image. LSB shifting (not LSB replacement) keeps distortion to ~0.5 LSB 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Detection &amp; Localization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Tamper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Block Prec.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Block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Block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Block IoU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Copy-paste splicing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Object removal / inpainting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0.999981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Region crop &amp; refill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Noise-block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Overall (1,792 trials)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Ground truth is exact (self-generated). Block metrics saturated near 1.0; pixel-level precision mean 0.9614 (gap is block-grid quantization, not false alarms). Object removal (inpaint_removal) is the only class that ever misses -- a smooth inpainter can reproduce a tampered block's own MSBs (22 such blocks across the grid, an expected-miss category, not a bug). Null condition: 0 false positives / 1,802,240 block checks (rule-of-three 95% bound 1.66e-6).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Recovery Quality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Tamper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Recoverability (rho)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In-Region PSNR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Whole-Image PSNR, unmarked (dB)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26.45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19.34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15.84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Key finding: in-region PSNR stays flat across all seven ratios (mean 29.00 dB); whole-image PSNR falls steadily because it is driven by coverage (rho), not descriptor fidelity. Rho does NOT collapse: monotone, near-linear, and above the theoretical 1-alpha bound at every ratio (output/sanity_gate_report.txt). At 50%, 17.36 dB whole-image (unmarked) is well below Korus &amp; Dziech's 37 dB (reference-sharing degrades gracefully; our 1:1 mapping does not -- see Future Scope).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Existing Approaches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Passive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Deep-Learning Detectors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Fragile WM (detect-only)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Learned Proactive WM (EditGuard/DeepMark/RecoverMark)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Proposed System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Detects 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Localizes 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(learned)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(block-precise)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Recovers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(learned)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(deterministic)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Needs 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Yes, large+labelled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Yes,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Needs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(train+infer)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Explainable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(black-box)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(network output)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(traces to 1 hash)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Mostly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Requires prior watermark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(accepted trade-off)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754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Honest framing: recent learned proactive watermarks ALSO localize and recover -- we do not claim unique recovery. Our defensible axis vs. that family: zero training, zero GPU, deterministic, and fully auditable (every decision traces to one recomputed keyed hash).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Digital forensic evidence — CCTV, crime-scene/accident photos watermarked at capture</a:t>
            </a:r>
          </a:p>
          <a:p>
            <a:pPr>
              <a:defRPr sz="1800"/>
            </a:pPr>
            <a:r>
              <a:t>Journalism &amp; media authentication — news agencies watermark on ingest</a:t>
            </a:r>
          </a:p>
          <a:p>
            <a:pPr>
              <a:defRPr sz="1800"/>
            </a:pPr>
            <a:r>
              <a:t>Medical imaging integrity — X-ray/MRI/CT in PACS, altered diagnostic regions flagged and approximately restored</a:t>
            </a:r>
          </a:p>
          <a:p>
            <a:pPr>
              <a:defRPr sz="1800"/>
            </a:pPr>
            <a:r>
              <a:t>Legal &amp; official document scans — cheques, contracts, mark sheets, ID cards, land records</a:t>
            </a:r>
          </a:p>
          <a:p>
            <a:pPr>
              <a:defRPr sz="1800"/>
            </a:pPr>
            <a:r>
              <a:t>Insurance claim verification — damage photos proven unedited before settlement</a:t>
            </a:r>
          </a:p>
          <a:p>
            <a:pPr>
              <a:defRPr sz="1800"/>
            </a:pPr>
            <a:r>
              <a:t>Government / e-governance archives — long-term integrity of scanned public records</a:t>
            </a:r>
          </a:p>
          <a:p>
            <a:pPr>
              <a:defRPr sz="1800"/>
            </a:pPr>
            <a:r>
              <a:t>Secure camera / device firmware — self-authenticating images at the sensor level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Limitations:</a:t>
            </a:r>
          </a:p>
          <a:p>
            <a:pPr lvl="1">
              <a:defRPr sz="1800"/>
            </a:pPr>
            <a:r>
              <a:t>Fragile to benign processing — JPEG re-compression, resizing destroy the watermark; assumes lossless storage</a:t>
            </a:r>
          </a:p>
          <a:p>
            <a:pPr lvl="1">
              <a:defRPr sz="1800"/>
            </a:pPr>
            <a:r>
              <a:t>Block-size trade-off — smaller blocks = sharper localization but less recovery capacity</a:t>
            </a:r>
          </a:p>
          <a:p>
            <a:pPr lvl="1">
              <a:defRPr sz="1800"/>
            </a:pPr>
            <a:r>
              <a:t>Recovery is approximate, not pixel-perfect</a:t>
            </a:r>
          </a:p>
          <a:p>
            <a:pPr lvl="1">
              <a:defRPr sz="1800"/>
            </a:pPr>
            <a:r>
              <a:t>Large-area tampering degrades recovery — block + partner both destroyed = unrecoverable</a:t>
            </a:r>
          </a:p>
          <a:p>
            <a:pPr lvl="1">
              <a:defRPr sz="1800"/>
            </a:pPr>
            <a:r>
              <a:t>Security depends fully on secret-key confidentiality</a:t>
            </a:r>
          </a:p>
          <a:p>
            <a:pPr>
              <a:defRPr sz="1800"/>
            </a:pPr>
            <a:r>
              <a:t>Future Scope:</a:t>
            </a:r>
          </a:p>
          <a:p>
            <a:pPr lvl="1">
              <a:defRPr sz="1800"/>
            </a:pPr>
            <a:r>
              <a:t>Semi-fragile/robust embedding to tolerate mild JPEG compression</a:t>
            </a:r>
          </a:p>
          <a:p>
            <a:pPr lvl="1">
              <a:defRPr sz="1800"/>
            </a:pPr>
            <a:r>
              <a:t>Reference-sharing / redundant backups to survive large-area attacks</a:t>
            </a:r>
          </a:p>
          <a:p>
            <a:pPr lvl="1">
              <a:defRPr sz="1800"/>
            </a:pPr>
            <a:r>
              <a:t>Small unsupervised VQ codebook for smarter recovery encoding (no GPU, no labels)</a:t>
            </a:r>
          </a:p>
          <a:p>
            <a:pPr lvl="1">
              <a:defRPr sz="1800"/>
            </a:pPr>
            <a:r>
              <a:t>Extension to video; camera-side SDK / mobile app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Designed and implemented a block-based self-embedding fragile watermarking system</a:t>
            </a:r>
          </a:p>
          <a:p>
            <a:pPr>
              <a:defRPr sz="1800"/>
            </a:pPr>
            <a:r>
              <a:t>Detects tampering, localizes it to individual 8x8 blocks, and recovers the altered content from key-mapped partner-block backups</a:t>
            </a:r>
          </a:p>
          <a:p>
            <a:pPr>
              <a:defRPr sz="1800"/>
            </a:pPr>
            <a:r>
              <a:t>Achieved imperceptible embedding (PSNR 45.479 dB Variant A / 45.492 dB Variant C, SSIM min 0.98031), block-level localization precision 1.0000 / recall 1.0000 (pixel precision 0.9614), and 29.00 dB mean in-region recovery PSNR that stays flat across all seven tamper ratios (10%-70%) even as whole-image PSNR falls from 33.97 to 14.62 dB</a:t>
            </a:r>
          </a:p>
          <a:p>
            <a:pPr>
              <a:defRPr sz="1800"/>
            </a:pPr>
            <a:r>
              <a:t>Evaluated across four tamper types with exact self-generated ground truth</a:t>
            </a:r>
          </a:p>
          <a:p>
            <a:pPr>
              <a:defRPr sz="1800"/>
            </a:pPr>
            <a:r>
              <a:t>Delivered with classical, deterministic Python/OpenCV signal processing — explainable, reproducible, offline, zero-cost</a:t>
            </a:r>
          </a:p>
          <a:p>
            <a:pPr>
              <a:defRPr sz="1800"/>
            </a:pPr>
            <a:r>
              <a:t>Goes one decisive step beyond conventional forgery detectors: they only flag tampering, this restores what was lost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(Reference list to insert here — must match the IEEE paper's reference list)</a:t>
            </a:r>
          </a:p>
          <a:p>
            <a:pPr>
              <a:defRPr sz="1800"/>
            </a:pPr>
            <a:r>
              <a:t>Coverage: fragile &amp; self-recovery watermarking, DCT-based image authentication, LSB steganography, image forgery detection surveys, deep-learning forgery detection, PSNR/SSIM metrics, OpenCV/scikit-image docs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Live demo available on request — upload an image, tamper it, watch it heal</a:t>
            </a:r>
          </a:p>
          <a:p>
            <a:r>
              <a:t>Contact: (email) | Repository: (link)</a:t>
            </a:r>
          </a:p>
          <a:p>
            <a:r>
              <a:t>Guide: (Guide Name) | Department of CSE/IT, (College Name)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