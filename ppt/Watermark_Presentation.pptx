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985455" y="0"/>
            <a:ext cx="4206240" cy="6858000"/>
          </a:xfrm>
          <a:prstGeom prst="rect">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50292"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0"/>
            <a:ext cx="12191695"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143000"/>
            <a:ext cx="7223760" cy="274320"/>
          </a:xfrm>
          <a:prstGeom prst="rect">
            <a:avLst/>
          </a:prstGeom>
          <a:noFill/>
        </p:spPr>
        <p:txBody>
          <a:bodyPr wrap="square" anchor="t" lIns="0" rIns="0" tIns="0" bIns="0">
            <a:spAutoFit/>
          </a:bodyPr>
          <a:lstStyle/>
          <a:p>
            <a:pPr algn="l">
              <a:lnSpc>
                <a:spcPct val="100000"/>
              </a:lnSpc>
              <a:spcAft>
                <a:spcPts val="0"/>
              </a:spcAft>
            </a:pPr>
            <a:r>
              <a:rPr sz="1150" b="1" i="0">
                <a:solidFill>
                  <a:srgbClr val="22D3EE"/>
                </a:solidFill>
                <a:latin typeface="Segoe UI"/>
              </a:rPr>
              <a:t>FINAL YEAR PROJECT  ·  PROJECT REVIEW</a:t>
            </a:r>
          </a:p>
        </p:txBody>
      </p:sp>
      <p:sp>
        <p:nvSpPr>
          <p:cNvPr id="7" name="TextBox 6"/>
          <p:cNvSpPr txBox="1"/>
          <p:nvPr/>
        </p:nvSpPr>
        <p:spPr>
          <a:xfrm>
            <a:off x="658368" y="1572768"/>
            <a:ext cx="7315200" cy="2011680"/>
          </a:xfrm>
          <a:prstGeom prst="rect">
            <a:avLst/>
          </a:prstGeom>
          <a:noFill/>
        </p:spPr>
        <p:txBody>
          <a:bodyPr wrap="square" anchor="t" lIns="0" rIns="0" tIns="0" bIns="0">
            <a:spAutoFit/>
          </a:bodyPr>
          <a:lstStyle/>
          <a:p>
            <a:pPr algn="l">
              <a:lnSpc>
                <a:spcPct val="102000"/>
              </a:lnSpc>
              <a:spcAft>
                <a:spcPts val="0"/>
              </a:spcAft>
            </a:pPr>
            <a:r>
              <a:rPr sz="4000" b="1" i="0">
                <a:solidFill>
                  <a:srgbClr val="E6EDF6"/>
                </a:solidFill>
                <a:latin typeface="Segoe UI"/>
              </a:rPr>
              <a:t>Watermark-Guided
Tamper Localization
and Recovery</a:t>
            </a:r>
          </a:p>
        </p:txBody>
      </p:sp>
      <p:sp>
        <p:nvSpPr>
          <p:cNvPr id="8" name="Rectangle 7"/>
          <p:cNvSpPr/>
          <p:nvPr/>
        </p:nvSpPr>
        <p:spPr>
          <a:xfrm>
            <a:off x="658368" y="3703320"/>
            <a:ext cx="137160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3977639"/>
            <a:ext cx="6949440" cy="822960"/>
          </a:xfrm>
          <a:prstGeom prst="rect">
            <a:avLst/>
          </a:prstGeom>
          <a:noFill/>
        </p:spPr>
        <p:txBody>
          <a:bodyPr wrap="square" anchor="t" lIns="0" rIns="0" tIns="0" bIns="0">
            <a:spAutoFit/>
          </a:bodyPr>
          <a:lstStyle/>
          <a:p>
            <a:pPr algn="l">
              <a:lnSpc>
                <a:spcPct val="125000"/>
              </a:lnSpc>
              <a:spcAft>
                <a:spcPts val="0"/>
              </a:spcAft>
            </a:pPr>
            <a:r>
              <a:rPr sz="1350" b="0" i="0">
                <a:solidFill>
                  <a:srgbClr val="9FB2CA"/>
                </a:solidFill>
                <a:latin typeface="Segoe UI"/>
              </a:rPr>
              <a:t>A self-embedding fragile watermark that proves an image is untouched, localizes exactly where it was altered — and rebuilds the altered content from data hidden in the image itself.</a:t>
            </a:r>
          </a:p>
        </p:txBody>
      </p:sp>
      <p:sp>
        <p:nvSpPr>
          <p:cNvPr id="10" name="TextBox 9"/>
          <p:cNvSpPr txBox="1"/>
          <p:nvPr/>
        </p:nvSpPr>
        <p:spPr>
          <a:xfrm>
            <a:off x="658368" y="5257800"/>
            <a:ext cx="7315200" cy="274320"/>
          </a:xfrm>
          <a:prstGeom prst="rect">
            <a:avLst/>
          </a:prstGeom>
          <a:noFill/>
        </p:spPr>
        <p:txBody>
          <a:bodyPr wrap="square" anchor="t" lIns="0" rIns="0" tIns="0" bIns="0">
            <a:spAutoFit/>
          </a:bodyPr>
          <a:lstStyle/>
          <a:p>
            <a:pPr algn="l">
              <a:lnSpc>
                <a:spcPct val="100000"/>
              </a:lnSpc>
              <a:spcAft>
                <a:spcPts val="0"/>
              </a:spcAft>
            </a:pPr>
            <a:r>
              <a:rPr sz="950" b="1" i="0">
                <a:solidFill>
                  <a:srgbClr val="22D3EE"/>
                </a:solidFill>
                <a:latin typeface="Segoe UI"/>
              </a:rPr>
              <a:t>PRESENTED BY</a:t>
            </a:r>
          </a:p>
        </p:txBody>
      </p:sp>
      <p:sp>
        <p:nvSpPr>
          <p:cNvPr id="11" name="TextBox 10"/>
          <p:cNvSpPr txBox="1"/>
          <p:nvPr/>
        </p:nvSpPr>
        <p:spPr>
          <a:xfrm>
            <a:off x="658368" y="5504688"/>
            <a:ext cx="7315200" cy="274320"/>
          </a:xfrm>
          <a:prstGeom prst="rect">
            <a:avLst/>
          </a:prstGeom>
          <a:noFill/>
        </p:spPr>
        <p:txBody>
          <a:bodyPr wrap="square" anchor="t" lIns="0" rIns="0" tIns="0" bIns="0">
            <a:spAutoFit/>
          </a:bodyPr>
          <a:lstStyle/>
          <a:p>
            <a:pPr algn="l">
              <a:lnSpc>
                <a:spcPct val="100000"/>
              </a:lnSpc>
              <a:spcAft>
                <a:spcPts val="0"/>
              </a:spcAft>
            </a:pPr>
            <a:r>
              <a:rPr sz="1200" b="1" i="0">
                <a:solidFill>
                  <a:srgbClr val="E6EDF6"/>
                </a:solidFill>
                <a:latin typeface="Segoe UI"/>
              </a:rPr>
              <a:t>[Student Name 1]  ·  [Student Name 2]  ·  [Student Name 3]  ·  [Student Name 4]</a:t>
            </a:r>
          </a:p>
        </p:txBody>
      </p:sp>
      <p:sp>
        <p:nvSpPr>
          <p:cNvPr id="12" name="TextBox 11"/>
          <p:cNvSpPr txBox="1"/>
          <p:nvPr/>
        </p:nvSpPr>
        <p:spPr>
          <a:xfrm>
            <a:off x="658368" y="5833872"/>
            <a:ext cx="7315200" cy="274320"/>
          </a:xfrm>
          <a:prstGeom prst="rect">
            <a:avLst/>
          </a:prstGeom>
          <a:noFill/>
        </p:spPr>
        <p:txBody>
          <a:bodyPr wrap="square" anchor="t" lIns="0" rIns="0" tIns="0" bIns="0">
            <a:spAutoFit/>
          </a:bodyPr>
          <a:lstStyle/>
          <a:p>
            <a:pPr algn="l">
              <a:lnSpc>
                <a:spcPct val="100000"/>
              </a:lnSpc>
              <a:spcAft>
                <a:spcPts val="0"/>
              </a:spcAft>
            </a:pPr>
            <a:r>
              <a:rPr sz="1150" b="0" i="0">
                <a:solidFill>
                  <a:srgbClr val="9FB2CA"/>
                </a:solidFill>
                <a:latin typeface="Segoe UI"/>
              </a:rPr>
              <a:t>Guide: [Guide Name, Designation]</a:t>
            </a:r>
          </a:p>
        </p:txBody>
      </p:sp>
      <p:sp>
        <p:nvSpPr>
          <p:cNvPr id="13" name="TextBox 12"/>
          <p:cNvSpPr txBox="1"/>
          <p:nvPr/>
        </p:nvSpPr>
        <p:spPr>
          <a:xfrm>
            <a:off x="658368" y="6089904"/>
            <a:ext cx="7315200" cy="548640"/>
          </a:xfrm>
          <a:prstGeom prst="rect">
            <a:avLst/>
          </a:prstGeom>
          <a:noFill/>
        </p:spPr>
        <p:txBody>
          <a:bodyPr wrap="square" anchor="t" lIns="0" rIns="0" tIns="0" bIns="0">
            <a:spAutoFit/>
          </a:bodyPr>
          <a:lstStyle/>
          <a:p>
            <a:pPr algn="l">
              <a:lnSpc>
                <a:spcPct val="120000"/>
              </a:lnSpc>
              <a:spcAft>
                <a:spcPts val="0"/>
              </a:spcAft>
            </a:pPr>
            <a:r>
              <a:rPr sz="1000" b="0" i="0">
                <a:solidFill>
                  <a:srgbClr val="8A97A8"/>
                </a:solidFill>
                <a:latin typeface="Segoe UI"/>
              </a:rPr>
              <a:t>Department of Computer Science &amp; Engineering / Information Technology
Ajeenkya D Y Patil School of Engineering, Charholi Bk., Pune  ·  Savitribai Phule Pune University  ·  Academic Year 2026–27</a:t>
            </a:r>
          </a:p>
        </p:txBody>
      </p:sp>
      <p:sp>
        <p:nvSpPr>
          <p:cNvPr id="14" name="TextBox 13"/>
          <p:cNvSpPr txBox="1"/>
          <p:nvPr/>
        </p:nvSpPr>
        <p:spPr>
          <a:xfrm>
            <a:off x="8396935" y="1783080"/>
            <a:ext cx="3291840" cy="457200"/>
          </a:xfrm>
          <a:prstGeom prst="rect">
            <a:avLst/>
          </a:prstGeom>
          <a:noFill/>
        </p:spPr>
        <p:txBody>
          <a:bodyPr wrap="square" anchor="t" lIns="0" rIns="0" tIns="0" bIns="0">
            <a:spAutoFit/>
          </a:bodyPr>
          <a:lstStyle/>
          <a:p>
            <a:pPr algn="l">
              <a:lnSpc>
                <a:spcPct val="100000"/>
              </a:lnSpc>
              <a:spcAft>
                <a:spcPts val="0"/>
              </a:spcAft>
            </a:pPr>
            <a:r>
              <a:rPr sz="2600" b="1" i="0">
                <a:solidFill>
                  <a:srgbClr val="22D3EE"/>
                </a:solidFill>
                <a:latin typeface="Segoe UI"/>
              </a:rPr>
              <a:t>45.49 dB</a:t>
            </a:r>
          </a:p>
        </p:txBody>
      </p:sp>
      <p:sp>
        <p:nvSpPr>
          <p:cNvPr id="15" name="TextBox 14"/>
          <p:cNvSpPr txBox="1"/>
          <p:nvPr/>
        </p:nvSpPr>
        <p:spPr>
          <a:xfrm>
            <a:off x="8396935" y="2258568"/>
            <a:ext cx="3291840" cy="274320"/>
          </a:xfrm>
          <a:prstGeom prst="rect">
            <a:avLst/>
          </a:prstGeom>
          <a:noFill/>
        </p:spPr>
        <p:txBody>
          <a:bodyPr wrap="square" anchor="t" lIns="0" rIns="0" tIns="0" bIns="0">
            <a:spAutoFit/>
          </a:bodyPr>
          <a:lstStyle/>
          <a:p>
            <a:pPr algn="l">
              <a:lnSpc>
                <a:spcPct val="100000"/>
              </a:lnSpc>
              <a:spcAft>
                <a:spcPts val="0"/>
              </a:spcAft>
            </a:pPr>
            <a:r>
              <a:rPr sz="950" b="1" i="0">
                <a:solidFill>
                  <a:srgbClr val="9FB2CA"/>
                </a:solidFill>
                <a:latin typeface="Segoe UI"/>
              </a:rPr>
              <a:t>WATERMARKED PSNR</a:t>
            </a:r>
          </a:p>
        </p:txBody>
      </p:sp>
      <p:sp>
        <p:nvSpPr>
          <p:cNvPr id="16" name="Rectangle 15"/>
          <p:cNvSpPr/>
          <p:nvPr/>
        </p:nvSpPr>
        <p:spPr>
          <a:xfrm>
            <a:off x="8396935" y="2624328"/>
            <a:ext cx="3017520" cy="10972"/>
          </a:xfrm>
          <a:prstGeom prst="rect">
            <a:avLst/>
          </a:prstGeom>
          <a:solidFill>
            <a:srgbClr val="1B2C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96935" y="2990088"/>
            <a:ext cx="3291840" cy="457200"/>
          </a:xfrm>
          <a:prstGeom prst="rect">
            <a:avLst/>
          </a:prstGeom>
          <a:noFill/>
        </p:spPr>
        <p:txBody>
          <a:bodyPr wrap="square" anchor="t" lIns="0" rIns="0" tIns="0" bIns="0">
            <a:spAutoFit/>
          </a:bodyPr>
          <a:lstStyle/>
          <a:p>
            <a:pPr algn="l">
              <a:lnSpc>
                <a:spcPct val="100000"/>
              </a:lnSpc>
              <a:spcAft>
                <a:spcPts val="0"/>
              </a:spcAft>
            </a:pPr>
            <a:r>
              <a:rPr sz="2600" b="1" i="0">
                <a:solidFill>
                  <a:srgbClr val="109881"/>
                </a:solidFill>
                <a:latin typeface="Segoe UI"/>
              </a:rPr>
              <a:t>1.0000</a:t>
            </a:r>
          </a:p>
        </p:txBody>
      </p:sp>
      <p:sp>
        <p:nvSpPr>
          <p:cNvPr id="18" name="TextBox 17"/>
          <p:cNvSpPr txBox="1"/>
          <p:nvPr/>
        </p:nvSpPr>
        <p:spPr>
          <a:xfrm>
            <a:off x="8396935" y="3465576"/>
            <a:ext cx="3291840" cy="274320"/>
          </a:xfrm>
          <a:prstGeom prst="rect">
            <a:avLst/>
          </a:prstGeom>
          <a:noFill/>
        </p:spPr>
        <p:txBody>
          <a:bodyPr wrap="square" anchor="t" lIns="0" rIns="0" tIns="0" bIns="0">
            <a:spAutoFit/>
          </a:bodyPr>
          <a:lstStyle/>
          <a:p>
            <a:pPr algn="l">
              <a:lnSpc>
                <a:spcPct val="100000"/>
              </a:lnSpc>
              <a:spcAft>
                <a:spcPts val="0"/>
              </a:spcAft>
            </a:pPr>
            <a:r>
              <a:rPr sz="950" b="1" i="0">
                <a:solidFill>
                  <a:srgbClr val="9FB2CA"/>
                </a:solidFill>
                <a:latin typeface="Segoe UI"/>
              </a:rPr>
              <a:t>BLOCK PRECISION &amp; RECALL</a:t>
            </a:r>
          </a:p>
        </p:txBody>
      </p:sp>
      <p:sp>
        <p:nvSpPr>
          <p:cNvPr id="19" name="Rectangle 18"/>
          <p:cNvSpPr/>
          <p:nvPr/>
        </p:nvSpPr>
        <p:spPr>
          <a:xfrm>
            <a:off x="8396935" y="3831336"/>
            <a:ext cx="3017520" cy="10972"/>
          </a:xfrm>
          <a:prstGeom prst="rect">
            <a:avLst/>
          </a:prstGeom>
          <a:solidFill>
            <a:srgbClr val="1B2C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396935" y="4197096"/>
            <a:ext cx="3291840" cy="457200"/>
          </a:xfrm>
          <a:prstGeom prst="rect">
            <a:avLst/>
          </a:prstGeom>
          <a:noFill/>
        </p:spPr>
        <p:txBody>
          <a:bodyPr wrap="square" anchor="t" lIns="0" rIns="0" tIns="0" bIns="0">
            <a:spAutoFit/>
          </a:bodyPr>
          <a:lstStyle/>
          <a:p>
            <a:pPr algn="l">
              <a:lnSpc>
                <a:spcPct val="100000"/>
              </a:lnSpc>
              <a:spcAft>
                <a:spcPts val="0"/>
              </a:spcAft>
            </a:pPr>
            <a:r>
              <a:rPr sz="2600" b="1" i="0">
                <a:solidFill>
                  <a:srgbClr val="F59E0B"/>
                </a:solidFill>
                <a:latin typeface="Segoe UI"/>
              </a:rPr>
              <a:t>0 / 1,802,240</a:t>
            </a:r>
          </a:p>
        </p:txBody>
      </p:sp>
      <p:sp>
        <p:nvSpPr>
          <p:cNvPr id="21" name="TextBox 20"/>
          <p:cNvSpPr txBox="1"/>
          <p:nvPr/>
        </p:nvSpPr>
        <p:spPr>
          <a:xfrm>
            <a:off x="8396935" y="4672583"/>
            <a:ext cx="3291840" cy="274320"/>
          </a:xfrm>
          <a:prstGeom prst="rect">
            <a:avLst/>
          </a:prstGeom>
          <a:noFill/>
        </p:spPr>
        <p:txBody>
          <a:bodyPr wrap="square" anchor="t" lIns="0" rIns="0" tIns="0" bIns="0">
            <a:spAutoFit/>
          </a:bodyPr>
          <a:lstStyle/>
          <a:p>
            <a:pPr algn="l">
              <a:lnSpc>
                <a:spcPct val="100000"/>
              </a:lnSpc>
              <a:spcAft>
                <a:spcPts val="0"/>
              </a:spcAft>
            </a:pPr>
            <a:r>
              <a:rPr sz="950" b="1" i="0">
                <a:solidFill>
                  <a:srgbClr val="9FB2CA"/>
                </a:solidFill>
                <a:latin typeface="Segoe UI"/>
              </a:rPr>
              <a:t>FALSE POSITIVES, NULL TEST</a:t>
            </a:r>
          </a:p>
        </p:txBody>
      </p:sp>
      <p:sp>
        <p:nvSpPr>
          <p:cNvPr id="22" name="Rectangle 21"/>
          <p:cNvSpPr/>
          <p:nvPr/>
        </p:nvSpPr>
        <p:spPr>
          <a:xfrm>
            <a:off x="8396935" y="5038344"/>
            <a:ext cx="3017520" cy="10972"/>
          </a:xfrm>
          <a:prstGeom prst="rect">
            <a:avLst/>
          </a:prstGeom>
          <a:solidFill>
            <a:srgbClr val="1B2C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96935" y="5715000"/>
            <a:ext cx="3291840" cy="640080"/>
          </a:xfrm>
          <a:prstGeom prst="rect">
            <a:avLst/>
          </a:prstGeom>
          <a:noFill/>
        </p:spPr>
        <p:txBody>
          <a:bodyPr wrap="square" anchor="t" lIns="0" rIns="0" tIns="0" bIns="0">
            <a:spAutoFit/>
          </a:bodyPr>
          <a:lstStyle/>
          <a:p>
            <a:pPr algn="l">
              <a:lnSpc>
                <a:spcPct val="120000"/>
              </a:lnSpc>
              <a:spcAft>
                <a:spcPts val="0"/>
              </a:spcAft>
            </a:pPr>
            <a:r>
              <a:rPr sz="1000" b="0" i="0">
                <a:solidFill>
                  <a:srgbClr val="8A97A8"/>
                </a:solidFill>
                <a:latin typeface="Segoe UI"/>
              </a:rPr>
              <a:t>measured over 3,232 runs on a
32-image public corpus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CONTENTS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What this presentation covers</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01</a:t>
            </a:r>
          </a:p>
        </p:txBody>
      </p:sp>
      <p:sp>
        <p:nvSpPr>
          <p:cNvPr id="9" name="Rounded Rectangle 8"/>
          <p:cNvSpPr/>
          <p:nvPr/>
        </p:nvSpPr>
        <p:spPr>
          <a:xfrm>
            <a:off x="658368" y="1591056"/>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591056"/>
            <a:ext cx="54864" cy="786384"/>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1591056"/>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01</a:t>
            </a:r>
          </a:p>
        </p:txBody>
      </p:sp>
      <p:sp>
        <p:nvSpPr>
          <p:cNvPr id="12" name="TextBox 11"/>
          <p:cNvSpPr txBox="1"/>
          <p:nvPr/>
        </p:nvSpPr>
        <p:spPr>
          <a:xfrm>
            <a:off x="1527048" y="1591056"/>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Introduction</a:t>
            </a:r>
          </a:p>
        </p:txBody>
      </p:sp>
      <p:sp>
        <p:nvSpPr>
          <p:cNvPr id="13" name="Rounded Rectangle 12"/>
          <p:cNvSpPr/>
          <p:nvPr/>
        </p:nvSpPr>
        <p:spPr>
          <a:xfrm>
            <a:off x="4398264" y="1591056"/>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398264" y="1591056"/>
            <a:ext cx="54864" cy="786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36007" y="1591056"/>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02</a:t>
            </a:r>
          </a:p>
        </p:txBody>
      </p:sp>
      <p:sp>
        <p:nvSpPr>
          <p:cNvPr id="16" name="TextBox 15"/>
          <p:cNvSpPr txBox="1"/>
          <p:nvPr/>
        </p:nvSpPr>
        <p:spPr>
          <a:xfrm>
            <a:off x="5266944" y="1591056"/>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Literature Review</a:t>
            </a:r>
          </a:p>
        </p:txBody>
      </p:sp>
      <p:sp>
        <p:nvSpPr>
          <p:cNvPr id="17" name="Rounded Rectangle 16"/>
          <p:cNvSpPr/>
          <p:nvPr/>
        </p:nvSpPr>
        <p:spPr>
          <a:xfrm>
            <a:off x="8138160" y="1591056"/>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8138160" y="1591056"/>
            <a:ext cx="54864" cy="78638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75904" y="1591056"/>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03</a:t>
            </a:r>
          </a:p>
        </p:txBody>
      </p:sp>
      <p:sp>
        <p:nvSpPr>
          <p:cNvPr id="20" name="TextBox 19"/>
          <p:cNvSpPr txBox="1"/>
          <p:nvPr/>
        </p:nvSpPr>
        <p:spPr>
          <a:xfrm>
            <a:off x="9006840" y="1591056"/>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Research Gap</a:t>
            </a:r>
          </a:p>
        </p:txBody>
      </p:sp>
      <p:sp>
        <p:nvSpPr>
          <p:cNvPr id="21" name="Rounded Rectangle 20"/>
          <p:cNvSpPr/>
          <p:nvPr/>
        </p:nvSpPr>
        <p:spPr>
          <a:xfrm>
            <a:off x="658368" y="2523744"/>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58368" y="2523744"/>
            <a:ext cx="54864" cy="786384"/>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96112" y="2523744"/>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04</a:t>
            </a:r>
          </a:p>
        </p:txBody>
      </p:sp>
      <p:sp>
        <p:nvSpPr>
          <p:cNvPr id="24" name="TextBox 23"/>
          <p:cNvSpPr txBox="1"/>
          <p:nvPr/>
        </p:nvSpPr>
        <p:spPr>
          <a:xfrm>
            <a:off x="1527048" y="2523744"/>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Motivation</a:t>
            </a:r>
          </a:p>
        </p:txBody>
      </p:sp>
      <p:sp>
        <p:nvSpPr>
          <p:cNvPr id="25" name="Rounded Rectangle 24"/>
          <p:cNvSpPr/>
          <p:nvPr/>
        </p:nvSpPr>
        <p:spPr>
          <a:xfrm>
            <a:off x="4398264" y="2523744"/>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398264" y="2523744"/>
            <a:ext cx="54864" cy="786384"/>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636007" y="2523744"/>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05</a:t>
            </a:r>
          </a:p>
        </p:txBody>
      </p:sp>
      <p:sp>
        <p:nvSpPr>
          <p:cNvPr id="28" name="TextBox 27"/>
          <p:cNvSpPr txBox="1"/>
          <p:nvPr/>
        </p:nvSpPr>
        <p:spPr>
          <a:xfrm>
            <a:off x="5266944" y="2523744"/>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Problem Statement</a:t>
            </a:r>
          </a:p>
        </p:txBody>
      </p:sp>
      <p:sp>
        <p:nvSpPr>
          <p:cNvPr id="29" name="Rounded Rectangle 28"/>
          <p:cNvSpPr/>
          <p:nvPr/>
        </p:nvSpPr>
        <p:spPr>
          <a:xfrm>
            <a:off x="8138160" y="2523744"/>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8138160" y="2523744"/>
            <a:ext cx="54864" cy="786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75904" y="2523744"/>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06</a:t>
            </a:r>
          </a:p>
        </p:txBody>
      </p:sp>
      <p:sp>
        <p:nvSpPr>
          <p:cNvPr id="32" name="TextBox 31"/>
          <p:cNvSpPr txBox="1"/>
          <p:nvPr/>
        </p:nvSpPr>
        <p:spPr>
          <a:xfrm>
            <a:off x="9006840" y="2523744"/>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Objectives</a:t>
            </a:r>
          </a:p>
        </p:txBody>
      </p:sp>
      <p:sp>
        <p:nvSpPr>
          <p:cNvPr id="33" name="Rounded Rectangle 32"/>
          <p:cNvSpPr/>
          <p:nvPr/>
        </p:nvSpPr>
        <p:spPr>
          <a:xfrm>
            <a:off x="658368" y="3456432"/>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658368" y="3456432"/>
            <a:ext cx="54864" cy="78638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96112" y="3456432"/>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07</a:t>
            </a:r>
          </a:p>
        </p:txBody>
      </p:sp>
      <p:sp>
        <p:nvSpPr>
          <p:cNvPr id="36" name="TextBox 35"/>
          <p:cNvSpPr txBox="1"/>
          <p:nvPr/>
        </p:nvSpPr>
        <p:spPr>
          <a:xfrm>
            <a:off x="1527048" y="3456432"/>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Methodology</a:t>
            </a:r>
          </a:p>
        </p:txBody>
      </p:sp>
      <p:sp>
        <p:nvSpPr>
          <p:cNvPr id="37" name="Rounded Rectangle 36"/>
          <p:cNvSpPr/>
          <p:nvPr/>
        </p:nvSpPr>
        <p:spPr>
          <a:xfrm>
            <a:off x="4398264" y="3456432"/>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4398264" y="3456432"/>
            <a:ext cx="54864" cy="786384"/>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636007" y="3456432"/>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08</a:t>
            </a:r>
          </a:p>
        </p:txBody>
      </p:sp>
      <p:sp>
        <p:nvSpPr>
          <p:cNvPr id="40" name="TextBox 39"/>
          <p:cNvSpPr txBox="1"/>
          <p:nvPr/>
        </p:nvSpPr>
        <p:spPr>
          <a:xfrm>
            <a:off x="5266944" y="3456432"/>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System Architecture</a:t>
            </a:r>
          </a:p>
        </p:txBody>
      </p:sp>
      <p:sp>
        <p:nvSpPr>
          <p:cNvPr id="41" name="Rounded Rectangle 40"/>
          <p:cNvSpPr/>
          <p:nvPr/>
        </p:nvSpPr>
        <p:spPr>
          <a:xfrm>
            <a:off x="8138160" y="3456432"/>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8138160" y="3456432"/>
            <a:ext cx="54864" cy="786384"/>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375904" y="3456432"/>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09</a:t>
            </a:r>
          </a:p>
        </p:txBody>
      </p:sp>
      <p:sp>
        <p:nvSpPr>
          <p:cNvPr id="44" name="TextBox 43"/>
          <p:cNvSpPr txBox="1"/>
          <p:nvPr/>
        </p:nvSpPr>
        <p:spPr>
          <a:xfrm>
            <a:off x="9006840" y="3456432"/>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Mathematical Model</a:t>
            </a:r>
          </a:p>
        </p:txBody>
      </p:sp>
      <p:sp>
        <p:nvSpPr>
          <p:cNvPr id="45" name="Rounded Rectangle 44"/>
          <p:cNvSpPr/>
          <p:nvPr/>
        </p:nvSpPr>
        <p:spPr>
          <a:xfrm>
            <a:off x="658368" y="4389120"/>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658368" y="4389120"/>
            <a:ext cx="54864" cy="786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96112" y="4389120"/>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10</a:t>
            </a:r>
          </a:p>
        </p:txBody>
      </p:sp>
      <p:sp>
        <p:nvSpPr>
          <p:cNvPr id="48" name="TextBox 47"/>
          <p:cNvSpPr txBox="1"/>
          <p:nvPr/>
        </p:nvSpPr>
        <p:spPr>
          <a:xfrm>
            <a:off x="1527048" y="4389120"/>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Results &amp; Validation</a:t>
            </a:r>
          </a:p>
        </p:txBody>
      </p:sp>
      <p:sp>
        <p:nvSpPr>
          <p:cNvPr id="49" name="Rounded Rectangle 48"/>
          <p:cNvSpPr/>
          <p:nvPr/>
        </p:nvSpPr>
        <p:spPr>
          <a:xfrm>
            <a:off x="4398264" y="4389120"/>
            <a:ext cx="3593592" cy="78638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4398264" y="4389120"/>
            <a:ext cx="54864" cy="78638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636007" y="4389120"/>
            <a:ext cx="548640" cy="786384"/>
          </a:xfrm>
          <a:prstGeom prst="rect">
            <a:avLst/>
          </a:prstGeom>
          <a:noFill/>
        </p:spPr>
        <p:txBody>
          <a:bodyPr wrap="square" anchor="ctr" lIns="0" rIns="0" tIns="0" bIns="0">
            <a:spAutoFit/>
          </a:bodyPr>
          <a:lstStyle/>
          <a:p>
            <a:pPr algn="l">
              <a:lnSpc>
                <a:spcPct val="100000"/>
              </a:lnSpc>
              <a:spcAft>
                <a:spcPts val="0"/>
              </a:spcAft>
            </a:pPr>
            <a:r>
              <a:rPr sz="1900" b="1" i="0">
                <a:solidFill>
                  <a:srgbClr val="8A97A8"/>
                </a:solidFill>
                <a:latin typeface="Segoe UI"/>
              </a:rPr>
              <a:t>11</a:t>
            </a:r>
          </a:p>
        </p:txBody>
      </p:sp>
      <p:sp>
        <p:nvSpPr>
          <p:cNvPr id="52" name="TextBox 51"/>
          <p:cNvSpPr txBox="1"/>
          <p:nvPr/>
        </p:nvSpPr>
        <p:spPr>
          <a:xfrm>
            <a:off x="5266944" y="4389120"/>
            <a:ext cx="2496312"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Segoe UI"/>
              </a:rPr>
              <a:t>Conclusion</a:t>
            </a:r>
          </a:p>
        </p:txBody>
      </p:sp>
      <p:sp>
        <p:nvSpPr>
          <p:cNvPr id="53" name="TextBox 52"/>
          <p:cNvSpPr txBox="1"/>
          <p:nvPr/>
        </p:nvSpPr>
        <p:spPr>
          <a:xfrm>
            <a:off x="658368" y="5413248"/>
            <a:ext cx="10874959" cy="731520"/>
          </a:xfrm>
          <a:prstGeom prst="rect">
            <a:avLst/>
          </a:prstGeom>
          <a:noFill/>
        </p:spPr>
        <p:txBody>
          <a:bodyPr wrap="square" anchor="t" lIns="0" rIns="0" tIns="0" bIns="0">
            <a:spAutoFit/>
          </a:bodyPr>
          <a:lstStyle/>
          <a:p>
            <a:pPr algn="l">
              <a:lnSpc>
                <a:spcPct val="100000"/>
              </a:lnSpc>
              <a:spcAft>
                <a:spcPts val="0"/>
              </a:spcAft>
            </a:pPr>
            <a:r>
              <a:rPr sz="1200" b="0" i="0">
                <a:solidFill>
                  <a:srgbClr val="4B5A70"/>
                </a:solidFill>
                <a:latin typeface="Segoe UI"/>
              </a:rPr>
              <a:t>References and a live demonstration close the session.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01</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01</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Introduction</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What the project is, and the one thing it does that detectors do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01 · INTRODUCTION</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Editing an image is easy. Proving one was not edited is not.</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02</a:t>
            </a:r>
          </a:p>
        </p:txBody>
      </p:sp>
      <p:sp>
        <p:nvSpPr>
          <p:cNvPr id="9" name="Rounded Rectangle 8"/>
          <p:cNvSpPr/>
          <p:nvPr/>
        </p:nvSpPr>
        <p:spPr>
          <a:xfrm>
            <a:off x="658368" y="1527048"/>
            <a:ext cx="3478682" cy="1874519"/>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527048"/>
            <a:ext cx="68580" cy="1874519"/>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1682496"/>
            <a:ext cx="3021482" cy="274320"/>
          </a:xfrm>
          <a:prstGeom prst="rect">
            <a:avLst/>
          </a:prstGeom>
          <a:noFill/>
        </p:spPr>
        <p:txBody>
          <a:bodyPr wrap="square" anchor="t" lIns="0" rIns="0" tIns="0" bIns="0">
            <a:spAutoFit/>
          </a:bodyPr>
          <a:lstStyle/>
          <a:p>
            <a:pPr algn="l">
              <a:lnSpc>
                <a:spcPct val="105000"/>
              </a:lnSpc>
              <a:spcAft>
                <a:spcPts val="0"/>
              </a:spcAft>
            </a:pPr>
            <a:r>
              <a:rPr sz="1500" b="1" i="0">
                <a:solidFill>
                  <a:srgbClr val="0F172A"/>
                </a:solidFill>
                <a:latin typeface="Segoe UI"/>
              </a:rPr>
              <a:t>The situation</a:t>
            </a:r>
          </a:p>
        </p:txBody>
      </p:sp>
      <p:sp>
        <p:nvSpPr>
          <p:cNvPr id="12" name="TextBox 11"/>
          <p:cNvSpPr txBox="1"/>
          <p:nvPr/>
        </p:nvSpPr>
        <p:spPr>
          <a:xfrm>
            <a:off x="914400" y="1956816"/>
            <a:ext cx="3021482" cy="1289303"/>
          </a:xfrm>
          <a:prstGeom prst="rect">
            <a:avLst/>
          </a:prstGeom>
          <a:noFill/>
        </p:spPr>
        <p:txBody>
          <a:bodyPr wrap="square" anchor="t" lIns="0" rIns="0" tIns="0" bIns="0">
            <a:spAutoFit/>
          </a:bodyPr>
          <a:lstStyle/>
          <a:p>
            <a:pPr algn="l">
              <a:lnSpc>
                <a:spcPct val="115000"/>
              </a:lnSpc>
              <a:spcAft>
                <a:spcPts val="0"/>
              </a:spcAft>
            </a:pPr>
            <a:r>
              <a:rPr sz="1200" b="0" i="0">
                <a:solidFill>
                  <a:srgbClr val="4B5A70"/>
                </a:solidFill>
                <a:latin typeface="Segoe UI"/>
              </a:rPr>
              <a:t>A phone app or a one-click AI inpainter alters a photograph in seconds, leaving no visible trace. Evidence, records and reporting all rest on images.</a:t>
            </a:r>
          </a:p>
        </p:txBody>
      </p:sp>
      <p:sp>
        <p:nvSpPr>
          <p:cNvPr id="13" name="Rounded Rectangle 12"/>
          <p:cNvSpPr/>
          <p:nvPr/>
        </p:nvSpPr>
        <p:spPr>
          <a:xfrm>
            <a:off x="4356506" y="1527048"/>
            <a:ext cx="3478682" cy="1874519"/>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356506" y="1527048"/>
            <a:ext cx="68580" cy="1874519"/>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2538" y="1682496"/>
            <a:ext cx="3021482" cy="274320"/>
          </a:xfrm>
          <a:prstGeom prst="rect">
            <a:avLst/>
          </a:prstGeom>
          <a:noFill/>
        </p:spPr>
        <p:txBody>
          <a:bodyPr wrap="square" anchor="t" lIns="0" rIns="0" tIns="0" bIns="0">
            <a:spAutoFit/>
          </a:bodyPr>
          <a:lstStyle/>
          <a:p>
            <a:pPr algn="l">
              <a:lnSpc>
                <a:spcPct val="105000"/>
              </a:lnSpc>
              <a:spcAft>
                <a:spcPts val="0"/>
              </a:spcAft>
            </a:pPr>
            <a:r>
              <a:rPr sz="1500" b="1" i="0">
                <a:solidFill>
                  <a:srgbClr val="0F172A"/>
                </a:solidFill>
                <a:latin typeface="Segoe UI"/>
              </a:rPr>
              <a:t>What tools do today</a:t>
            </a:r>
          </a:p>
        </p:txBody>
      </p:sp>
      <p:sp>
        <p:nvSpPr>
          <p:cNvPr id="16" name="TextBox 15"/>
          <p:cNvSpPr txBox="1"/>
          <p:nvPr/>
        </p:nvSpPr>
        <p:spPr>
          <a:xfrm>
            <a:off x="4612538" y="1956816"/>
            <a:ext cx="3021482" cy="1289303"/>
          </a:xfrm>
          <a:prstGeom prst="rect">
            <a:avLst/>
          </a:prstGeom>
          <a:noFill/>
        </p:spPr>
        <p:txBody>
          <a:bodyPr wrap="square" anchor="t" lIns="0" rIns="0" tIns="0" bIns="0">
            <a:spAutoFit/>
          </a:bodyPr>
          <a:lstStyle/>
          <a:p>
            <a:pPr algn="l">
              <a:lnSpc>
                <a:spcPct val="115000"/>
              </a:lnSpc>
              <a:spcAft>
                <a:spcPts val="0"/>
              </a:spcAft>
            </a:pPr>
            <a:r>
              <a:rPr sz="1200" b="0" i="0">
                <a:solidFill>
                  <a:srgbClr val="4B5A70"/>
                </a:solidFill>
                <a:latin typeface="Segoe UI"/>
              </a:rPr>
              <a:t>Passive forensics and deep-learning detectors return a verdict — “likely fake, 0.87”. That is a score, not an account of what changed.</a:t>
            </a:r>
          </a:p>
        </p:txBody>
      </p:sp>
      <p:sp>
        <p:nvSpPr>
          <p:cNvPr id="17" name="Rounded Rectangle 16"/>
          <p:cNvSpPr/>
          <p:nvPr/>
        </p:nvSpPr>
        <p:spPr>
          <a:xfrm>
            <a:off x="8054644" y="1527048"/>
            <a:ext cx="3478682" cy="1874519"/>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8054644" y="1527048"/>
            <a:ext cx="68580" cy="1874519"/>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10676" y="1682496"/>
            <a:ext cx="3021482" cy="274320"/>
          </a:xfrm>
          <a:prstGeom prst="rect">
            <a:avLst/>
          </a:prstGeom>
          <a:noFill/>
        </p:spPr>
        <p:txBody>
          <a:bodyPr wrap="square" anchor="t" lIns="0" rIns="0" tIns="0" bIns="0">
            <a:spAutoFit/>
          </a:bodyPr>
          <a:lstStyle/>
          <a:p>
            <a:pPr algn="l">
              <a:lnSpc>
                <a:spcPct val="105000"/>
              </a:lnSpc>
              <a:spcAft>
                <a:spcPts val="0"/>
              </a:spcAft>
            </a:pPr>
            <a:r>
              <a:rPr sz="1500" b="1" i="0">
                <a:solidFill>
                  <a:srgbClr val="0F172A"/>
                </a:solidFill>
                <a:latin typeface="Segoe UI"/>
              </a:rPr>
              <a:t>What this project adds</a:t>
            </a:r>
          </a:p>
        </p:txBody>
      </p:sp>
      <p:sp>
        <p:nvSpPr>
          <p:cNvPr id="20" name="TextBox 19"/>
          <p:cNvSpPr txBox="1"/>
          <p:nvPr/>
        </p:nvSpPr>
        <p:spPr>
          <a:xfrm>
            <a:off x="8310676" y="1956816"/>
            <a:ext cx="3021482" cy="1289303"/>
          </a:xfrm>
          <a:prstGeom prst="rect">
            <a:avLst/>
          </a:prstGeom>
          <a:noFill/>
        </p:spPr>
        <p:txBody>
          <a:bodyPr wrap="square" anchor="t" lIns="0" rIns="0" tIns="0" bIns="0">
            <a:spAutoFit/>
          </a:bodyPr>
          <a:lstStyle/>
          <a:p>
            <a:pPr algn="l">
              <a:lnSpc>
                <a:spcPct val="115000"/>
              </a:lnSpc>
              <a:spcAft>
                <a:spcPts val="0"/>
              </a:spcAft>
            </a:pPr>
            <a:r>
              <a:rPr sz="1200" b="0" i="0">
                <a:solidFill>
                  <a:srgbClr val="4B5A70"/>
                </a:solidFill>
                <a:latin typeface="Segoe UI"/>
              </a:rPr>
              <a:t>The image carries its own compressed backup. Verification names the altered blocks exactly, then repaints them from surviving data.</a:t>
            </a:r>
          </a:p>
        </p:txBody>
      </p:sp>
      <p:sp>
        <p:nvSpPr>
          <p:cNvPr id="21" name="Rounded Rectangle 20"/>
          <p:cNvSpPr/>
          <p:nvPr/>
        </p:nvSpPr>
        <p:spPr>
          <a:xfrm>
            <a:off x="658368" y="3630168"/>
            <a:ext cx="10874959" cy="141732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58368" y="3630168"/>
            <a:ext cx="10874959" cy="1417320"/>
          </a:xfrm>
          <a:prstGeom prst="roundRect">
            <a:avLst>
              <a:gd name="adj" fmla="val 50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78407" y="3813048"/>
            <a:ext cx="2834640" cy="320040"/>
          </a:xfrm>
          <a:prstGeom prst="rect">
            <a:avLst/>
          </a:prstGeom>
          <a:noFill/>
        </p:spPr>
        <p:txBody>
          <a:bodyPr wrap="square" anchor="t" lIns="0" rIns="0" tIns="0" bIns="0">
            <a:spAutoFit/>
          </a:bodyPr>
          <a:lstStyle/>
          <a:p>
            <a:pPr algn="l">
              <a:lnSpc>
                <a:spcPct val="100000"/>
              </a:lnSpc>
              <a:spcAft>
                <a:spcPts val="0"/>
              </a:spcAft>
            </a:pPr>
            <a:r>
              <a:rPr sz="1000" b="1" i="0">
                <a:solidFill>
                  <a:srgbClr val="0EA5A4"/>
                </a:solidFill>
                <a:latin typeface="Segoe UI"/>
              </a:rPr>
              <a:t>IN ONE SENTENCE</a:t>
            </a:r>
          </a:p>
        </p:txBody>
      </p:sp>
      <p:sp>
        <p:nvSpPr>
          <p:cNvPr id="24" name="TextBox 23"/>
          <p:cNvSpPr txBox="1"/>
          <p:nvPr/>
        </p:nvSpPr>
        <p:spPr>
          <a:xfrm>
            <a:off x="978407" y="4114800"/>
            <a:ext cx="10234879" cy="822960"/>
          </a:xfrm>
          <a:prstGeom prst="rect">
            <a:avLst/>
          </a:prstGeom>
          <a:noFill/>
        </p:spPr>
        <p:txBody>
          <a:bodyPr wrap="square" anchor="t" lIns="0" rIns="0" tIns="0" bIns="0">
            <a:spAutoFit/>
          </a:bodyPr>
          <a:lstStyle/>
          <a:p>
            <a:pPr algn="l">
              <a:lnSpc>
                <a:spcPct val="125000"/>
              </a:lnSpc>
              <a:spcAft>
                <a:spcPts val="0"/>
              </a:spcAft>
            </a:pPr>
            <a:r>
              <a:rPr sz="1500" b="0" i="0">
                <a:solidFill>
                  <a:srgbClr val="0F172A"/>
                </a:solidFill>
                <a:latin typeface="Segoe UI"/>
              </a:rPr>
              <a:t>Before an image is released it is watermarked so that every 8×8 block carries a keyed fingerprint of itself and a compact description of a distant partner block — so the image can later prove which parts are untouched, and restore the parts that are not.</a:t>
            </a:r>
          </a:p>
        </p:txBody>
      </p:sp>
      <p:sp>
        <p:nvSpPr>
          <p:cNvPr id="25" name="Rounded Rectangle 24"/>
          <p:cNvSpPr/>
          <p:nvPr/>
        </p:nvSpPr>
        <p:spPr>
          <a:xfrm>
            <a:off x="658368" y="5687568"/>
            <a:ext cx="10874959" cy="566928"/>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58368" y="5687568"/>
            <a:ext cx="64008" cy="56692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32688" y="5687568"/>
            <a:ext cx="1032631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Detection answers “is this fake?”. This answers “which pixels, and what was there before?”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01 · INTRODUCTION</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The pipeline, on one image</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03</a:t>
            </a:r>
          </a:p>
        </p:txBody>
      </p:sp>
      <p:pic>
        <p:nvPicPr>
          <p:cNvPr id="9" name="Picture 8" descr="qualitative_strip.png"/>
          <p:cNvPicPr>
            <a:picLocks noChangeAspect="1"/>
          </p:cNvPicPr>
          <p:nvPr/>
        </p:nvPicPr>
        <p:blipFill>
          <a:blip r:embed="rId2"/>
          <a:stretch>
            <a:fillRect/>
          </a:stretch>
        </p:blipFill>
        <p:spPr>
          <a:xfrm>
            <a:off x="658368" y="1984248"/>
            <a:ext cx="10874959" cy="2444130"/>
          </a:xfrm>
          <a:prstGeom prst="rect">
            <a:avLst/>
          </a:prstGeom>
        </p:spPr>
      </p:pic>
      <p:sp>
        <p:nvSpPr>
          <p:cNvPr id="10" name="TextBox 9"/>
          <p:cNvSpPr txBox="1"/>
          <p:nvPr/>
        </p:nvSpPr>
        <p:spPr>
          <a:xfrm>
            <a:off x="658368" y="1527048"/>
            <a:ext cx="10874959" cy="310896"/>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PROTECT  →  TAMPER  →  DETECT  →  RECOVER, ON A SINGLE IMAGE</a:t>
            </a:r>
          </a:p>
        </p:txBody>
      </p:sp>
      <p:sp>
        <p:nvSpPr>
          <p:cNvPr id="11" name="TextBox 10"/>
          <p:cNvSpPr txBox="1"/>
          <p:nvPr/>
        </p:nvSpPr>
        <p:spPr>
          <a:xfrm>
            <a:off x="658368" y="4636008"/>
            <a:ext cx="10874959" cy="685800"/>
          </a:xfrm>
          <a:prstGeom prst="rect">
            <a:avLst/>
          </a:prstGeom>
          <a:noFill/>
        </p:spPr>
        <p:txBody>
          <a:bodyPr wrap="square" anchor="t" lIns="0" rIns="0" tIns="0" bIns="0">
            <a:spAutoFit/>
          </a:bodyPr>
          <a:lstStyle/>
          <a:p>
            <a:pPr algn="l">
              <a:lnSpc>
                <a:spcPct val="120000"/>
              </a:lnSpc>
              <a:spcAft>
                <a:spcPts val="0"/>
              </a:spcAft>
            </a:pPr>
            <a:r>
              <a:rPr sz="1200" b="0" i="0">
                <a:solidFill>
                  <a:srgbClr val="4B5A70"/>
                </a:solidFill>
                <a:latin typeface="Segoe UI"/>
              </a:rPr>
              <a:t>▪  The mask panel shows flagged blocks in red and blocks whose partner was also destroyed — the unrecoverable ones — in a second colour.   ▪  The recovered panel leaves those declared, not invented.</a:t>
            </a:r>
          </a:p>
        </p:txBody>
      </p:sp>
      <p:sp>
        <p:nvSpPr>
          <p:cNvPr id="12" name="Rounded Rectangle 11"/>
          <p:cNvSpPr/>
          <p:nvPr/>
        </p:nvSpPr>
        <p:spPr>
          <a:xfrm>
            <a:off x="658368" y="5440680"/>
            <a:ext cx="10874959" cy="566928"/>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58368" y="5440680"/>
            <a:ext cx="64008" cy="56692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5440680"/>
            <a:ext cx="1032631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The mask is not a heat map. Every flagged block traces to exactly one keyed-hash mismatch that anyone holding the key can recompute.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02</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02</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Literature Review</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Five families of prior work, and what each one settles.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02 · LITERATURE REVIEW</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Five families, and what each one settles</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04</a:t>
            </a:r>
          </a:p>
        </p:txBody>
      </p:sp>
      <p:sp>
        <p:nvSpPr>
          <p:cNvPr id="9" name="Rectangle 8"/>
          <p:cNvSpPr/>
          <p:nvPr/>
        </p:nvSpPr>
        <p:spPr>
          <a:xfrm>
            <a:off x="658368" y="1527048"/>
            <a:ext cx="10874959" cy="36576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1545336"/>
            <a:ext cx="1655063" cy="365760"/>
          </a:xfrm>
          <a:prstGeom prst="rect">
            <a:avLst/>
          </a:prstGeom>
          <a:noFill/>
        </p:spPr>
        <p:txBody>
          <a:bodyPr wrap="square" anchor="ctr" lIns="0" rIns="0" tIns="0" bIns="0">
            <a:spAutoFit/>
          </a:bodyPr>
          <a:lstStyle/>
          <a:p>
            <a:pPr algn="l">
              <a:lnSpc>
                <a:spcPct val="100000"/>
              </a:lnSpc>
              <a:spcAft>
                <a:spcPts val="0"/>
              </a:spcAft>
            </a:pPr>
            <a:r>
              <a:rPr sz="1050" b="1" i="0">
                <a:solidFill>
                  <a:srgbClr val="E6EDF6"/>
                </a:solidFill>
                <a:latin typeface="Segoe UI"/>
              </a:rPr>
              <a:t>Family</a:t>
            </a:r>
          </a:p>
        </p:txBody>
      </p:sp>
      <p:sp>
        <p:nvSpPr>
          <p:cNvPr id="11" name="TextBox 10"/>
          <p:cNvSpPr txBox="1"/>
          <p:nvPr/>
        </p:nvSpPr>
        <p:spPr>
          <a:xfrm>
            <a:off x="2642615" y="1545336"/>
            <a:ext cx="357530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Representative work</a:t>
            </a:r>
          </a:p>
        </p:txBody>
      </p:sp>
      <p:sp>
        <p:nvSpPr>
          <p:cNvPr id="12" name="TextBox 11"/>
          <p:cNvSpPr txBox="1"/>
          <p:nvPr/>
        </p:nvSpPr>
        <p:spPr>
          <a:xfrm>
            <a:off x="6437376" y="1545336"/>
            <a:ext cx="101498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Detects</a:t>
            </a:r>
          </a:p>
        </p:txBody>
      </p:sp>
      <p:sp>
        <p:nvSpPr>
          <p:cNvPr id="13" name="TextBox 12"/>
          <p:cNvSpPr txBox="1"/>
          <p:nvPr/>
        </p:nvSpPr>
        <p:spPr>
          <a:xfrm>
            <a:off x="7671815" y="1545336"/>
            <a:ext cx="101498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Localizes</a:t>
            </a:r>
          </a:p>
        </p:txBody>
      </p:sp>
      <p:sp>
        <p:nvSpPr>
          <p:cNvPr id="14" name="TextBox 13"/>
          <p:cNvSpPr txBox="1"/>
          <p:nvPr/>
        </p:nvSpPr>
        <p:spPr>
          <a:xfrm>
            <a:off x="8906255" y="1545336"/>
            <a:ext cx="92354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Recovers</a:t>
            </a:r>
          </a:p>
        </p:txBody>
      </p:sp>
      <p:sp>
        <p:nvSpPr>
          <p:cNvPr id="15" name="TextBox 14"/>
          <p:cNvSpPr txBox="1"/>
          <p:nvPr/>
        </p:nvSpPr>
        <p:spPr>
          <a:xfrm>
            <a:off x="10049255" y="1545336"/>
            <a:ext cx="1371600"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Needs training</a:t>
            </a:r>
          </a:p>
        </p:txBody>
      </p:sp>
      <p:sp>
        <p:nvSpPr>
          <p:cNvPr id="16" name="Rectangle 15"/>
          <p:cNvSpPr/>
          <p:nvPr/>
        </p:nvSpPr>
        <p:spPr>
          <a:xfrm>
            <a:off x="658368" y="1892808"/>
            <a:ext cx="10874959" cy="420624"/>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58368" y="2302459"/>
            <a:ext cx="10874959"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6384" y="1892808"/>
            <a:ext cx="1618487" cy="420624"/>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Passive forensics</a:t>
            </a:r>
          </a:p>
        </p:txBody>
      </p:sp>
      <p:sp>
        <p:nvSpPr>
          <p:cNvPr id="19" name="TextBox 18"/>
          <p:cNvSpPr txBox="1"/>
          <p:nvPr/>
        </p:nvSpPr>
        <p:spPr>
          <a:xfrm>
            <a:off x="2660903" y="1892808"/>
            <a:ext cx="353872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Rey &amp; Dugelay 2002; copy-move / ELA</a:t>
            </a:r>
          </a:p>
        </p:txBody>
      </p:sp>
      <p:sp>
        <p:nvSpPr>
          <p:cNvPr id="20" name="TextBox 19"/>
          <p:cNvSpPr txBox="1"/>
          <p:nvPr/>
        </p:nvSpPr>
        <p:spPr>
          <a:xfrm>
            <a:off x="6455664" y="1892808"/>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partial</a:t>
            </a:r>
          </a:p>
        </p:txBody>
      </p:sp>
      <p:sp>
        <p:nvSpPr>
          <p:cNvPr id="21" name="TextBox 20"/>
          <p:cNvSpPr txBox="1"/>
          <p:nvPr/>
        </p:nvSpPr>
        <p:spPr>
          <a:xfrm>
            <a:off x="7690104" y="1892808"/>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coarse</a:t>
            </a:r>
          </a:p>
        </p:txBody>
      </p:sp>
      <p:sp>
        <p:nvSpPr>
          <p:cNvPr id="22" name="TextBox 21"/>
          <p:cNvSpPr txBox="1"/>
          <p:nvPr/>
        </p:nvSpPr>
        <p:spPr>
          <a:xfrm>
            <a:off x="8924544" y="1892808"/>
            <a:ext cx="88696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23" name="TextBox 22"/>
          <p:cNvSpPr txBox="1"/>
          <p:nvPr/>
        </p:nvSpPr>
        <p:spPr>
          <a:xfrm>
            <a:off x="10067544" y="1892808"/>
            <a:ext cx="1335024"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24" name="Rectangle 23"/>
          <p:cNvSpPr/>
          <p:nvPr/>
        </p:nvSpPr>
        <p:spPr>
          <a:xfrm>
            <a:off x="658368" y="2313432"/>
            <a:ext cx="10874959"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8368" y="2723083"/>
            <a:ext cx="10874959"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86384" y="2313432"/>
            <a:ext cx="1618487" cy="420624"/>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Learned detectors</a:t>
            </a:r>
          </a:p>
        </p:txBody>
      </p:sp>
      <p:sp>
        <p:nvSpPr>
          <p:cNvPr id="27" name="TextBox 26"/>
          <p:cNvSpPr txBox="1"/>
          <p:nvPr/>
        </p:nvSpPr>
        <p:spPr>
          <a:xfrm>
            <a:off x="2660903" y="2313432"/>
            <a:ext cx="353872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Zhou 2018 (CVPR); ManTra-Net 2019</a:t>
            </a:r>
          </a:p>
        </p:txBody>
      </p:sp>
      <p:sp>
        <p:nvSpPr>
          <p:cNvPr id="28" name="TextBox 27"/>
          <p:cNvSpPr txBox="1"/>
          <p:nvPr/>
        </p:nvSpPr>
        <p:spPr>
          <a:xfrm>
            <a:off x="6455664" y="2313432"/>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29" name="TextBox 28"/>
          <p:cNvSpPr txBox="1"/>
          <p:nvPr/>
        </p:nvSpPr>
        <p:spPr>
          <a:xfrm>
            <a:off x="7690104" y="2313432"/>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30" name="TextBox 29"/>
          <p:cNvSpPr txBox="1"/>
          <p:nvPr/>
        </p:nvSpPr>
        <p:spPr>
          <a:xfrm>
            <a:off x="8924544" y="2313432"/>
            <a:ext cx="88696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31" name="TextBox 30"/>
          <p:cNvSpPr txBox="1"/>
          <p:nvPr/>
        </p:nvSpPr>
        <p:spPr>
          <a:xfrm>
            <a:off x="10067544" y="2313432"/>
            <a:ext cx="1335024"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 large</a:t>
            </a:r>
          </a:p>
        </p:txBody>
      </p:sp>
      <p:sp>
        <p:nvSpPr>
          <p:cNvPr id="32" name="Rectangle 31"/>
          <p:cNvSpPr/>
          <p:nvPr/>
        </p:nvSpPr>
        <p:spPr>
          <a:xfrm>
            <a:off x="658368" y="2734056"/>
            <a:ext cx="10874959" cy="420624"/>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3143707"/>
            <a:ext cx="10874959"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6384" y="2734056"/>
            <a:ext cx="1618487" cy="420624"/>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Robust watermarking</a:t>
            </a:r>
          </a:p>
        </p:txBody>
      </p:sp>
      <p:sp>
        <p:nvSpPr>
          <p:cNvPr id="35" name="TextBox 34"/>
          <p:cNvSpPr txBox="1"/>
          <p:nvPr/>
        </p:nvSpPr>
        <p:spPr>
          <a:xfrm>
            <a:off x="2660903" y="2734056"/>
            <a:ext cx="353872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Cox 1997 spread-spectrum</a:t>
            </a:r>
          </a:p>
        </p:txBody>
      </p:sp>
      <p:sp>
        <p:nvSpPr>
          <p:cNvPr id="36" name="TextBox 35"/>
          <p:cNvSpPr txBox="1"/>
          <p:nvPr/>
        </p:nvSpPr>
        <p:spPr>
          <a:xfrm>
            <a:off x="6455664" y="2734056"/>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 (by design)</a:t>
            </a:r>
          </a:p>
        </p:txBody>
      </p:sp>
      <p:sp>
        <p:nvSpPr>
          <p:cNvPr id="37" name="TextBox 36"/>
          <p:cNvSpPr txBox="1"/>
          <p:nvPr/>
        </p:nvSpPr>
        <p:spPr>
          <a:xfrm>
            <a:off x="7690104" y="2734056"/>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38" name="TextBox 37"/>
          <p:cNvSpPr txBox="1"/>
          <p:nvPr/>
        </p:nvSpPr>
        <p:spPr>
          <a:xfrm>
            <a:off x="8924544" y="2734056"/>
            <a:ext cx="88696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39" name="TextBox 38"/>
          <p:cNvSpPr txBox="1"/>
          <p:nvPr/>
        </p:nvSpPr>
        <p:spPr>
          <a:xfrm>
            <a:off x="10067544" y="2734056"/>
            <a:ext cx="1335024"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40" name="Rectangle 39"/>
          <p:cNvSpPr/>
          <p:nvPr/>
        </p:nvSpPr>
        <p:spPr>
          <a:xfrm>
            <a:off x="658368" y="3154680"/>
            <a:ext cx="10874959"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58368" y="3564331"/>
            <a:ext cx="10874959"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6384" y="3154680"/>
            <a:ext cx="1618487" cy="420624"/>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Fragile, detect-only</a:t>
            </a:r>
          </a:p>
        </p:txBody>
      </p:sp>
      <p:sp>
        <p:nvSpPr>
          <p:cNvPr id="43" name="TextBox 42"/>
          <p:cNvSpPr txBox="1"/>
          <p:nvPr/>
        </p:nvSpPr>
        <p:spPr>
          <a:xfrm>
            <a:off x="2660903" y="3154680"/>
            <a:ext cx="353872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Wong &amp; Memon 2001; Fridrich 2002</a:t>
            </a:r>
          </a:p>
        </p:txBody>
      </p:sp>
      <p:sp>
        <p:nvSpPr>
          <p:cNvPr id="44" name="TextBox 43"/>
          <p:cNvSpPr txBox="1"/>
          <p:nvPr/>
        </p:nvSpPr>
        <p:spPr>
          <a:xfrm>
            <a:off x="6455664" y="3154680"/>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45" name="TextBox 44"/>
          <p:cNvSpPr txBox="1"/>
          <p:nvPr/>
        </p:nvSpPr>
        <p:spPr>
          <a:xfrm>
            <a:off x="7690104" y="3154680"/>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46" name="TextBox 45"/>
          <p:cNvSpPr txBox="1"/>
          <p:nvPr/>
        </p:nvSpPr>
        <p:spPr>
          <a:xfrm>
            <a:off x="8924544" y="3154680"/>
            <a:ext cx="88696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47" name="TextBox 46"/>
          <p:cNvSpPr txBox="1"/>
          <p:nvPr/>
        </p:nvSpPr>
        <p:spPr>
          <a:xfrm>
            <a:off x="10067544" y="3154680"/>
            <a:ext cx="1335024"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48" name="Rectangle 47"/>
          <p:cNvSpPr/>
          <p:nvPr/>
        </p:nvSpPr>
        <p:spPr>
          <a:xfrm>
            <a:off x="658368" y="3575304"/>
            <a:ext cx="10874959" cy="420624"/>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658368" y="3575304"/>
            <a:ext cx="50292" cy="420624"/>
          </a:xfrm>
          <a:prstGeom prst="rect">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86384" y="3575304"/>
            <a:ext cx="1618487" cy="420624"/>
          </a:xfrm>
          <a:prstGeom prst="rect">
            <a:avLst/>
          </a:prstGeom>
          <a:noFill/>
        </p:spPr>
        <p:txBody>
          <a:bodyPr wrap="square" anchor="ctr" lIns="0" rIns="0" tIns="0" bIns="0">
            <a:spAutoFit/>
          </a:bodyPr>
          <a:lstStyle/>
          <a:p>
            <a:pPr algn="l">
              <a:lnSpc>
                <a:spcPct val="100000"/>
              </a:lnSpc>
              <a:spcAft>
                <a:spcPts val="0"/>
              </a:spcAft>
            </a:pPr>
            <a:r>
              <a:rPr sz="1100" b="1" i="0">
                <a:solidFill>
                  <a:srgbClr val="0F172A"/>
                </a:solidFill>
                <a:latin typeface="Segoe UI"/>
              </a:rPr>
              <a:t>Self-embedding</a:t>
            </a:r>
          </a:p>
        </p:txBody>
      </p:sp>
      <p:sp>
        <p:nvSpPr>
          <p:cNvPr id="51" name="TextBox 50"/>
          <p:cNvSpPr txBox="1"/>
          <p:nvPr/>
        </p:nvSpPr>
        <p:spPr>
          <a:xfrm>
            <a:off x="2660903" y="3575304"/>
            <a:ext cx="353872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Fridrich 1999; Zhang 2011; Korus 2013; AuSR 2022–23</a:t>
            </a:r>
          </a:p>
        </p:txBody>
      </p:sp>
      <p:sp>
        <p:nvSpPr>
          <p:cNvPr id="52" name="TextBox 51"/>
          <p:cNvSpPr txBox="1"/>
          <p:nvPr/>
        </p:nvSpPr>
        <p:spPr>
          <a:xfrm>
            <a:off x="6455664" y="3575304"/>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53" name="TextBox 52"/>
          <p:cNvSpPr txBox="1"/>
          <p:nvPr/>
        </p:nvSpPr>
        <p:spPr>
          <a:xfrm>
            <a:off x="7690104" y="3575304"/>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54" name="TextBox 53"/>
          <p:cNvSpPr txBox="1"/>
          <p:nvPr/>
        </p:nvSpPr>
        <p:spPr>
          <a:xfrm>
            <a:off x="8924544" y="3575304"/>
            <a:ext cx="88696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55" name="TextBox 54"/>
          <p:cNvSpPr txBox="1"/>
          <p:nvPr/>
        </p:nvSpPr>
        <p:spPr>
          <a:xfrm>
            <a:off x="10067544" y="3575304"/>
            <a:ext cx="1335024"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no</a:t>
            </a:r>
          </a:p>
        </p:txBody>
      </p:sp>
      <p:sp>
        <p:nvSpPr>
          <p:cNvPr id="56" name="Rectangle 55"/>
          <p:cNvSpPr/>
          <p:nvPr/>
        </p:nvSpPr>
        <p:spPr>
          <a:xfrm>
            <a:off x="658368" y="3995928"/>
            <a:ext cx="10874959"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658368" y="4405579"/>
            <a:ext cx="10874959"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86384" y="3995928"/>
            <a:ext cx="1618487" cy="420624"/>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Learned proactive</a:t>
            </a:r>
          </a:p>
        </p:txBody>
      </p:sp>
      <p:sp>
        <p:nvSpPr>
          <p:cNvPr id="59" name="TextBox 58"/>
          <p:cNvSpPr txBox="1"/>
          <p:nvPr/>
        </p:nvSpPr>
        <p:spPr>
          <a:xfrm>
            <a:off x="2660903" y="3995928"/>
            <a:ext cx="353872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EditGuard CVPR 2024; DeepMark / RecoverMark 2026</a:t>
            </a:r>
          </a:p>
        </p:txBody>
      </p:sp>
      <p:sp>
        <p:nvSpPr>
          <p:cNvPr id="60" name="TextBox 59"/>
          <p:cNvSpPr txBox="1"/>
          <p:nvPr/>
        </p:nvSpPr>
        <p:spPr>
          <a:xfrm>
            <a:off x="6455664" y="3995928"/>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61" name="TextBox 60"/>
          <p:cNvSpPr txBox="1"/>
          <p:nvPr/>
        </p:nvSpPr>
        <p:spPr>
          <a:xfrm>
            <a:off x="7690104" y="3995928"/>
            <a:ext cx="97840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62" name="TextBox 61"/>
          <p:cNvSpPr txBox="1"/>
          <p:nvPr/>
        </p:nvSpPr>
        <p:spPr>
          <a:xfrm>
            <a:off x="8924544" y="3995928"/>
            <a:ext cx="886968"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a:t>
            </a:r>
          </a:p>
        </p:txBody>
      </p:sp>
      <p:sp>
        <p:nvSpPr>
          <p:cNvPr id="63" name="TextBox 62"/>
          <p:cNvSpPr txBox="1"/>
          <p:nvPr/>
        </p:nvSpPr>
        <p:spPr>
          <a:xfrm>
            <a:off x="10067544" y="3995928"/>
            <a:ext cx="1335024" cy="420624"/>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yes, large</a:t>
            </a:r>
          </a:p>
        </p:txBody>
      </p:sp>
      <p:sp>
        <p:nvSpPr>
          <p:cNvPr id="64" name="TextBox 63"/>
          <p:cNvSpPr txBox="1"/>
          <p:nvPr/>
        </p:nvSpPr>
        <p:spPr>
          <a:xfrm>
            <a:off x="658368" y="4617720"/>
            <a:ext cx="10874959" cy="640080"/>
          </a:xfrm>
          <a:prstGeom prst="rect">
            <a:avLst/>
          </a:prstGeom>
          <a:noFill/>
        </p:spPr>
        <p:txBody>
          <a:bodyPr wrap="square" anchor="t" lIns="0" rIns="0" tIns="0" bIns="0">
            <a:spAutoFit/>
          </a:bodyPr>
          <a:lstStyle/>
          <a:p>
            <a:pPr algn="l">
              <a:lnSpc>
                <a:spcPct val="120000"/>
              </a:lnSpc>
              <a:spcAft>
                <a:spcPts val="0"/>
              </a:spcAft>
            </a:pPr>
            <a:r>
              <a:rPr sz="1250" b="0" i="0">
                <a:solidFill>
                  <a:srgbClr val="4B5A70"/>
                </a:solidFill>
                <a:latin typeface="Segoe UI"/>
              </a:rPr>
              <a:t>▪  Self-embedding (highlighted) is the family this project belongs to: the recovery data travels inside the image, so authentication and restoration need no external database.</a:t>
            </a:r>
          </a:p>
        </p:txBody>
      </p:sp>
      <p:sp>
        <p:nvSpPr>
          <p:cNvPr id="65" name="Rounded Rectangle 64"/>
          <p:cNvSpPr/>
          <p:nvPr/>
        </p:nvSpPr>
        <p:spPr>
          <a:xfrm>
            <a:off x="658368" y="5687568"/>
            <a:ext cx="10874959" cy="566928"/>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ounded Rectangle 65"/>
          <p:cNvSpPr/>
          <p:nvPr/>
        </p:nvSpPr>
        <p:spPr>
          <a:xfrm>
            <a:off x="658368" y="5687568"/>
            <a:ext cx="64008" cy="56692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32688" y="5687568"/>
            <a:ext cx="1032631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Recent learned proactive watermarks also localize and recover — recovery is not claimed here as a novel capability. The distinction drawn later is auditability, not 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02 · LITERATURE REVIEW</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How the self-embedding line developed</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05</a:t>
            </a:r>
          </a:p>
        </p:txBody>
      </p:sp>
      <p:sp>
        <p:nvSpPr>
          <p:cNvPr id="9" name="Rectangle 8"/>
          <p:cNvSpPr/>
          <p:nvPr/>
        </p:nvSpPr>
        <p:spPr>
          <a:xfrm>
            <a:off x="658368" y="3767328"/>
            <a:ext cx="10874959" cy="41148"/>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482318" y="3698748"/>
            <a:ext cx="173736" cy="173736"/>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4334256"/>
            <a:ext cx="1702765" cy="274320"/>
          </a:xfrm>
          <a:prstGeom prst="rect">
            <a:avLst/>
          </a:prstGeom>
          <a:noFill/>
        </p:spPr>
        <p:txBody>
          <a:bodyPr wrap="square" anchor="t" lIns="0" rIns="0" tIns="0" bIns="0">
            <a:spAutoFit/>
          </a:bodyPr>
          <a:lstStyle/>
          <a:p>
            <a:pPr algn="ctr">
              <a:lnSpc>
                <a:spcPct val="100000"/>
              </a:lnSpc>
              <a:spcAft>
                <a:spcPts val="0"/>
              </a:spcAft>
            </a:pPr>
            <a:r>
              <a:rPr sz="1500" b="1" i="0">
                <a:solidFill>
                  <a:srgbClr val="22D3EE"/>
                </a:solidFill>
                <a:latin typeface="Segoe UI"/>
              </a:rPr>
              <a:t>1999</a:t>
            </a:r>
          </a:p>
        </p:txBody>
      </p:sp>
      <p:sp>
        <p:nvSpPr>
          <p:cNvPr id="12" name="TextBox 11"/>
          <p:cNvSpPr txBox="1"/>
          <p:nvPr/>
        </p:nvSpPr>
        <p:spPr>
          <a:xfrm>
            <a:off x="493776" y="4590288"/>
            <a:ext cx="2141677" cy="274320"/>
          </a:xfrm>
          <a:prstGeom prst="rect">
            <a:avLst/>
          </a:prstGeom>
          <a:noFill/>
        </p:spPr>
        <p:txBody>
          <a:bodyPr wrap="none" anchor="t" lIns="0" rIns="0" tIns="0" bIns="0">
            <a:spAutoFit/>
          </a:bodyPr>
          <a:lstStyle/>
          <a:p>
            <a:pPr algn="ctr">
              <a:lnSpc>
                <a:spcPct val="100000"/>
              </a:lnSpc>
              <a:spcAft>
                <a:spcPts val="0"/>
              </a:spcAft>
            </a:pPr>
            <a:r>
              <a:rPr sz="1050" b="1" i="0">
                <a:solidFill>
                  <a:srgbClr val="0F172A"/>
                </a:solidFill>
                <a:latin typeface="Segoe UI"/>
              </a:rPr>
              <a:t>Fridrich</a:t>
            </a:r>
          </a:p>
        </p:txBody>
      </p:sp>
      <p:sp>
        <p:nvSpPr>
          <p:cNvPr id="13" name="TextBox 12"/>
          <p:cNvSpPr txBox="1"/>
          <p:nvPr/>
        </p:nvSpPr>
        <p:spPr>
          <a:xfrm>
            <a:off x="676656" y="2542032"/>
            <a:ext cx="1775917" cy="960120"/>
          </a:xfrm>
          <a:prstGeom prst="rect">
            <a:avLst/>
          </a:prstGeom>
          <a:noFill/>
        </p:spPr>
        <p:txBody>
          <a:bodyPr wrap="square" anchor="b" lIns="0" rIns="0" tIns="0" bIns="0">
            <a:spAutoFit/>
          </a:bodyPr>
          <a:lstStyle/>
          <a:p>
            <a:pPr algn="ctr">
              <a:lnSpc>
                <a:spcPct val="115000"/>
              </a:lnSpc>
              <a:spcAft>
                <a:spcPts val="0"/>
              </a:spcAft>
            </a:pPr>
            <a:r>
              <a:rPr sz="1000" b="0" i="0">
                <a:solidFill>
                  <a:srgbClr val="4B5A70"/>
                </a:solidFill>
                <a:latin typeface="Segoe UI"/>
              </a:rPr>
              <a:t>Fridrich &amp; Goljan: hide a
compressed copy of the
image inside itself.</a:t>
            </a:r>
          </a:p>
        </p:txBody>
      </p:sp>
      <p:sp>
        <p:nvSpPr>
          <p:cNvPr id="14" name="Oval 13"/>
          <p:cNvSpPr/>
          <p:nvPr/>
        </p:nvSpPr>
        <p:spPr>
          <a:xfrm>
            <a:off x="3294811" y="3698748"/>
            <a:ext cx="173736" cy="173736"/>
          </a:xfrm>
          <a:prstGeom prst="ellipse">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525725" y="2596896"/>
            <a:ext cx="1702765" cy="274320"/>
          </a:xfrm>
          <a:prstGeom prst="rect">
            <a:avLst/>
          </a:prstGeom>
          <a:noFill/>
        </p:spPr>
        <p:txBody>
          <a:bodyPr wrap="square" anchor="t" lIns="0" rIns="0" tIns="0" bIns="0">
            <a:spAutoFit/>
          </a:bodyPr>
          <a:lstStyle/>
          <a:p>
            <a:pPr algn="ctr">
              <a:lnSpc>
                <a:spcPct val="100000"/>
              </a:lnSpc>
              <a:spcAft>
                <a:spcPts val="0"/>
              </a:spcAft>
            </a:pPr>
            <a:r>
              <a:rPr sz="1500" b="1" i="0">
                <a:solidFill>
                  <a:srgbClr val="0EA5A4"/>
                </a:solidFill>
                <a:latin typeface="Segoe UI"/>
              </a:rPr>
              <a:t>2005</a:t>
            </a:r>
          </a:p>
        </p:txBody>
      </p:sp>
      <p:sp>
        <p:nvSpPr>
          <p:cNvPr id="16" name="TextBox 15"/>
          <p:cNvSpPr txBox="1"/>
          <p:nvPr/>
        </p:nvSpPr>
        <p:spPr>
          <a:xfrm>
            <a:off x="2306269" y="2852928"/>
            <a:ext cx="2141677" cy="274320"/>
          </a:xfrm>
          <a:prstGeom prst="rect">
            <a:avLst/>
          </a:prstGeom>
          <a:noFill/>
        </p:spPr>
        <p:txBody>
          <a:bodyPr wrap="none" anchor="t" lIns="0" rIns="0" tIns="0" bIns="0">
            <a:spAutoFit/>
          </a:bodyPr>
          <a:lstStyle/>
          <a:p>
            <a:pPr algn="ctr">
              <a:lnSpc>
                <a:spcPct val="100000"/>
              </a:lnSpc>
              <a:spcAft>
                <a:spcPts val="0"/>
              </a:spcAft>
            </a:pPr>
            <a:r>
              <a:rPr sz="1050" b="1" i="0">
                <a:solidFill>
                  <a:srgbClr val="0F172A"/>
                </a:solidFill>
                <a:latin typeface="Segoe UI"/>
              </a:rPr>
              <a:t>Lin et al.</a:t>
            </a:r>
          </a:p>
        </p:txBody>
      </p:sp>
      <p:sp>
        <p:nvSpPr>
          <p:cNvPr id="17" name="TextBox 16"/>
          <p:cNvSpPr txBox="1"/>
          <p:nvPr/>
        </p:nvSpPr>
        <p:spPr>
          <a:xfrm>
            <a:off x="2489149" y="3950208"/>
            <a:ext cx="1775917" cy="914400"/>
          </a:xfrm>
          <a:prstGeom prst="rect">
            <a:avLst/>
          </a:prstGeom>
          <a:noFill/>
        </p:spPr>
        <p:txBody>
          <a:bodyPr wrap="square" anchor="t" lIns="0" rIns="0" tIns="0" bIns="0">
            <a:spAutoFit/>
          </a:bodyPr>
          <a:lstStyle/>
          <a:p>
            <a:pPr algn="ctr">
              <a:lnSpc>
                <a:spcPct val="115000"/>
              </a:lnSpc>
              <a:spcAft>
                <a:spcPts val="0"/>
              </a:spcAft>
            </a:pPr>
            <a:r>
              <a:rPr sz="1000" b="0" i="0">
                <a:solidFill>
                  <a:srgbClr val="4B5A70"/>
                </a:solidFill>
                <a:latin typeface="Segoe UI"/>
              </a:rPr>
              <a:t>Hierarchical verification
decouples localization
from payload size.</a:t>
            </a:r>
          </a:p>
        </p:txBody>
      </p:sp>
      <p:sp>
        <p:nvSpPr>
          <p:cNvPr id="18" name="Oval 17"/>
          <p:cNvSpPr/>
          <p:nvPr/>
        </p:nvSpPr>
        <p:spPr>
          <a:xfrm>
            <a:off x="5107305" y="3698748"/>
            <a:ext cx="173736" cy="1737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38218" y="4334256"/>
            <a:ext cx="1702765" cy="274320"/>
          </a:xfrm>
          <a:prstGeom prst="rect">
            <a:avLst/>
          </a:prstGeom>
          <a:noFill/>
        </p:spPr>
        <p:txBody>
          <a:bodyPr wrap="square" anchor="t" lIns="0" rIns="0" tIns="0" bIns="0">
            <a:spAutoFit/>
          </a:bodyPr>
          <a:lstStyle/>
          <a:p>
            <a:pPr algn="ctr">
              <a:lnSpc>
                <a:spcPct val="100000"/>
              </a:lnSpc>
              <a:spcAft>
                <a:spcPts val="0"/>
              </a:spcAft>
            </a:pPr>
            <a:r>
              <a:rPr sz="1500" b="1" i="0">
                <a:solidFill>
                  <a:srgbClr val="7C3AED"/>
                </a:solidFill>
                <a:latin typeface="Segoe UI"/>
              </a:rPr>
              <a:t>2011</a:t>
            </a:r>
          </a:p>
        </p:txBody>
      </p:sp>
      <p:sp>
        <p:nvSpPr>
          <p:cNvPr id="20" name="TextBox 19"/>
          <p:cNvSpPr txBox="1"/>
          <p:nvPr/>
        </p:nvSpPr>
        <p:spPr>
          <a:xfrm>
            <a:off x="4118762" y="4590288"/>
            <a:ext cx="2141677" cy="274320"/>
          </a:xfrm>
          <a:prstGeom prst="rect">
            <a:avLst/>
          </a:prstGeom>
          <a:noFill/>
        </p:spPr>
        <p:txBody>
          <a:bodyPr wrap="none" anchor="t" lIns="0" rIns="0" tIns="0" bIns="0">
            <a:spAutoFit/>
          </a:bodyPr>
          <a:lstStyle/>
          <a:p>
            <a:pPr algn="ctr">
              <a:lnSpc>
                <a:spcPct val="100000"/>
              </a:lnSpc>
              <a:spcAft>
                <a:spcPts val="0"/>
              </a:spcAft>
            </a:pPr>
            <a:r>
              <a:rPr sz="1050" b="1" i="0">
                <a:solidFill>
                  <a:srgbClr val="0F172A"/>
                </a:solidFill>
                <a:latin typeface="Segoe UI"/>
              </a:rPr>
              <a:t>Zhang et al.</a:t>
            </a:r>
          </a:p>
        </p:txBody>
      </p:sp>
      <p:sp>
        <p:nvSpPr>
          <p:cNvPr id="21" name="TextBox 20"/>
          <p:cNvSpPr txBox="1"/>
          <p:nvPr/>
        </p:nvSpPr>
        <p:spPr>
          <a:xfrm>
            <a:off x="4301642" y="2542032"/>
            <a:ext cx="1775917" cy="960120"/>
          </a:xfrm>
          <a:prstGeom prst="rect">
            <a:avLst/>
          </a:prstGeom>
          <a:noFill/>
        </p:spPr>
        <p:txBody>
          <a:bodyPr wrap="square" anchor="b" lIns="0" rIns="0" tIns="0" bIns="0">
            <a:spAutoFit/>
          </a:bodyPr>
          <a:lstStyle/>
          <a:p>
            <a:pPr algn="ctr">
              <a:lnSpc>
                <a:spcPct val="115000"/>
              </a:lnSpc>
              <a:spcAft>
                <a:spcPts val="0"/>
              </a:spcAft>
            </a:pPr>
            <a:r>
              <a:rPr sz="1000" b="0" i="0">
                <a:solidFill>
                  <a:srgbClr val="4B5A70"/>
                </a:solidFill>
                <a:latin typeface="Segoe UI"/>
              </a:rPr>
              <a:t>Reference sharing — one
backup serves several
blocks at once.</a:t>
            </a:r>
          </a:p>
        </p:txBody>
      </p:sp>
      <p:sp>
        <p:nvSpPr>
          <p:cNvPr id="22" name="Oval 21"/>
          <p:cNvSpPr/>
          <p:nvPr/>
        </p:nvSpPr>
        <p:spPr>
          <a:xfrm>
            <a:off x="6919798" y="3698748"/>
            <a:ext cx="173736" cy="1737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150711" y="2596896"/>
            <a:ext cx="1702765" cy="274320"/>
          </a:xfrm>
          <a:prstGeom prst="rect">
            <a:avLst/>
          </a:prstGeom>
          <a:noFill/>
        </p:spPr>
        <p:txBody>
          <a:bodyPr wrap="square" anchor="t" lIns="0" rIns="0" tIns="0" bIns="0">
            <a:spAutoFit/>
          </a:bodyPr>
          <a:lstStyle/>
          <a:p>
            <a:pPr algn="ctr">
              <a:lnSpc>
                <a:spcPct val="100000"/>
              </a:lnSpc>
              <a:spcAft>
                <a:spcPts val="0"/>
              </a:spcAft>
            </a:pPr>
            <a:r>
              <a:rPr sz="1500" b="1" i="0">
                <a:solidFill>
                  <a:srgbClr val="F59E0B"/>
                </a:solidFill>
                <a:latin typeface="Segoe UI"/>
              </a:rPr>
              <a:t>2013</a:t>
            </a:r>
          </a:p>
        </p:txBody>
      </p:sp>
      <p:sp>
        <p:nvSpPr>
          <p:cNvPr id="24" name="TextBox 23"/>
          <p:cNvSpPr txBox="1"/>
          <p:nvPr/>
        </p:nvSpPr>
        <p:spPr>
          <a:xfrm>
            <a:off x="5931255" y="2852928"/>
            <a:ext cx="2141677" cy="274320"/>
          </a:xfrm>
          <a:prstGeom prst="rect">
            <a:avLst/>
          </a:prstGeom>
          <a:noFill/>
        </p:spPr>
        <p:txBody>
          <a:bodyPr wrap="none" anchor="t" lIns="0" rIns="0" tIns="0" bIns="0">
            <a:spAutoFit/>
          </a:bodyPr>
          <a:lstStyle/>
          <a:p>
            <a:pPr algn="ctr">
              <a:lnSpc>
                <a:spcPct val="100000"/>
              </a:lnSpc>
              <a:spcAft>
                <a:spcPts val="0"/>
              </a:spcAft>
            </a:pPr>
            <a:r>
              <a:rPr sz="1050" b="1" i="0">
                <a:solidFill>
                  <a:srgbClr val="0F172A"/>
                </a:solidFill>
                <a:latin typeface="Segoe UI"/>
              </a:rPr>
              <a:t>Korus</a:t>
            </a:r>
          </a:p>
        </p:txBody>
      </p:sp>
      <p:sp>
        <p:nvSpPr>
          <p:cNvPr id="25" name="TextBox 24"/>
          <p:cNvSpPr txBox="1"/>
          <p:nvPr/>
        </p:nvSpPr>
        <p:spPr>
          <a:xfrm>
            <a:off x="6114135" y="3950208"/>
            <a:ext cx="1775917" cy="914400"/>
          </a:xfrm>
          <a:prstGeom prst="rect">
            <a:avLst/>
          </a:prstGeom>
          <a:noFill/>
        </p:spPr>
        <p:txBody>
          <a:bodyPr wrap="square" anchor="t" lIns="0" rIns="0" tIns="0" bIns="0">
            <a:spAutoFit/>
          </a:bodyPr>
          <a:lstStyle/>
          <a:p>
            <a:pPr algn="ctr">
              <a:lnSpc>
                <a:spcPct val="115000"/>
              </a:lnSpc>
              <a:spcAft>
                <a:spcPts val="0"/>
              </a:spcAft>
            </a:pPr>
            <a:r>
              <a:rPr sz="1000" b="0" i="0">
                <a:solidFill>
                  <a:srgbClr val="4B5A70"/>
                </a:solidFill>
                <a:latin typeface="Segoe UI"/>
              </a:rPr>
              <a:t>Korus &amp; Dziech: fountain
codes, graceful decay,
37 dB at 50% damage.</a:t>
            </a:r>
          </a:p>
        </p:txBody>
      </p:sp>
      <p:sp>
        <p:nvSpPr>
          <p:cNvPr id="26" name="Oval 25"/>
          <p:cNvSpPr/>
          <p:nvPr/>
        </p:nvSpPr>
        <p:spPr>
          <a:xfrm>
            <a:off x="8732291" y="3698748"/>
            <a:ext cx="173736" cy="173736"/>
          </a:xfrm>
          <a:prstGeom prst="ellipse">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963204" y="4334256"/>
            <a:ext cx="1702765" cy="274320"/>
          </a:xfrm>
          <a:prstGeom prst="rect">
            <a:avLst/>
          </a:prstGeom>
          <a:noFill/>
        </p:spPr>
        <p:txBody>
          <a:bodyPr wrap="square" anchor="t" lIns="0" rIns="0" tIns="0" bIns="0">
            <a:spAutoFit/>
          </a:bodyPr>
          <a:lstStyle/>
          <a:p>
            <a:pPr algn="ctr">
              <a:lnSpc>
                <a:spcPct val="100000"/>
              </a:lnSpc>
              <a:spcAft>
                <a:spcPts val="0"/>
              </a:spcAft>
            </a:pPr>
            <a:r>
              <a:rPr sz="1500" b="1" i="0">
                <a:solidFill>
                  <a:srgbClr val="109881"/>
                </a:solidFill>
                <a:latin typeface="Segoe UI"/>
              </a:rPr>
              <a:t>2022–24</a:t>
            </a:r>
          </a:p>
        </p:txBody>
      </p:sp>
      <p:sp>
        <p:nvSpPr>
          <p:cNvPr id="28" name="TextBox 27"/>
          <p:cNvSpPr txBox="1"/>
          <p:nvPr/>
        </p:nvSpPr>
        <p:spPr>
          <a:xfrm>
            <a:off x="7743748" y="4590288"/>
            <a:ext cx="2141677" cy="274320"/>
          </a:xfrm>
          <a:prstGeom prst="rect">
            <a:avLst/>
          </a:prstGeom>
          <a:noFill/>
        </p:spPr>
        <p:txBody>
          <a:bodyPr wrap="none" anchor="t" lIns="0" rIns="0" tIns="0" bIns="0">
            <a:spAutoFit/>
          </a:bodyPr>
          <a:lstStyle/>
          <a:p>
            <a:pPr algn="ctr">
              <a:lnSpc>
                <a:spcPct val="100000"/>
              </a:lnSpc>
              <a:spcAft>
                <a:spcPts val="0"/>
              </a:spcAft>
            </a:pPr>
            <a:r>
              <a:rPr sz="1050" b="1" i="0">
                <a:solidFill>
                  <a:srgbClr val="0F172A"/>
                </a:solidFill>
                <a:latin typeface="Segoe UI"/>
              </a:rPr>
              <a:t>Aminuddin</a:t>
            </a:r>
          </a:p>
        </p:txBody>
      </p:sp>
      <p:sp>
        <p:nvSpPr>
          <p:cNvPr id="29" name="TextBox 28"/>
          <p:cNvSpPr txBox="1"/>
          <p:nvPr/>
        </p:nvSpPr>
        <p:spPr>
          <a:xfrm>
            <a:off x="7926628" y="2542032"/>
            <a:ext cx="1775917" cy="960120"/>
          </a:xfrm>
          <a:prstGeom prst="rect">
            <a:avLst/>
          </a:prstGeom>
          <a:noFill/>
        </p:spPr>
        <p:txBody>
          <a:bodyPr wrap="square" anchor="b" lIns="0" rIns="0" tIns="0" bIns="0">
            <a:spAutoFit/>
          </a:bodyPr>
          <a:lstStyle/>
          <a:p>
            <a:pPr algn="ctr">
              <a:lnSpc>
                <a:spcPct val="115000"/>
              </a:lnSpc>
              <a:spcAft>
                <a:spcPts val="0"/>
              </a:spcAft>
            </a:pPr>
            <a:r>
              <a:rPr sz="1000" b="0" i="0">
                <a:solidFill>
                  <a:srgbClr val="4B5A70"/>
                </a:solidFill>
                <a:latin typeface="Segoe UI"/>
              </a:rPr>
              <a:t>Aminuddin &amp; Ernawan:
AuSR1–3, LSB shifting,
TCBR/TCBD metrics.</a:t>
            </a:r>
          </a:p>
        </p:txBody>
      </p:sp>
      <p:sp>
        <p:nvSpPr>
          <p:cNvPr id="30" name="Oval 29"/>
          <p:cNvSpPr/>
          <p:nvPr/>
        </p:nvSpPr>
        <p:spPr>
          <a:xfrm>
            <a:off x="10544784" y="3698748"/>
            <a:ext cx="173736" cy="17373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775698" y="2596896"/>
            <a:ext cx="1702765" cy="274320"/>
          </a:xfrm>
          <a:prstGeom prst="rect">
            <a:avLst/>
          </a:prstGeom>
          <a:noFill/>
        </p:spPr>
        <p:txBody>
          <a:bodyPr wrap="square" anchor="t" lIns="0" rIns="0" tIns="0" bIns="0">
            <a:spAutoFit/>
          </a:bodyPr>
          <a:lstStyle/>
          <a:p>
            <a:pPr algn="ctr">
              <a:lnSpc>
                <a:spcPct val="100000"/>
              </a:lnSpc>
              <a:spcAft>
                <a:spcPts val="0"/>
              </a:spcAft>
            </a:pPr>
            <a:r>
              <a:rPr sz="1500" b="1" i="0">
                <a:solidFill>
                  <a:srgbClr val="E11D48"/>
                </a:solidFill>
                <a:latin typeface="Segoe UI"/>
              </a:rPr>
              <a:t>2024–26</a:t>
            </a:r>
          </a:p>
        </p:txBody>
      </p:sp>
      <p:sp>
        <p:nvSpPr>
          <p:cNvPr id="32" name="TextBox 31"/>
          <p:cNvSpPr txBox="1"/>
          <p:nvPr/>
        </p:nvSpPr>
        <p:spPr>
          <a:xfrm>
            <a:off x="9556242" y="2852928"/>
            <a:ext cx="2141677" cy="274320"/>
          </a:xfrm>
          <a:prstGeom prst="rect">
            <a:avLst/>
          </a:prstGeom>
          <a:noFill/>
        </p:spPr>
        <p:txBody>
          <a:bodyPr wrap="none" anchor="t" lIns="0" rIns="0" tIns="0" bIns="0">
            <a:spAutoFit/>
          </a:bodyPr>
          <a:lstStyle/>
          <a:p>
            <a:pPr algn="ctr">
              <a:lnSpc>
                <a:spcPct val="100000"/>
              </a:lnSpc>
              <a:spcAft>
                <a:spcPts val="0"/>
              </a:spcAft>
            </a:pPr>
            <a:r>
              <a:rPr sz="1050" b="1" i="0">
                <a:solidFill>
                  <a:srgbClr val="0F172A"/>
                </a:solidFill>
                <a:latin typeface="Segoe UI"/>
              </a:rPr>
              <a:t>EditGuard</a:t>
            </a:r>
          </a:p>
        </p:txBody>
      </p:sp>
      <p:sp>
        <p:nvSpPr>
          <p:cNvPr id="33" name="TextBox 32"/>
          <p:cNvSpPr txBox="1"/>
          <p:nvPr/>
        </p:nvSpPr>
        <p:spPr>
          <a:xfrm>
            <a:off x="9739122" y="3950208"/>
            <a:ext cx="1775917" cy="914400"/>
          </a:xfrm>
          <a:prstGeom prst="rect">
            <a:avLst/>
          </a:prstGeom>
          <a:noFill/>
        </p:spPr>
        <p:txBody>
          <a:bodyPr wrap="square" anchor="t" lIns="0" rIns="0" tIns="0" bIns="0">
            <a:spAutoFit/>
          </a:bodyPr>
          <a:lstStyle/>
          <a:p>
            <a:pPr algn="ctr">
              <a:lnSpc>
                <a:spcPct val="115000"/>
              </a:lnSpc>
              <a:spcAft>
                <a:spcPts val="0"/>
              </a:spcAft>
            </a:pPr>
            <a:r>
              <a:rPr sz="1000" b="0" i="0">
                <a:solidFill>
                  <a:srgbClr val="4B5A70"/>
                </a:solidFill>
                <a:latin typeface="Segoe UI"/>
              </a:rPr>
              <a:t>EditGuard, Wu et al.:
learned proactive marks,
multi-feature fragile.</a:t>
            </a:r>
          </a:p>
        </p:txBody>
      </p:sp>
      <p:sp>
        <p:nvSpPr>
          <p:cNvPr id="34" name="Rounded Rectangle 33"/>
          <p:cNvSpPr/>
          <p:nvPr/>
        </p:nvSpPr>
        <p:spPr>
          <a:xfrm>
            <a:off x="658368" y="5687568"/>
            <a:ext cx="10874959" cy="566928"/>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658368" y="5687568"/>
            <a:ext cx="64008" cy="56692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32688" y="5687568"/>
            <a:ext cx="1032631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Two decades of work on capacity and mapping; comparatively little on reproducible, end-to-end measurement of the whole pipeline on a public corpus.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03</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03</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Research Gap</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Where the published record stops, and what is left unmeasured.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03 · RESEARCH GAP</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Where the published record stops</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06</a:t>
            </a:r>
          </a:p>
        </p:txBody>
      </p:sp>
      <p:sp>
        <p:nvSpPr>
          <p:cNvPr id="9" name="Rounded Rectangle 8"/>
          <p:cNvSpPr/>
          <p:nvPr/>
        </p:nvSpPr>
        <p:spPr>
          <a:xfrm>
            <a:off x="658368" y="1527048"/>
            <a:ext cx="5327751" cy="106070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527048"/>
            <a:ext cx="68580" cy="1060704"/>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1682496"/>
            <a:ext cx="4870551" cy="259080"/>
          </a:xfrm>
          <a:prstGeom prst="rect">
            <a:avLst/>
          </a:prstGeom>
          <a:noFill/>
        </p:spPr>
        <p:txBody>
          <a:bodyPr wrap="square" anchor="t" lIns="0" rIns="0" tIns="0" bIns="0">
            <a:spAutoFit/>
          </a:bodyPr>
          <a:lstStyle/>
          <a:p>
            <a:pPr algn="l">
              <a:lnSpc>
                <a:spcPct val="105000"/>
              </a:lnSpc>
              <a:spcAft>
                <a:spcPts val="0"/>
              </a:spcAft>
            </a:pPr>
            <a:r>
              <a:rPr sz="1400" b="1" i="0">
                <a:solidFill>
                  <a:srgbClr val="0F172A"/>
                </a:solidFill>
                <a:latin typeface="Segoe UI"/>
              </a:rPr>
              <a:t>Verdicts without accounts</a:t>
            </a:r>
          </a:p>
        </p:txBody>
      </p:sp>
      <p:sp>
        <p:nvSpPr>
          <p:cNvPr id="12" name="TextBox 11"/>
          <p:cNvSpPr txBox="1"/>
          <p:nvPr/>
        </p:nvSpPr>
        <p:spPr>
          <a:xfrm>
            <a:off x="914400" y="1941576"/>
            <a:ext cx="4870551" cy="490727"/>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Detectors return a confidence score. A score cannot be audited, contested, or reproduced by a second party.</a:t>
            </a:r>
          </a:p>
        </p:txBody>
      </p:sp>
      <p:sp>
        <p:nvSpPr>
          <p:cNvPr id="13" name="Rounded Rectangle 12"/>
          <p:cNvSpPr/>
          <p:nvPr/>
        </p:nvSpPr>
        <p:spPr>
          <a:xfrm>
            <a:off x="6205575" y="1527048"/>
            <a:ext cx="5327751" cy="106070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05575" y="1527048"/>
            <a:ext cx="68580" cy="106070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1607" y="1682496"/>
            <a:ext cx="4870551" cy="259080"/>
          </a:xfrm>
          <a:prstGeom prst="rect">
            <a:avLst/>
          </a:prstGeom>
          <a:noFill/>
        </p:spPr>
        <p:txBody>
          <a:bodyPr wrap="square" anchor="t" lIns="0" rIns="0" tIns="0" bIns="0">
            <a:spAutoFit/>
          </a:bodyPr>
          <a:lstStyle/>
          <a:p>
            <a:pPr algn="l">
              <a:lnSpc>
                <a:spcPct val="105000"/>
              </a:lnSpc>
              <a:spcAft>
                <a:spcPts val="0"/>
              </a:spcAft>
            </a:pPr>
            <a:r>
              <a:rPr sz="1400" b="1" i="0">
                <a:solidFill>
                  <a:srgbClr val="0F172A"/>
                </a:solidFill>
                <a:latin typeface="Segoe UI"/>
              </a:rPr>
              <a:t>Capability without a protocol</a:t>
            </a:r>
          </a:p>
        </p:txBody>
      </p:sp>
      <p:sp>
        <p:nvSpPr>
          <p:cNvPr id="16" name="TextBox 15"/>
          <p:cNvSpPr txBox="1"/>
          <p:nvPr/>
        </p:nvSpPr>
        <p:spPr>
          <a:xfrm>
            <a:off x="6461607" y="1941576"/>
            <a:ext cx="4870551" cy="490727"/>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Self-recovery schemes report favourable operating points; few publish a full grid over tamper class × ratio × image with an exact ground truth.</a:t>
            </a:r>
          </a:p>
        </p:txBody>
      </p:sp>
      <p:sp>
        <p:nvSpPr>
          <p:cNvPr id="17" name="Rounded Rectangle 16"/>
          <p:cNvSpPr/>
          <p:nvPr/>
        </p:nvSpPr>
        <p:spPr>
          <a:xfrm>
            <a:off x="658368" y="2734056"/>
            <a:ext cx="5327751" cy="106070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58368" y="2734056"/>
            <a:ext cx="68580" cy="106070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2889504"/>
            <a:ext cx="4870551" cy="259080"/>
          </a:xfrm>
          <a:prstGeom prst="rect">
            <a:avLst/>
          </a:prstGeom>
          <a:noFill/>
        </p:spPr>
        <p:txBody>
          <a:bodyPr wrap="square" anchor="t" lIns="0" rIns="0" tIns="0" bIns="0">
            <a:spAutoFit/>
          </a:bodyPr>
          <a:lstStyle/>
          <a:p>
            <a:pPr algn="l">
              <a:lnSpc>
                <a:spcPct val="105000"/>
              </a:lnSpc>
              <a:spcAft>
                <a:spcPts val="0"/>
              </a:spcAft>
            </a:pPr>
            <a:r>
              <a:rPr sz="1400" b="1" i="0">
                <a:solidFill>
                  <a:srgbClr val="0F172A"/>
                </a:solidFill>
                <a:latin typeface="Segoe UI"/>
              </a:rPr>
              <a:t>The null condition is rarely tested</a:t>
            </a:r>
          </a:p>
        </p:txBody>
      </p:sp>
      <p:sp>
        <p:nvSpPr>
          <p:cNvPr id="20" name="TextBox 19"/>
          <p:cNvSpPr txBox="1"/>
          <p:nvPr/>
        </p:nvSpPr>
        <p:spPr>
          <a:xfrm>
            <a:off x="914400" y="3148584"/>
            <a:ext cx="4870551" cy="490727"/>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False-accept behaviour under a wrong key is quoted from theory far more often than it is measured.</a:t>
            </a:r>
          </a:p>
        </p:txBody>
      </p:sp>
      <p:sp>
        <p:nvSpPr>
          <p:cNvPr id="21" name="Rounded Rectangle 20"/>
          <p:cNvSpPr/>
          <p:nvPr/>
        </p:nvSpPr>
        <p:spPr>
          <a:xfrm>
            <a:off x="6205575" y="2734056"/>
            <a:ext cx="5327751" cy="1060704"/>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205575" y="2734056"/>
            <a:ext cx="68580" cy="1060704"/>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61607" y="2889504"/>
            <a:ext cx="4870551" cy="259080"/>
          </a:xfrm>
          <a:prstGeom prst="rect">
            <a:avLst/>
          </a:prstGeom>
          <a:noFill/>
        </p:spPr>
        <p:txBody>
          <a:bodyPr wrap="square" anchor="t" lIns="0" rIns="0" tIns="0" bIns="0">
            <a:spAutoFit/>
          </a:bodyPr>
          <a:lstStyle/>
          <a:p>
            <a:pPr algn="l">
              <a:lnSpc>
                <a:spcPct val="105000"/>
              </a:lnSpc>
              <a:spcAft>
                <a:spcPts val="0"/>
              </a:spcAft>
            </a:pPr>
            <a:r>
              <a:rPr sz="1400" b="1" i="0">
                <a:solidFill>
                  <a:srgbClr val="0F172A"/>
                </a:solidFill>
                <a:latin typeface="Segoe UI"/>
              </a:rPr>
              <a:t>Coverage limits stated, not mapped</a:t>
            </a:r>
          </a:p>
        </p:txBody>
      </p:sp>
      <p:sp>
        <p:nvSpPr>
          <p:cNvPr id="24" name="TextBox 23"/>
          <p:cNvSpPr txBox="1"/>
          <p:nvPr/>
        </p:nvSpPr>
        <p:spPr>
          <a:xfrm>
            <a:off x="6461607" y="3148584"/>
            <a:ext cx="4870551" cy="490727"/>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The tamper-coincidence limit of one-to-one mapping is well known; its actual shape across tamper ratio is seldom plotted.</a:t>
            </a:r>
          </a:p>
        </p:txBody>
      </p:sp>
      <p:sp>
        <p:nvSpPr>
          <p:cNvPr id="25" name="Rounded Rectangle 24"/>
          <p:cNvSpPr/>
          <p:nvPr/>
        </p:nvSpPr>
        <p:spPr>
          <a:xfrm>
            <a:off x="658368" y="4315968"/>
            <a:ext cx="10874959" cy="1005840"/>
          </a:xfrm>
          <a:prstGeom prst="roundRect">
            <a:avLst>
              <a:gd name="adj" fmla="val 5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58368" y="4315968"/>
            <a:ext cx="64008" cy="100584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50976" y="4462272"/>
            <a:ext cx="2377440" cy="274320"/>
          </a:xfrm>
          <a:prstGeom prst="rect">
            <a:avLst/>
          </a:prstGeom>
          <a:noFill/>
        </p:spPr>
        <p:txBody>
          <a:bodyPr wrap="square" anchor="t" lIns="0" rIns="0" tIns="0" bIns="0">
            <a:spAutoFit/>
          </a:bodyPr>
          <a:lstStyle/>
          <a:p>
            <a:pPr algn="l">
              <a:lnSpc>
                <a:spcPct val="100000"/>
              </a:lnSpc>
              <a:spcAft>
                <a:spcPts val="0"/>
              </a:spcAft>
            </a:pPr>
            <a:r>
              <a:rPr sz="1000" b="1" i="0">
                <a:solidFill>
                  <a:srgbClr val="22D3EE"/>
                </a:solidFill>
                <a:latin typeface="Segoe UI"/>
              </a:rPr>
              <a:t>THE GAP ADDRESSED</a:t>
            </a:r>
          </a:p>
        </p:txBody>
      </p:sp>
      <p:sp>
        <p:nvSpPr>
          <p:cNvPr id="28" name="TextBox 27"/>
          <p:cNvSpPr txBox="1"/>
          <p:nvPr/>
        </p:nvSpPr>
        <p:spPr>
          <a:xfrm>
            <a:off x="950976" y="4736592"/>
            <a:ext cx="10234879" cy="502920"/>
          </a:xfrm>
          <a:prstGeom prst="rect">
            <a:avLst/>
          </a:prstGeom>
          <a:noFill/>
        </p:spPr>
        <p:txBody>
          <a:bodyPr wrap="square" anchor="t" lIns="0" rIns="0" tIns="0" bIns="0">
            <a:spAutoFit/>
          </a:bodyPr>
          <a:lstStyle/>
          <a:p>
            <a:pPr algn="l">
              <a:lnSpc>
                <a:spcPct val="115000"/>
              </a:lnSpc>
              <a:spcAft>
                <a:spcPts val="0"/>
              </a:spcAft>
            </a:pPr>
            <a:r>
              <a:rPr sz="1400" b="1" i="0">
                <a:solidFill>
                  <a:srgbClr val="E6EDF6"/>
                </a:solidFill>
                <a:latin typeface="Segoe UI"/>
              </a:rPr>
              <a:t>Not a new capability — a deterministic, fully auditable implementation of an existing one, measured end to end over 3,232 runs with exact, self-generated ground truth.</a:t>
            </a:r>
          </a:p>
        </p:txBody>
      </p:sp>
      <p:sp>
        <p:nvSpPr>
          <p:cNvPr id="29" name="Rounded Rectangle 28"/>
          <p:cNvSpPr/>
          <p:nvPr/>
        </p:nvSpPr>
        <p:spPr>
          <a:xfrm>
            <a:off x="658368" y="5687568"/>
            <a:ext cx="10874959" cy="566928"/>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58368" y="5687568"/>
            <a:ext cx="64008" cy="56692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32688" y="5687568"/>
            <a:ext cx="1032631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Every limit found in this work is reported, including the one where a published fountain-code scheme beats it by roughly 20 dB at 50% tampering.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04</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04</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Motivation</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Why a deterministic, auditable answer is worth building.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04 · MOTIVATION</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Why an auditable answer is worth building</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07</a:t>
            </a:r>
          </a:p>
        </p:txBody>
      </p:sp>
      <p:sp>
        <p:nvSpPr>
          <p:cNvPr id="9" name="Rounded Rectangle 8"/>
          <p:cNvSpPr/>
          <p:nvPr/>
        </p:nvSpPr>
        <p:spPr>
          <a:xfrm>
            <a:off x="658368" y="1527048"/>
            <a:ext cx="5806440" cy="11155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527048"/>
            <a:ext cx="68580" cy="111556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1682496"/>
            <a:ext cx="5349240" cy="259080"/>
          </a:xfrm>
          <a:prstGeom prst="rect">
            <a:avLst/>
          </a:prstGeom>
          <a:noFill/>
        </p:spPr>
        <p:txBody>
          <a:bodyPr wrap="square" anchor="t" lIns="0" rIns="0" tIns="0" bIns="0">
            <a:spAutoFit/>
          </a:bodyPr>
          <a:lstStyle/>
          <a:p>
            <a:pPr algn="l">
              <a:lnSpc>
                <a:spcPct val="105000"/>
              </a:lnSpc>
              <a:spcAft>
                <a:spcPts val="0"/>
              </a:spcAft>
            </a:pPr>
            <a:r>
              <a:rPr sz="1400" b="1" i="0">
                <a:solidFill>
                  <a:srgbClr val="0F172A"/>
                </a:solidFill>
                <a:latin typeface="Segoe UI"/>
              </a:rPr>
              <a:t>Forensic and legal evidence</a:t>
            </a:r>
          </a:p>
        </p:txBody>
      </p:sp>
      <p:sp>
        <p:nvSpPr>
          <p:cNvPr id="12" name="TextBox 11"/>
          <p:cNvSpPr txBox="1"/>
          <p:nvPr/>
        </p:nvSpPr>
        <p:spPr>
          <a:xfrm>
            <a:off x="914400" y="1941576"/>
            <a:ext cx="5349240" cy="545591"/>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CCTV frames, accident photographs, contract and ID scans — contested in proceedings where a probability is not an answer.</a:t>
            </a:r>
          </a:p>
        </p:txBody>
      </p:sp>
      <p:sp>
        <p:nvSpPr>
          <p:cNvPr id="13" name="Rounded Rectangle 12"/>
          <p:cNvSpPr/>
          <p:nvPr/>
        </p:nvSpPr>
        <p:spPr>
          <a:xfrm>
            <a:off x="658368" y="2770632"/>
            <a:ext cx="5806440" cy="11155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58368" y="2770632"/>
            <a:ext cx="68580" cy="111556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2926080"/>
            <a:ext cx="5349240" cy="259080"/>
          </a:xfrm>
          <a:prstGeom prst="rect">
            <a:avLst/>
          </a:prstGeom>
          <a:noFill/>
        </p:spPr>
        <p:txBody>
          <a:bodyPr wrap="square" anchor="t" lIns="0" rIns="0" tIns="0" bIns="0">
            <a:spAutoFit/>
          </a:bodyPr>
          <a:lstStyle/>
          <a:p>
            <a:pPr algn="l">
              <a:lnSpc>
                <a:spcPct val="105000"/>
              </a:lnSpc>
              <a:spcAft>
                <a:spcPts val="0"/>
              </a:spcAft>
            </a:pPr>
            <a:r>
              <a:rPr sz="1400" b="1" i="0">
                <a:solidFill>
                  <a:srgbClr val="0F172A"/>
                </a:solidFill>
                <a:latin typeface="Segoe UI"/>
              </a:rPr>
              <a:t>Medical imaging integrity</a:t>
            </a:r>
          </a:p>
        </p:txBody>
      </p:sp>
      <p:sp>
        <p:nvSpPr>
          <p:cNvPr id="16" name="TextBox 15"/>
          <p:cNvSpPr txBox="1"/>
          <p:nvPr/>
        </p:nvSpPr>
        <p:spPr>
          <a:xfrm>
            <a:off x="914400" y="3185160"/>
            <a:ext cx="5349240" cy="545591"/>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An altered region on an X-ray or MRI slice changes a diagnosis; PACS archives need a per-region integrity record.</a:t>
            </a:r>
          </a:p>
        </p:txBody>
      </p:sp>
      <p:sp>
        <p:nvSpPr>
          <p:cNvPr id="17" name="Rounded Rectangle 16"/>
          <p:cNvSpPr/>
          <p:nvPr/>
        </p:nvSpPr>
        <p:spPr>
          <a:xfrm>
            <a:off x="658368" y="4014216"/>
            <a:ext cx="5806440" cy="11155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58368" y="4014216"/>
            <a:ext cx="68580" cy="111556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4169664"/>
            <a:ext cx="5349240" cy="259080"/>
          </a:xfrm>
          <a:prstGeom prst="rect">
            <a:avLst/>
          </a:prstGeom>
          <a:noFill/>
        </p:spPr>
        <p:txBody>
          <a:bodyPr wrap="square" anchor="t" lIns="0" rIns="0" tIns="0" bIns="0">
            <a:spAutoFit/>
          </a:bodyPr>
          <a:lstStyle/>
          <a:p>
            <a:pPr algn="l">
              <a:lnSpc>
                <a:spcPct val="105000"/>
              </a:lnSpc>
              <a:spcAft>
                <a:spcPts val="0"/>
              </a:spcAft>
            </a:pPr>
            <a:r>
              <a:rPr sz="1400" b="1" i="0">
                <a:solidFill>
                  <a:srgbClr val="0F172A"/>
                </a:solidFill>
                <a:latin typeface="Segoe UI"/>
              </a:rPr>
              <a:t>Journalism and public record</a:t>
            </a:r>
          </a:p>
        </p:txBody>
      </p:sp>
      <p:sp>
        <p:nvSpPr>
          <p:cNvPr id="20" name="TextBox 19"/>
          <p:cNvSpPr txBox="1"/>
          <p:nvPr/>
        </p:nvSpPr>
        <p:spPr>
          <a:xfrm>
            <a:off x="914400" y="4428744"/>
            <a:ext cx="5349240" cy="545591"/>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Agencies and archives that own their ingest pipeline can mark at the door and verify for decades afterwards.</a:t>
            </a:r>
          </a:p>
        </p:txBody>
      </p:sp>
      <p:sp>
        <p:nvSpPr>
          <p:cNvPr id="21" name="Rounded Rectangle 20"/>
          <p:cNvSpPr/>
          <p:nvPr/>
        </p:nvSpPr>
        <p:spPr>
          <a:xfrm>
            <a:off x="6720840" y="1527048"/>
            <a:ext cx="4812487" cy="85039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20840" y="1527048"/>
            <a:ext cx="54864" cy="850392"/>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958583" y="1664208"/>
            <a:ext cx="4355287" cy="274320"/>
          </a:xfrm>
          <a:prstGeom prst="rect">
            <a:avLst/>
          </a:prstGeom>
          <a:noFill/>
        </p:spPr>
        <p:txBody>
          <a:bodyPr wrap="square" anchor="t" lIns="0" rIns="0" tIns="0" bIns="0">
            <a:spAutoFit/>
          </a:bodyPr>
          <a:lstStyle/>
          <a:p>
            <a:pPr algn="l">
              <a:lnSpc>
                <a:spcPct val="100000"/>
              </a:lnSpc>
              <a:spcAft>
                <a:spcPts val="0"/>
              </a:spcAft>
            </a:pPr>
            <a:r>
              <a:rPr sz="1350" b="1" i="0">
                <a:solidFill>
                  <a:srgbClr val="0F172A"/>
                </a:solidFill>
                <a:latin typeface="Segoe UI"/>
              </a:rPr>
              <a:t>No training data</a:t>
            </a:r>
          </a:p>
        </p:txBody>
      </p:sp>
      <p:sp>
        <p:nvSpPr>
          <p:cNvPr id="24" name="TextBox 23"/>
          <p:cNvSpPr txBox="1"/>
          <p:nvPr/>
        </p:nvSpPr>
        <p:spPr>
          <a:xfrm>
            <a:off x="6958583" y="1956816"/>
            <a:ext cx="4355287" cy="411480"/>
          </a:xfrm>
          <a:prstGeom prst="rect">
            <a:avLst/>
          </a:prstGeom>
          <a:noFill/>
        </p:spPr>
        <p:txBody>
          <a:bodyPr wrap="square" anchor="t" lIns="0" rIns="0" tIns="0" bIns="0">
            <a:spAutoFit/>
          </a:bodyPr>
          <a:lstStyle/>
          <a:p>
            <a:pPr algn="l">
              <a:lnSpc>
                <a:spcPct val="112000"/>
              </a:lnSpc>
              <a:spcAft>
                <a:spcPts val="0"/>
              </a:spcAft>
            </a:pPr>
            <a:r>
              <a:rPr sz="1100" b="0" i="0">
                <a:solidFill>
                  <a:srgbClr val="4B5A70"/>
                </a:solidFill>
                <a:latin typeface="Segoe UI"/>
              </a:rPr>
              <a:t>Nothing is learned, so nothing is biased by a training set.</a:t>
            </a:r>
          </a:p>
        </p:txBody>
      </p:sp>
      <p:sp>
        <p:nvSpPr>
          <p:cNvPr id="25" name="Rounded Rectangle 24"/>
          <p:cNvSpPr/>
          <p:nvPr/>
        </p:nvSpPr>
        <p:spPr>
          <a:xfrm>
            <a:off x="6720840" y="2468880"/>
            <a:ext cx="4812487" cy="85039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720840" y="2468880"/>
            <a:ext cx="54864" cy="850392"/>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958583" y="2606040"/>
            <a:ext cx="4355287" cy="274320"/>
          </a:xfrm>
          <a:prstGeom prst="rect">
            <a:avLst/>
          </a:prstGeom>
          <a:noFill/>
        </p:spPr>
        <p:txBody>
          <a:bodyPr wrap="square" anchor="t" lIns="0" rIns="0" tIns="0" bIns="0">
            <a:spAutoFit/>
          </a:bodyPr>
          <a:lstStyle/>
          <a:p>
            <a:pPr algn="l">
              <a:lnSpc>
                <a:spcPct val="100000"/>
              </a:lnSpc>
              <a:spcAft>
                <a:spcPts val="0"/>
              </a:spcAft>
            </a:pPr>
            <a:r>
              <a:rPr sz="1350" b="1" i="0">
                <a:solidFill>
                  <a:srgbClr val="0F172A"/>
                </a:solidFill>
                <a:latin typeface="Segoe UI"/>
              </a:rPr>
              <a:t>No GPU, runs offline</a:t>
            </a:r>
          </a:p>
        </p:txBody>
      </p:sp>
      <p:sp>
        <p:nvSpPr>
          <p:cNvPr id="28" name="TextBox 27"/>
          <p:cNvSpPr txBox="1"/>
          <p:nvPr/>
        </p:nvSpPr>
        <p:spPr>
          <a:xfrm>
            <a:off x="6958583" y="2898648"/>
            <a:ext cx="4355287" cy="411480"/>
          </a:xfrm>
          <a:prstGeom prst="rect">
            <a:avLst/>
          </a:prstGeom>
          <a:noFill/>
        </p:spPr>
        <p:txBody>
          <a:bodyPr wrap="square" anchor="t" lIns="0" rIns="0" tIns="0" bIns="0">
            <a:spAutoFit/>
          </a:bodyPr>
          <a:lstStyle/>
          <a:p>
            <a:pPr algn="l">
              <a:lnSpc>
                <a:spcPct val="112000"/>
              </a:lnSpc>
              <a:spcAft>
                <a:spcPts val="0"/>
              </a:spcAft>
            </a:pPr>
            <a:r>
              <a:rPr sz="1100" b="0" i="0">
                <a:solidFill>
                  <a:srgbClr val="4B5A70"/>
                </a:solidFill>
                <a:latin typeface="Segoe UI"/>
              </a:rPr>
              <a:t>Classical signal processing; a laptop reproduces every number.</a:t>
            </a:r>
          </a:p>
        </p:txBody>
      </p:sp>
      <p:sp>
        <p:nvSpPr>
          <p:cNvPr id="29" name="Rounded Rectangle 28"/>
          <p:cNvSpPr/>
          <p:nvPr/>
        </p:nvSpPr>
        <p:spPr>
          <a:xfrm>
            <a:off x="6720840" y="3410712"/>
            <a:ext cx="4812487" cy="85039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720840" y="3410712"/>
            <a:ext cx="54864" cy="85039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958583" y="3547872"/>
            <a:ext cx="4355287" cy="274320"/>
          </a:xfrm>
          <a:prstGeom prst="rect">
            <a:avLst/>
          </a:prstGeom>
          <a:noFill/>
        </p:spPr>
        <p:txBody>
          <a:bodyPr wrap="square" anchor="t" lIns="0" rIns="0" tIns="0" bIns="0">
            <a:spAutoFit/>
          </a:bodyPr>
          <a:lstStyle/>
          <a:p>
            <a:pPr algn="l">
              <a:lnSpc>
                <a:spcPct val="100000"/>
              </a:lnSpc>
              <a:spcAft>
                <a:spcPts val="0"/>
              </a:spcAft>
            </a:pPr>
            <a:r>
              <a:rPr sz="1350" b="1" i="0">
                <a:solidFill>
                  <a:srgbClr val="0F172A"/>
                </a:solidFill>
                <a:latin typeface="Segoe UI"/>
              </a:rPr>
              <a:t>Deterministic</a:t>
            </a:r>
          </a:p>
        </p:txBody>
      </p:sp>
      <p:sp>
        <p:nvSpPr>
          <p:cNvPr id="32" name="TextBox 31"/>
          <p:cNvSpPr txBox="1"/>
          <p:nvPr/>
        </p:nvSpPr>
        <p:spPr>
          <a:xfrm>
            <a:off x="6958583" y="3840480"/>
            <a:ext cx="4355287" cy="411480"/>
          </a:xfrm>
          <a:prstGeom prst="rect">
            <a:avLst/>
          </a:prstGeom>
          <a:noFill/>
        </p:spPr>
        <p:txBody>
          <a:bodyPr wrap="square" anchor="t" lIns="0" rIns="0" tIns="0" bIns="0">
            <a:spAutoFit/>
          </a:bodyPr>
          <a:lstStyle/>
          <a:p>
            <a:pPr algn="l">
              <a:lnSpc>
                <a:spcPct val="112000"/>
              </a:lnSpc>
              <a:spcAft>
                <a:spcPts val="0"/>
              </a:spcAft>
            </a:pPr>
            <a:r>
              <a:rPr sz="1100" b="0" i="0">
                <a:solidFill>
                  <a:srgbClr val="4B5A70"/>
                </a:solidFill>
                <a:latin typeface="Segoe UI"/>
              </a:rPr>
              <a:t>Same key, same image, same result — every single run.</a:t>
            </a:r>
          </a:p>
        </p:txBody>
      </p:sp>
      <p:sp>
        <p:nvSpPr>
          <p:cNvPr id="33" name="Rounded Rectangle 32"/>
          <p:cNvSpPr/>
          <p:nvPr/>
        </p:nvSpPr>
        <p:spPr>
          <a:xfrm>
            <a:off x="6720840" y="4352544"/>
            <a:ext cx="4812487" cy="85039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6720840" y="4352544"/>
            <a:ext cx="54864" cy="85039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58583" y="4489704"/>
            <a:ext cx="4355287" cy="274320"/>
          </a:xfrm>
          <a:prstGeom prst="rect">
            <a:avLst/>
          </a:prstGeom>
          <a:noFill/>
        </p:spPr>
        <p:txBody>
          <a:bodyPr wrap="square" anchor="t" lIns="0" rIns="0" tIns="0" bIns="0">
            <a:spAutoFit/>
          </a:bodyPr>
          <a:lstStyle/>
          <a:p>
            <a:pPr algn="l">
              <a:lnSpc>
                <a:spcPct val="100000"/>
              </a:lnSpc>
              <a:spcAft>
                <a:spcPts val="0"/>
              </a:spcAft>
            </a:pPr>
            <a:r>
              <a:rPr sz="1350" b="1" i="0">
                <a:solidFill>
                  <a:srgbClr val="0F172A"/>
                </a:solidFill>
                <a:latin typeface="Segoe UI"/>
              </a:rPr>
              <a:t>Auditable</a:t>
            </a:r>
          </a:p>
        </p:txBody>
      </p:sp>
      <p:sp>
        <p:nvSpPr>
          <p:cNvPr id="36" name="TextBox 35"/>
          <p:cNvSpPr txBox="1"/>
          <p:nvPr/>
        </p:nvSpPr>
        <p:spPr>
          <a:xfrm>
            <a:off x="6958583" y="4782312"/>
            <a:ext cx="4355287" cy="411480"/>
          </a:xfrm>
          <a:prstGeom prst="rect">
            <a:avLst/>
          </a:prstGeom>
          <a:noFill/>
        </p:spPr>
        <p:txBody>
          <a:bodyPr wrap="square" anchor="t" lIns="0" rIns="0" tIns="0" bIns="0">
            <a:spAutoFit/>
          </a:bodyPr>
          <a:lstStyle/>
          <a:p>
            <a:pPr algn="l">
              <a:lnSpc>
                <a:spcPct val="112000"/>
              </a:lnSpc>
              <a:spcAft>
                <a:spcPts val="0"/>
              </a:spcAft>
            </a:pPr>
            <a:r>
              <a:rPr sz="1100" b="0" i="0">
                <a:solidFill>
                  <a:srgbClr val="4B5A70"/>
                </a:solidFill>
                <a:latin typeface="Segoe UI"/>
              </a:rPr>
              <a:t>One flagged block = one recomputed keyed hash a third party can redo.</a:t>
            </a:r>
          </a:p>
        </p:txBody>
      </p:sp>
      <p:sp>
        <p:nvSpPr>
          <p:cNvPr id="37" name="Rounded Rectangle 36"/>
          <p:cNvSpPr/>
          <p:nvPr/>
        </p:nvSpPr>
        <p:spPr>
          <a:xfrm>
            <a:off x="658368" y="5687568"/>
            <a:ext cx="10874959" cy="566928"/>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658368" y="5687568"/>
            <a:ext cx="64008" cy="56692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32688" y="5687568"/>
            <a:ext cx="1032631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The trade accepted deliberately: this protects images the operator marks in advance. It says nothing about an image it never saw.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05</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05</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Problem Statement</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The problem stated formally, with its scope drawn honestly.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05 · PROBLEM STATEMENT</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The problem, stated formally</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08</a:t>
            </a:r>
          </a:p>
        </p:txBody>
      </p:sp>
      <p:sp>
        <p:nvSpPr>
          <p:cNvPr id="9" name="Rounded Rectangle 8"/>
          <p:cNvSpPr/>
          <p:nvPr/>
        </p:nvSpPr>
        <p:spPr>
          <a:xfrm>
            <a:off x="658368" y="1499616"/>
            <a:ext cx="10874959" cy="1755648"/>
          </a:xfrm>
          <a:prstGeom prst="roundRect">
            <a:avLst>
              <a:gd name="adj" fmla="val 5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499616"/>
            <a:ext cx="64008" cy="17556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9264" y="1664208"/>
            <a:ext cx="3657600" cy="274320"/>
          </a:xfrm>
          <a:prstGeom prst="rect">
            <a:avLst/>
          </a:prstGeom>
          <a:noFill/>
        </p:spPr>
        <p:txBody>
          <a:bodyPr wrap="square" anchor="t" lIns="0" rIns="0" tIns="0" bIns="0">
            <a:spAutoFit/>
          </a:bodyPr>
          <a:lstStyle/>
          <a:p>
            <a:pPr algn="l">
              <a:lnSpc>
                <a:spcPct val="100000"/>
              </a:lnSpc>
              <a:spcAft>
                <a:spcPts val="0"/>
              </a:spcAft>
            </a:pPr>
            <a:r>
              <a:rPr sz="1000" b="1" i="0">
                <a:solidFill>
                  <a:srgbClr val="22D3EE"/>
                </a:solidFill>
                <a:latin typeface="Segoe UI"/>
              </a:rPr>
              <a:t>PROBLEM STATEMENT</a:t>
            </a:r>
          </a:p>
        </p:txBody>
      </p:sp>
      <p:sp>
        <p:nvSpPr>
          <p:cNvPr id="12" name="TextBox 11"/>
          <p:cNvSpPr txBox="1"/>
          <p:nvPr/>
        </p:nvSpPr>
        <p:spPr>
          <a:xfrm>
            <a:off x="969264" y="1984248"/>
            <a:ext cx="10189159" cy="1188720"/>
          </a:xfrm>
          <a:prstGeom prst="rect">
            <a:avLst/>
          </a:prstGeom>
          <a:noFill/>
        </p:spPr>
        <p:txBody>
          <a:bodyPr wrap="square" anchor="t" lIns="0" rIns="0" tIns="0" bIns="0">
            <a:spAutoFit/>
          </a:bodyPr>
          <a:lstStyle/>
          <a:p>
            <a:pPr algn="l">
              <a:lnSpc>
                <a:spcPct val="122000"/>
              </a:lnSpc>
              <a:spcAft>
                <a:spcPts val="0"/>
              </a:spcAft>
            </a:pPr>
            <a:r>
              <a:rPr sz="1450" b="0" i="0">
                <a:solidFill>
                  <a:srgbClr val="E6EDF6"/>
                </a:solidFill>
                <a:latin typeface="Segoe UI"/>
              </a:rPr>
              <a:t>Given an image the owner controls before distribution, design an embedding that makes the image self-verifying: after any alteration, the system must decide per 8×8 block whether that block is authentic, do so with no false accusation of an untouched block, and reconstruct an approximation of each altered block from redundant data carried inside the same image — without a database, without training, and without a GPU.</a:t>
            </a:r>
          </a:p>
        </p:txBody>
      </p:sp>
      <p:sp>
        <p:nvSpPr>
          <p:cNvPr id="13" name="TextBox 12"/>
          <p:cNvSpPr txBox="1"/>
          <p:nvPr/>
        </p:nvSpPr>
        <p:spPr>
          <a:xfrm>
            <a:off x="658368" y="3474720"/>
            <a:ext cx="5669280" cy="274320"/>
          </a:xfrm>
          <a:prstGeom prst="rect">
            <a:avLst/>
          </a:prstGeom>
          <a:noFill/>
        </p:spPr>
        <p:txBody>
          <a:bodyPr wrap="square" anchor="t" lIns="0" rIns="0" tIns="0" bIns="0">
            <a:spAutoFit/>
          </a:bodyPr>
          <a:lstStyle/>
          <a:p>
            <a:pPr algn="l">
              <a:lnSpc>
                <a:spcPct val="100000"/>
              </a:lnSpc>
              <a:spcAft>
                <a:spcPts val="0"/>
              </a:spcAft>
            </a:pPr>
            <a:r>
              <a:rPr sz="1050" b="1" i="0">
                <a:solidFill>
                  <a:srgbClr val="109881"/>
                </a:solidFill>
                <a:latin typeface="Segoe UI"/>
              </a:rPr>
              <a:t>IN SCOPE</a:t>
            </a:r>
          </a:p>
        </p:txBody>
      </p:sp>
      <p:sp>
        <p:nvSpPr>
          <p:cNvPr id="14" name="TextBox 13"/>
          <p:cNvSpPr txBox="1"/>
          <p:nvPr/>
        </p:nvSpPr>
        <p:spPr>
          <a:xfrm>
            <a:off x="658368" y="3767328"/>
            <a:ext cx="5669280" cy="1828800"/>
          </a:xfrm>
          <a:prstGeom prst="rect">
            <a:avLst/>
          </a:prstGeom>
          <a:noFill/>
        </p:spPr>
        <p:txBody>
          <a:bodyPr wrap="square" anchor="t" lIns="0" rIns="0" tIns="0" bIns="0">
            <a:spAutoFit/>
          </a:bodyPr>
          <a:lstStyle/>
          <a:p>
            <a:pPr algn="l">
              <a:lnSpc>
                <a:spcPct val="118000"/>
              </a:lnSpc>
              <a:spcAft>
                <a:spcPts val="700"/>
              </a:spcAft>
            </a:pPr>
            <a:r>
              <a:rPr sz="1200" b="0" i="0">
                <a:solidFill>
                  <a:srgbClr val="0F172A"/>
                </a:solidFill>
                <a:latin typeface="Segoe UI"/>
              </a:rPr>
              <a:t>▪  Lossless pipeline the operator owns end to end (PNG / BMP / lossless WebP)</a:t>
            </a:r>
          </a:p>
          <a:p>
            <a:pPr algn="l">
              <a:lnSpc>
                <a:spcPct val="118000"/>
              </a:lnSpc>
              <a:spcAft>
                <a:spcPts val="700"/>
              </a:spcAft>
            </a:pPr>
            <a:r>
              <a:rPr sz="1200" b="0" i="0">
                <a:solidFill>
                  <a:srgbClr val="0F172A"/>
                </a:solidFill>
                <a:latin typeface="Segoe UI"/>
              </a:rPr>
              <a:t>▪  Malicious content edits: splicing, object removal, crop-and-refill, noise injection</a:t>
            </a:r>
          </a:p>
          <a:p>
            <a:pPr algn="l">
              <a:lnSpc>
                <a:spcPct val="118000"/>
              </a:lnSpc>
              <a:spcAft>
                <a:spcPts val="700"/>
              </a:spcAft>
            </a:pPr>
            <a:r>
              <a:rPr sz="1200" b="0" i="0">
                <a:solidFill>
                  <a:srgbClr val="0F172A"/>
                </a:solidFill>
                <a:latin typeface="Segoe UI"/>
              </a:rPr>
              <a:t>▪  Block-level localization with an exact, self-generated ground-truth mask</a:t>
            </a:r>
          </a:p>
          <a:p>
            <a:pPr algn="l">
              <a:lnSpc>
                <a:spcPct val="118000"/>
              </a:lnSpc>
              <a:spcAft>
                <a:spcPts val="700"/>
              </a:spcAft>
            </a:pPr>
            <a:r>
              <a:rPr sz="1200" b="0" i="0">
                <a:solidFill>
                  <a:srgbClr val="0F172A"/>
                </a:solidFill>
                <a:latin typeface="Segoe UI"/>
              </a:rPr>
              <a:t>▪  Approximate recovery, with unrecoverable regions declared rather than faked</a:t>
            </a:r>
          </a:p>
        </p:txBody>
      </p:sp>
      <p:sp>
        <p:nvSpPr>
          <p:cNvPr id="15" name="TextBox 14"/>
          <p:cNvSpPr txBox="1"/>
          <p:nvPr/>
        </p:nvSpPr>
        <p:spPr>
          <a:xfrm>
            <a:off x="6720840" y="3474720"/>
            <a:ext cx="4812487" cy="274320"/>
          </a:xfrm>
          <a:prstGeom prst="rect">
            <a:avLst/>
          </a:prstGeom>
          <a:noFill/>
        </p:spPr>
        <p:txBody>
          <a:bodyPr wrap="square" anchor="t" lIns="0" rIns="0" tIns="0" bIns="0">
            <a:spAutoFit/>
          </a:bodyPr>
          <a:lstStyle/>
          <a:p>
            <a:pPr algn="l">
              <a:lnSpc>
                <a:spcPct val="100000"/>
              </a:lnSpc>
              <a:spcAft>
                <a:spcPts val="0"/>
              </a:spcAft>
            </a:pPr>
            <a:r>
              <a:rPr sz="1050" b="1" i="0">
                <a:solidFill>
                  <a:srgbClr val="E11D48"/>
                </a:solidFill>
                <a:latin typeface="Segoe UI"/>
              </a:rPr>
              <a:t>OUT OF SCOPE</a:t>
            </a:r>
          </a:p>
        </p:txBody>
      </p:sp>
      <p:sp>
        <p:nvSpPr>
          <p:cNvPr id="16" name="TextBox 15"/>
          <p:cNvSpPr txBox="1"/>
          <p:nvPr/>
        </p:nvSpPr>
        <p:spPr>
          <a:xfrm>
            <a:off x="6720840" y="3767328"/>
            <a:ext cx="4812487" cy="1828800"/>
          </a:xfrm>
          <a:prstGeom prst="rect">
            <a:avLst/>
          </a:prstGeom>
          <a:noFill/>
        </p:spPr>
        <p:txBody>
          <a:bodyPr wrap="square" anchor="t" lIns="0" rIns="0" tIns="0" bIns="0">
            <a:spAutoFit/>
          </a:bodyPr>
          <a:lstStyle/>
          <a:p>
            <a:pPr algn="l">
              <a:lnSpc>
                <a:spcPct val="118000"/>
              </a:lnSpc>
              <a:spcAft>
                <a:spcPts val="700"/>
              </a:spcAft>
            </a:pPr>
            <a:r>
              <a:rPr sz="1200" b="0" i="0">
                <a:solidFill>
                  <a:srgbClr val="0F172A"/>
                </a:solidFill>
                <a:latin typeface="Segoe UI"/>
              </a:rPr>
              <a:t>▪  Images never watermarked — nothing to verify against</a:t>
            </a:r>
          </a:p>
          <a:p>
            <a:pPr algn="l">
              <a:lnSpc>
                <a:spcPct val="118000"/>
              </a:lnSpc>
              <a:spcAft>
                <a:spcPts val="700"/>
              </a:spcAft>
            </a:pPr>
            <a:r>
              <a:rPr sz="1200" b="0" i="0">
                <a:solidFill>
                  <a:srgbClr val="0F172A"/>
                </a:solidFill>
                <a:latin typeface="Segoe UI"/>
              </a:rPr>
              <a:t>▪  JPEG re-compression, resizing, filtering — these destroy the mark by design</a:t>
            </a:r>
          </a:p>
          <a:p>
            <a:pPr algn="l">
              <a:lnSpc>
                <a:spcPct val="118000"/>
              </a:lnSpc>
              <a:spcAft>
                <a:spcPts val="700"/>
              </a:spcAft>
            </a:pPr>
            <a:r>
              <a:rPr sz="1200" b="0" i="0">
                <a:solidFill>
                  <a:srgbClr val="0F172A"/>
                </a:solidFill>
                <a:latin typeface="Segoe UI"/>
              </a:rPr>
              <a:t>▪  Pixel-exact restoration — the backup is a compact descriptor, not a copy</a:t>
            </a:r>
          </a:p>
          <a:p>
            <a:pPr algn="l">
              <a:lnSpc>
                <a:spcPct val="118000"/>
              </a:lnSpc>
              <a:spcAft>
                <a:spcPts val="700"/>
              </a:spcAft>
            </a:pPr>
            <a:r>
              <a:rPr sz="1200" b="0" i="0">
                <a:solidFill>
                  <a:srgbClr val="0F172A"/>
                </a:solidFill>
                <a:latin typeface="Segoe UI"/>
              </a:rPr>
              <a:t>▪  Secrecy failures — security rests entirely on the key staying secret</a:t>
            </a:r>
          </a:p>
        </p:txBody>
      </p:sp>
      <p:sp>
        <p:nvSpPr>
          <p:cNvPr id="17" name="Rounded Rectangle 16"/>
          <p:cNvSpPr/>
          <p:nvPr/>
        </p:nvSpPr>
        <p:spPr>
          <a:xfrm>
            <a:off x="658368" y="5833872"/>
            <a:ext cx="10874959" cy="502920"/>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58368" y="5833872"/>
            <a:ext cx="64008" cy="50292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32688" y="5833872"/>
            <a:ext cx="10326319" cy="502920"/>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Fragility is the mechanism, not a defect: a mark that survives editing cannot testify that no editing occurred.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06</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06</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Objectives</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Six commitments, each with the measurement that settles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06 · OBJECTIVES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Six commitments, each with the measurement that settles it</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09</a:t>
            </a:r>
          </a:p>
        </p:txBody>
      </p:sp>
      <p:sp>
        <p:nvSpPr>
          <p:cNvPr id="9" name="Rounded Rectangle 8"/>
          <p:cNvSpPr/>
          <p:nvPr/>
        </p:nvSpPr>
        <p:spPr>
          <a:xfrm>
            <a:off x="658368" y="1554480"/>
            <a:ext cx="3490874" cy="2048256"/>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554480"/>
            <a:ext cx="3490874"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1810512"/>
            <a:ext cx="640080" cy="411480"/>
          </a:xfrm>
          <a:prstGeom prst="rect">
            <a:avLst/>
          </a:prstGeom>
          <a:noFill/>
        </p:spPr>
        <p:txBody>
          <a:bodyPr wrap="square" anchor="t" lIns="0" rIns="0" tIns="0" bIns="0">
            <a:spAutoFit/>
          </a:bodyPr>
          <a:lstStyle/>
          <a:p>
            <a:pPr algn="l">
              <a:lnSpc>
                <a:spcPct val="100000"/>
              </a:lnSpc>
              <a:spcAft>
                <a:spcPts val="0"/>
              </a:spcAft>
            </a:pPr>
            <a:r>
              <a:rPr sz="2400" b="1" i="0">
                <a:solidFill>
                  <a:srgbClr val="8A97A8"/>
                </a:solidFill>
                <a:latin typeface="Segoe UI"/>
              </a:rPr>
              <a:t>01</a:t>
            </a:r>
          </a:p>
        </p:txBody>
      </p:sp>
      <p:sp>
        <p:nvSpPr>
          <p:cNvPr id="12" name="TextBox 11"/>
          <p:cNvSpPr txBox="1"/>
          <p:nvPr/>
        </p:nvSpPr>
        <p:spPr>
          <a:xfrm>
            <a:off x="914400" y="2304288"/>
            <a:ext cx="2978810" cy="365760"/>
          </a:xfrm>
          <a:prstGeom prst="rect">
            <a:avLst/>
          </a:prstGeom>
          <a:noFill/>
        </p:spPr>
        <p:txBody>
          <a:bodyPr wrap="square" anchor="t" lIns="0" rIns="0" tIns="0" bIns="0">
            <a:spAutoFit/>
          </a:bodyPr>
          <a:lstStyle/>
          <a:p>
            <a:pPr algn="l">
              <a:lnSpc>
                <a:spcPct val="100000"/>
              </a:lnSpc>
              <a:spcAft>
                <a:spcPts val="0"/>
              </a:spcAft>
            </a:pPr>
            <a:r>
              <a:rPr sz="1450" b="1" i="0">
                <a:solidFill>
                  <a:srgbClr val="0F172A"/>
                </a:solidFill>
                <a:latin typeface="Segoe UI"/>
              </a:rPr>
              <a:t>Self-contained embedding</a:t>
            </a:r>
          </a:p>
        </p:txBody>
      </p:sp>
      <p:sp>
        <p:nvSpPr>
          <p:cNvPr id="13" name="TextBox 12"/>
          <p:cNvSpPr txBox="1"/>
          <p:nvPr/>
        </p:nvSpPr>
        <p:spPr>
          <a:xfrm>
            <a:off x="914400" y="2670048"/>
            <a:ext cx="2978810" cy="548640"/>
          </a:xfrm>
          <a:prstGeom prst="rect">
            <a:avLst/>
          </a:prstGeom>
          <a:noFill/>
        </p:spPr>
        <p:txBody>
          <a:bodyPr wrap="square" anchor="t" lIns="0" rIns="0" tIns="0" bIns="0">
            <a:spAutoFit/>
          </a:bodyPr>
          <a:lstStyle/>
          <a:p>
            <a:pPr algn="l">
              <a:lnSpc>
                <a:spcPct val="114000"/>
              </a:lnSpc>
              <a:spcAft>
                <a:spcPts val="0"/>
              </a:spcAft>
            </a:pPr>
            <a:r>
              <a:rPr sz="1100" b="0" i="0">
                <a:solidFill>
                  <a:srgbClr val="4B5A70"/>
                </a:solidFill>
                <a:latin typeface="Segoe UI"/>
              </a:rPr>
              <a:t>The image carries its own backup — no external database, no sidecar.</a:t>
            </a:r>
          </a:p>
        </p:txBody>
      </p:sp>
      <p:sp>
        <p:nvSpPr>
          <p:cNvPr id="14" name="Rounded Rectangle 13"/>
          <p:cNvSpPr/>
          <p:nvPr/>
        </p:nvSpPr>
        <p:spPr>
          <a:xfrm>
            <a:off x="914400" y="3200400"/>
            <a:ext cx="2331720" cy="292608"/>
          </a:xfrm>
          <a:prstGeom prst="roundRect">
            <a:avLst>
              <a:gd name="adj" fmla="val 50000"/>
            </a:avLst>
          </a:prstGeom>
          <a:solidFill>
            <a:srgbClr val="F3F6FA"/>
          </a:solidFill>
          <a:ln w="12700">
            <a:solidFill>
              <a:srgbClr val="1098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3200400"/>
            <a:ext cx="2331720" cy="292608"/>
          </a:xfrm>
          <a:prstGeom prst="rect">
            <a:avLst/>
          </a:prstGeom>
          <a:noFill/>
        </p:spPr>
        <p:txBody>
          <a:bodyPr wrap="square" anchor="ctr" lIns="0" rIns="0" tIns="0" bIns="0">
            <a:spAutoFit/>
          </a:bodyPr>
          <a:lstStyle/>
          <a:p>
            <a:pPr algn="ctr">
              <a:lnSpc>
                <a:spcPct val="100000"/>
              </a:lnSpc>
              <a:spcAft>
                <a:spcPts val="0"/>
              </a:spcAft>
            </a:pPr>
            <a:r>
              <a:rPr sz="1000" b="1" i="0">
                <a:solidFill>
                  <a:srgbClr val="109881"/>
                </a:solidFill>
                <a:latin typeface="Segoe UI"/>
              </a:rPr>
              <a:t>delivered</a:t>
            </a:r>
          </a:p>
        </p:txBody>
      </p:sp>
      <p:sp>
        <p:nvSpPr>
          <p:cNvPr id="16" name="Rounded Rectangle 15"/>
          <p:cNvSpPr/>
          <p:nvPr/>
        </p:nvSpPr>
        <p:spPr>
          <a:xfrm>
            <a:off x="4350410" y="1554480"/>
            <a:ext cx="3490874" cy="2048256"/>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350410" y="1554480"/>
            <a:ext cx="3490874" cy="45720"/>
          </a:xfrm>
          <a:prstGeom prst="rect">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606442" y="1810512"/>
            <a:ext cx="640080" cy="411480"/>
          </a:xfrm>
          <a:prstGeom prst="rect">
            <a:avLst/>
          </a:prstGeom>
          <a:noFill/>
        </p:spPr>
        <p:txBody>
          <a:bodyPr wrap="square" anchor="t" lIns="0" rIns="0" tIns="0" bIns="0">
            <a:spAutoFit/>
          </a:bodyPr>
          <a:lstStyle/>
          <a:p>
            <a:pPr algn="l">
              <a:lnSpc>
                <a:spcPct val="100000"/>
              </a:lnSpc>
              <a:spcAft>
                <a:spcPts val="0"/>
              </a:spcAft>
            </a:pPr>
            <a:r>
              <a:rPr sz="2400" b="1" i="0">
                <a:solidFill>
                  <a:srgbClr val="8A97A8"/>
                </a:solidFill>
                <a:latin typeface="Segoe UI"/>
              </a:rPr>
              <a:t>02</a:t>
            </a:r>
          </a:p>
        </p:txBody>
      </p:sp>
      <p:sp>
        <p:nvSpPr>
          <p:cNvPr id="19" name="TextBox 18"/>
          <p:cNvSpPr txBox="1"/>
          <p:nvPr/>
        </p:nvSpPr>
        <p:spPr>
          <a:xfrm>
            <a:off x="4606442" y="2304288"/>
            <a:ext cx="2978810" cy="365760"/>
          </a:xfrm>
          <a:prstGeom prst="rect">
            <a:avLst/>
          </a:prstGeom>
          <a:noFill/>
        </p:spPr>
        <p:txBody>
          <a:bodyPr wrap="square" anchor="t" lIns="0" rIns="0" tIns="0" bIns="0">
            <a:spAutoFit/>
          </a:bodyPr>
          <a:lstStyle/>
          <a:p>
            <a:pPr algn="l">
              <a:lnSpc>
                <a:spcPct val="100000"/>
              </a:lnSpc>
              <a:spcAft>
                <a:spcPts val="0"/>
              </a:spcAft>
            </a:pPr>
            <a:r>
              <a:rPr sz="1450" b="1" i="0">
                <a:solidFill>
                  <a:srgbClr val="0F172A"/>
                </a:solidFill>
                <a:latin typeface="Segoe UI"/>
              </a:rPr>
              <a:t>Block-level localization</a:t>
            </a:r>
          </a:p>
        </p:txBody>
      </p:sp>
      <p:sp>
        <p:nvSpPr>
          <p:cNvPr id="20" name="TextBox 19"/>
          <p:cNvSpPr txBox="1"/>
          <p:nvPr/>
        </p:nvSpPr>
        <p:spPr>
          <a:xfrm>
            <a:off x="4606442" y="2670048"/>
            <a:ext cx="2978810" cy="548640"/>
          </a:xfrm>
          <a:prstGeom prst="rect">
            <a:avLst/>
          </a:prstGeom>
          <a:noFill/>
        </p:spPr>
        <p:txBody>
          <a:bodyPr wrap="square" anchor="t" lIns="0" rIns="0" tIns="0" bIns="0">
            <a:spAutoFit/>
          </a:bodyPr>
          <a:lstStyle/>
          <a:p>
            <a:pPr algn="l">
              <a:lnSpc>
                <a:spcPct val="114000"/>
              </a:lnSpc>
              <a:spcAft>
                <a:spcPts val="0"/>
              </a:spcAft>
            </a:pPr>
            <a:r>
              <a:rPr sz="1100" b="0" i="0">
                <a:solidFill>
                  <a:srgbClr val="4B5A70"/>
                </a:solidFill>
                <a:latin typeface="Segoe UI"/>
              </a:rPr>
              <a:t>Output an exact tamper mask, not a heat map or a score.</a:t>
            </a:r>
          </a:p>
        </p:txBody>
      </p:sp>
      <p:sp>
        <p:nvSpPr>
          <p:cNvPr id="21" name="Rounded Rectangle 20"/>
          <p:cNvSpPr/>
          <p:nvPr/>
        </p:nvSpPr>
        <p:spPr>
          <a:xfrm>
            <a:off x="4606442" y="3200400"/>
            <a:ext cx="2331720" cy="292608"/>
          </a:xfrm>
          <a:prstGeom prst="roundRect">
            <a:avLst>
              <a:gd name="adj" fmla="val 50000"/>
            </a:avLst>
          </a:prstGeom>
          <a:solidFill>
            <a:srgbClr val="F3F6FA"/>
          </a:solidFill>
          <a:ln w="12700">
            <a:solidFill>
              <a:srgbClr val="1098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606442" y="3200400"/>
            <a:ext cx="2331720" cy="292608"/>
          </a:xfrm>
          <a:prstGeom prst="rect">
            <a:avLst/>
          </a:prstGeom>
          <a:noFill/>
        </p:spPr>
        <p:txBody>
          <a:bodyPr wrap="square" anchor="ctr" lIns="0" rIns="0" tIns="0" bIns="0">
            <a:spAutoFit/>
          </a:bodyPr>
          <a:lstStyle/>
          <a:p>
            <a:pPr algn="ctr">
              <a:lnSpc>
                <a:spcPct val="100000"/>
              </a:lnSpc>
              <a:spcAft>
                <a:spcPts val="0"/>
              </a:spcAft>
            </a:pPr>
            <a:r>
              <a:rPr sz="1000" b="1" i="0">
                <a:solidFill>
                  <a:srgbClr val="109881"/>
                </a:solidFill>
                <a:latin typeface="Segoe UI"/>
              </a:rPr>
              <a:t>precision 1.0000</a:t>
            </a:r>
          </a:p>
        </p:txBody>
      </p:sp>
      <p:sp>
        <p:nvSpPr>
          <p:cNvPr id="23" name="Rounded Rectangle 22"/>
          <p:cNvSpPr/>
          <p:nvPr/>
        </p:nvSpPr>
        <p:spPr>
          <a:xfrm>
            <a:off x="8042452" y="1554480"/>
            <a:ext cx="3490874" cy="2048256"/>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042452" y="1554480"/>
            <a:ext cx="3490874" cy="45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98484" y="1810512"/>
            <a:ext cx="640080" cy="411480"/>
          </a:xfrm>
          <a:prstGeom prst="rect">
            <a:avLst/>
          </a:prstGeom>
          <a:noFill/>
        </p:spPr>
        <p:txBody>
          <a:bodyPr wrap="square" anchor="t" lIns="0" rIns="0" tIns="0" bIns="0">
            <a:spAutoFit/>
          </a:bodyPr>
          <a:lstStyle/>
          <a:p>
            <a:pPr algn="l">
              <a:lnSpc>
                <a:spcPct val="100000"/>
              </a:lnSpc>
              <a:spcAft>
                <a:spcPts val="0"/>
              </a:spcAft>
            </a:pPr>
            <a:r>
              <a:rPr sz="2400" b="1" i="0">
                <a:solidFill>
                  <a:srgbClr val="8A97A8"/>
                </a:solidFill>
                <a:latin typeface="Segoe UI"/>
              </a:rPr>
              <a:t>03</a:t>
            </a:r>
          </a:p>
        </p:txBody>
      </p:sp>
      <p:sp>
        <p:nvSpPr>
          <p:cNvPr id="26" name="TextBox 25"/>
          <p:cNvSpPr txBox="1"/>
          <p:nvPr/>
        </p:nvSpPr>
        <p:spPr>
          <a:xfrm>
            <a:off x="8298484" y="2304288"/>
            <a:ext cx="2978810" cy="365760"/>
          </a:xfrm>
          <a:prstGeom prst="rect">
            <a:avLst/>
          </a:prstGeom>
          <a:noFill/>
        </p:spPr>
        <p:txBody>
          <a:bodyPr wrap="square" anchor="t" lIns="0" rIns="0" tIns="0" bIns="0">
            <a:spAutoFit/>
          </a:bodyPr>
          <a:lstStyle/>
          <a:p>
            <a:pPr algn="l">
              <a:lnSpc>
                <a:spcPct val="100000"/>
              </a:lnSpc>
              <a:spcAft>
                <a:spcPts val="0"/>
              </a:spcAft>
            </a:pPr>
            <a:r>
              <a:rPr sz="1450" b="1" i="0">
                <a:solidFill>
                  <a:srgbClr val="0F172A"/>
                </a:solidFill>
                <a:latin typeface="Segoe UI"/>
              </a:rPr>
              <a:t>Content recovery</a:t>
            </a:r>
          </a:p>
        </p:txBody>
      </p:sp>
      <p:sp>
        <p:nvSpPr>
          <p:cNvPr id="27" name="TextBox 26"/>
          <p:cNvSpPr txBox="1"/>
          <p:nvPr/>
        </p:nvSpPr>
        <p:spPr>
          <a:xfrm>
            <a:off x="8298484" y="2670048"/>
            <a:ext cx="2978810" cy="548640"/>
          </a:xfrm>
          <a:prstGeom prst="rect">
            <a:avLst/>
          </a:prstGeom>
          <a:noFill/>
        </p:spPr>
        <p:txBody>
          <a:bodyPr wrap="square" anchor="t" lIns="0" rIns="0" tIns="0" bIns="0">
            <a:spAutoFit/>
          </a:bodyPr>
          <a:lstStyle/>
          <a:p>
            <a:pPr algn="l">
              <a:lnSpc>
                <a:spcPct val="114000"/>
              </a:lnSpc>
              <a:spcAft>
                <a:spcPts val="0"/>
              </a:spcAft>
            </a:pPr>
            <a:r>
              <a:rPr sz="1100" b="0" i="0">
                <a:solidFill>
                  <a:srgbClr val="4B5A70"/>
                </a:solidFill>
                <a:latin typeface="Segoe UI"/>
              </a:rPr>
              <a:t>Repaint altered blocks from a distant partner's surviving descriptor.</a:t>
            </a:r>
          </a:p>
        </p:txBody>
      </p:sp>
      <p:sp>
        <p:nvSpPr>
          <p:cNvPr id="28" name="Rounded Rectangle 27"/>
          <p:cNvSpPr/>
          <p:nvPr/>
        </p:nvSpPr>
        <p:spPr>
          <a:xfrm>
            <a:off x="8298484" y="3200400"/>
            <a:ext cx="2331720" cy="292608"/>
          </a:xfrm>
          <a:prstGeom prst="roundRect">
            <a:avLst>
              <a:gd name="adj" fmla="val 50000"/>
            </a:avLst>
          </a:prstGeom>
          <a:solidFill>
            <a:srgbClr val="F3F6FA"/>
          </a:solidFill>
          <a:ln w="12700">
            <a:solidFill>
              <a:srgbClr val="1098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98484" y="3200400"/>
            <a:ext cx="2331720" cy="292608"/>
          </a:xfrm>
          <a:prstGeom prst="rect">
            <a:avLst/>
          </a:prstGeom>
          <a:noFill/>
        </p:spPr>
        <p:txBody>
          <a:bodyPr wrap="square" anchor="ctr" lIns="0" rIns="0" tIns="0" bIns="0">
            <a:spAutoFit/>
          </a:bodyPr>
          <a:lstStyle/>
          <a:p>
            <a:pPr algn="ctr">
              <a:lnSpc>
                <a:spcPct val="100000"/>
              </a:lnSpc>
              <a:spcAft>
                <a:spcPts val="0"/>
              </a:spcAft>
            </a:pPr>
            <a:r>
              <a:rPr sz="1000" b="1" i="0">
                <a:solidFill>
                  <a:srgbClr val="109881"/>
                </a:solidFill>
                <a:latin typeface="Segoe UI"/>
              </a:rPr>
              <a:t>ρ = 0.959 @ α = 0.10</a:t>
            </a:r>
          </a:p>
        </p:txBody>
      </p:sp>
      <p:sp>
        <p:nvSpPr>
          <p:cNvPr id="30" name="Rounded Rectangle 29"/>
          <p:cNvSpPr/>
          <p:nvPr/>
        </p:nvSpPr>
        <p:spPr>
          <a:xfrm>
            <a:off x="658368" y="3767328"/>
            <a:ext cx="3490874" cy="2048256"/>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58368" y="3767328"/>
            <a:ext cx="3490874"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4400" y="4023360"/>
            <a:ext cx="640080" cy="411480"/>
          </a:xfrm>
          <a:prstGeom prst="rect">
            <a:avLst/>
          </a:prstGeom>
          <a:noFill/>
        </p:spPr>
        <p:txBody>
          <a:bodyPr wrap="square" anchor="t" lIns="0" rIns="0" tIns="0" bIns="0">
            <a:spAutoFit/>
          </a:bodyPr>
          <a:lstStyle/>
          <a:p>
            <a:pPr algn="l">
              <a:lnSpc>
                <a:spcPct val="100000"/>
              </a:lnSpc>
              <a:spcAft>
                <a:spcPts val="0"/>
              </a:spcAft>
            </a:pPr>
            <a:r>
              <a:rPr sz="2400" b="1" i="0">
                <a:solidFill>
                  <a:srgbClr val="8A97A8"/>
                </a:solidFill>
                <a:latin typeface="Segoe UI"/>
              </a:rPr>
              <a:t>04</a:t>
            </a:r>
          </a:p>
        </p:txBody>
      </p:sp>
      <p:sp>
        <p:nvSpPr>
          <p:cNvPr id="33" name="TextBox 32"/>
          <p:cNvSpPr txBox="1"/>
          <p:nvPr/>
        </p:nvSpPr>
        <p:spPr>
          <a:xfrm>
            <a:off x="914400" y="4517136"/>
            <a:ext cx="2978810" cy="365760"/>
          </a:xfrm>
          <a:prstGeom prst="rect">
            <a:avLst/>
          </a:prstGeom>
          <a:noFill/>
        </p:spPr>
        <p:txBody>
          <a:bodyPr wrap="square" anchor="t" lIns="0" rIns="0" tIns="0" bIns="0">
            <a:spAutoFit/>
          </a:bodyPr>
          <a:lstStyle/>
          <a:p>
            <a:pPr algn="l">
              <a:lnSpc>
                <a:spcPct val="100000"/>
              </a:lnSpc>
              <a:spcAft>
                <a:spcPts val="0"/>
              </a:spcAft>
            </a:pPr>
            <a:r>
              <a:rPr sz="1450" b="1" i="0">
                <a:solidFill>
                  <a:srgbClr val="0F172A"/>
                </a:solidFill>
                <a:latin typeface="Segoe UI"/>
              </a:rPr>
              <a:t>Imperceptible mark</a:t>
            </a:r>
          </a:p>
        </p:txBody>
      </p:sp>
      <p:sp>
        <p:nvSpPr>
          <p:cNvPr id="34" name="TextBox 33"/>
          <p:cNvSpPr txBox="1"/>
          <p:nvPr/>
        </p:nvSpPr>
        <p:spPr>
          <a:xfrm>
            <a:off x="914400" y="4882896"/>
            <a:ext cx="2978810" cy="548640"/>
          </a:xfrm>
          <a:prstGeom prst="rect">
            <a:avLst/>
          </a:prstGeom>
          <a:noFill/>
        </p:spPr>
        <p:txBody>
          <a:bodyPr wrap="square" anchor="t" lIns="0" rIns="0" tIns="0" bIns="0">
            <a:spAutoFit/>
          </a:bodyPr>
          <a:lstStyle/>
          <a:p>
            <a:pPr algn="l">
              <a:lnSpc>
                <a:spcPct val="114000"/>
              </a:lnSpc>
              <a:spcAft>
                <a:spcPts val="0"/>
              </a:spcAft>
            </a:pPr>
            <a:r>
              <a:rPr sz="1100" b="0" i="0">
                <a:solidFill>
                  <a:srgbClr val="4B5A70"/>
                </a:solidFill>
                <a:latin typeface="Segoe UI"/>
              </a:rPr>
              <a:t>Target PSNR &gt; 40 dB against the original.</a:t>
            </a:r>
          </a:p>
        </p:txBody>
      </p:sp>
      <p:sp>
        <p:nvSpPr>
          <p:cNvPr id="35" name="Rounded Rectangle 34"/>
          <p:cNvSpPr/>
          <p:nvPr/>
        </p:nvSpPr>
        <p:spPr>
          <a:xfrm>
            <a:off x="914400" y="5413248"/>
            <a:ext cx="2331720" cy="292608"/>
          </a:xfrm>
          <a:prstGeom prst="roundRect">
            <a:avLst>
              <a:gd name="adj" fmla="val 50000"/>
            </a:avLst>
          </a:prstGeom>
          <a:solidFill>
            <a:srgbClr val="F3F6FA"/>
          </a:solidFill>
          <a:ln w="12700">
            <a:solidFill>
              <a:srgbClr val="1098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14400" y="5413248"/>
            <a:ext cx="2331720" cy="292608"/>
          </a:xfrm>
          <a:prstGeom prst="rect">
            <a:avLst/>
          </a:prstGeom>
          <a:noFill/>
        </p:spPr>
        <p:txBody>
          <a:bodyPr wrap="square" anchor="ctr" lIns="0" rIns="0" tIns="0" bIns="0">
            <a:spAutoFit/>
          </a:bodyPr>
          <a:lstStyle/>
          <a:p>
            <a:pPr algn="ctr">
              <a:lnSpc>
                <a:spcPct val="100000"/>
              </a:lnSpc>
              <a:spcAft>
                <a:spcPts val="0"/>
              </a:spcAft>
            </a:pPr>
            <a:r>
              <a:rPr sz="1000" b="1" i="0">
                <a:solidFill>
                  <a:srgbClr val="109881"/>
                </a:solidFill>
                <a:latin typeface="Segoe UI"/>
              </a:rPr>
              <a:t>45.49 dB achieved</a:t>
            </a:r>
          </a:p>
        </p:txBody>
      </p:sp>
      <p:sp>
        <p:nvSpPr>
          <p:cNvPr id="37" name="Rounded Rectangle 36"/>
          <p:cNvSpPr/>
          <p:nvPr/>
        </p:nvSpPr>
        <p:spPr>
          <a:xfrm>
            <a:off x="4350410" y="3767328"/>
            <a:ext cx="3490874" cy="2048256"/>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4350410" y="3767328"/>
            <a:ext cx="3490874" cy="45720"/>
          </a:xfrm>
          <a:prstGeom prst="rect">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606442" y="4023360"/>
            <a:ext cx="640080" cy="411480"/>
          </a:xfrm>
          <a:prstGeom prst="rect">
            <a:avLst/>
          </a:prstGeom>
          <a:noFill/>
        </p:spPr>
        <p:txBody>
          <a:bodyPr wrap="square" anchor="t" lIns="0" rIns="0" tIns="0" bIns="0">
            <a:spAutoFit/>
          </a:bodyPr>
          <a:lstStyle/>
          <a:p>
            <a:pPr algn="l">
              <a:lnSpc>
                <a:spcPct val="100000"/>
              </a:lnSpc>
              <a:spcAft>
                <a:spcPts val="0"/>
              </a:spcAft>
            </a:pPr>
            <a:r>
              <a:rPr sz="2400" b="1" i="0">
                <a:solidFill>
                  <a:srgbClr val="8A97A8"/>
                </a:solidFill>
                <a:latin typeface="Segoe UI"/>
              </a:rPr>
              <a:t>05</a:t>
            </a:r>
          </a:p>
        </p:txBody>
      </p:sp>
      <p:sp>
        <p:nvSpPr>
          <p:cNvPr id="40" name="TextBox 39"/>
          <p:cNvSpPr txBox="1"/>
          <p:nvPr/>
        </p:nvSpPr>
        <p:spPr>
          <a:xfrm>
            <a:off x="4606442" y="4517136"/>
            <a:ext cx="2978810" cy="365760"/>
          </a:xfrm>
          <a:prstGeom prst="rect">
            <a:avLst/>
          </a:prstGeom>
          <a:noFill/>
        </p:spPr>
        <p:txBody>
          <a:bodyPr wrap="square" anchor="t" lIns="0" rIns="0" tIns="0" bIns="0">
            <a:spAutoFit/>
          </a:bodyPr>
          <a:lstStyle/>
          <a:p>
            <a:pPr algn="l">
              <a:lnSpc>
                <a:spcPct val="100000"/>
              </a:lnSpc>
              <a:spcAft>
                <a:spcPts val="0"/>
              </a:spcAft>
            </a:pPr>
            <a:r>
              <a:rPr sz="1450" b="1" i="0">
                <a:solidFill>
                  <a:srgbClr val="0F172A"/>
                </a:solidFill>
                <a:latin typeface="Segoe UI"/>
              </a:rPr>
              <a:t>Automated evaluation</a:t>
            </a:r>
          </a:p>
        </p:txBody>
      </p:sp>
      <p:sp>
        <p:nvSpPr>
          <p:cNvPr id="41" name="TextBox 40"/>
          <p:cNvSpPr txBox="1"/>
          <p:nvPr/>
        </p:nvSpPr>
        <p:spPr>
          <a:xfrm>
            <a:off x="4606442" y="4882896"/>
            <a:ext cx="2978810" cy="548640"/>
          </a:xfrm>
          <a:prstGeom prst="rect">
            <a:avLst/>
          </a:prstGeom>
          <a:noFill/>
        </p:spPr>
        <p:txBody>
          <a:bodyPr wrap="square" anchor="t" lIns="0" rIns="0" tIns="0" bIns="0">
            <a:spAutoFit/>
          </a:bodyPr>
          <a:lstStyle/>
          <a:p>
            <a:pPr algn="l">
              <a:lnSpc>
                <a:spcPct val="114000"/>
              </a:lnSpc>
              <a:spcAft>
                <a:spcPts val="0"/>
              </a:spcAft>
            </a:pPr>
            <a:r>
              <a:rPr sz="1100" b="0" i="0">
                <a:solidFill>
                  <a:srgbClr val="4B5A70"/>
                </a:solidFill>
                <a:latin typeface="Segoe UI"/>
              </a:rPr>
              <a:t>A reproducible grid over tamper class × ratio × image × key.</a:t>
            </a:r>
          </a:p>
        </p:txBody>
      </p:sp>
      <p:sp>
        <p:nvSpPr>
          <p:cNvPr id="42" name="Rounded Rectangle 41"/>
          <p:cNvSpPr/>
          <p:nvPr/>
        </p:nvSpPr>
        <p:spPr>
          <a:xfrm>
            <a:off x="4606442" y="5413248"/>
            <a:ext cx="2331720" cy="292608"/>
          </a:xfrm>
          <a:prstGeom prst="roundRect">
            <a:avLst>
              <a:gd name="adj" fmla="val 50000"/>
            </a:avLst>
          </a:prstGeom>
          <a:solidFill>
            <a:srgbClr val="F3F6FA"/>
          </a:solidFill>
          <a:ln w="12700">
            <a:solidFill>
              <a:srgbClr val="1098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606442" y="5413248"/>
            <a:ext cx="2331720" cy="292608"/>
          </a:xfrm>
          <a:prstGeom prst="rect">
            <a:avLst/>
          </a:prstGeom>
          <a:noFill/>
        </p:spPr>
        <p:txBody>
          <a:bodyPr wrap="square" anchor="ctr" lIns="0" rIns="0" tIns="0" bIns="0">
            <a:spAutoFit/>
          </a:bodyPr>
          <a:lstStyle/>
          <a:p>
            <a:pPr algn="ctr">
              <a:lnSpc>
                <a:spcPct val="100000"/>
              </a:lnSpc>
              <a:spcAft>
                <a:spcPts val="0"/>
              </a:spcAft>
            </a:pPr>
            <a:r>
              <a:rPr sz="1000" b="1" i="0">
                <a:solidFill>
                  <a:srgbClr val="109881"/>
                </a:solidFill>
                <a:latin typeface="Segoe UI"/>
              </a:rPr>
              <a:t>3,232 runs</a:t>
            </a:r>
          </a:p>
        </p:txBody>
      </p:sp>
      <p:sp>
        <p:nvSpPr>
          <p:cNvPr id="44" name="Rounded Rectangle 43"/>
          <p:cNvSpPr/>
          <p:nvPr/>
        </p:nvSpPr>
        <p:spPr>
          <a:xfrm>
            <a:off x="8042452" y="3767328"/>
            <a:ext cx="3490874" cy="2048256"/>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8042452" y="3767328"/>
            <a:ext cx="3490874" cy="457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298484" y="4023360"/>
            <a:ext cx="640080" cy="411480"/>
          </a:xfrm>
          <a:prstGeom prst="rect">
            <a:avLst/>
          </a:prstGeom>
          <a:noFill/>
        </p:spPr>
        <p:txBody>
          <a:bodyPr wrap="square" anchor="t" lIns="0" rIns="0" tIns="0" bIns="0">
            <a:spAutoFit/>
          </a:bodyPr>
          <a:lstStyle/>
          <a:p>
            <a:pPr algn="l">
              <a:lnSpc>
                <a:spcPct val="100000"/>
              </a:lnSpc>
              <a:spcAft>
                <a:spcPts val="0"/>
              </a:spcAft>
            </a:pPr>
            <a:r>
              <a:rPr sz="2400" b="1" i="0">
                <a:solidFill>
                  <a:srgbClr val="8A97A8"/>
                </a:solidFill>
                <a:latin typeface="Segoe UI"/>
              </a:rPr>
              <a:t>06</a:t>
            </a:r>
          </a:p>
        </p:txBody>
      </p:sp>
      <p:sp>
        <p:nvSpPr>
          <p:cNvPr id="47" name="TextBox 46"/>
          <p:cNvSpPr txBox="1"/>
          <p:nvPr/>
        </p:nvSpPr>
        <p:spPr>
          <a:xfrm>
            <a:off x="8298484" y="4517136"/>
            <a:ext cx="2978810" cy="365760"/>
          </a:xfrm>
          <a:prstGeom prst="rect">
            <a:avLst/>
          </a:prstGeom>
          <a:noFill/>
        </p:spPr>
        <p:txBody>
          <a:bodyPr wrap="square" anchor="t" lIns="0" rIns="0" tIns="0" bIns="0">
            <a:spAutoFit/>
          </a:bodyPr>
          <a:lstStyle/>
          <a:p>
            <a:pPr algn="l">
              <a:lnSpc>
                <a:spcPct val="100000"/>
              </a:lnSpc>
              <a:spcAft>
                <a:spcPts val="0"/>
              </a:spcAft>
            </a:pPr>
            <a:r>
              <a:rPr sz="1450" b="1" i="0">
                <a:solidFill>
                  <a:srgbClr val="0F172A"/>
                </a:solidFill>
                <a:latin typeface="Segoe UI"/>
              </a:rPr>
              <a:t>Classical and explainable</a:t>
            </a:r>
          </a:p>
        </p:txBody>
      </p:sp>
      <p:sp>
        <p:nvSpPr>
          <p:cNvPr id="48" name="TextBox 47"/>
          <p:cNvSpPr txBox="1"/>
          <p:nvPr/>
        </p:nvSpPr>
        <p:spPr>
          <a:xfrm>
            <a:off x="8298484" y="4882896"/>
            <a:ext cx="2978810" cy="548640"/>
          </a:xfrm>
          <a:prstGeom prst="rect">
            <a:avLst/>
          </a:prstGeom>
          <a:noFill/>
        </p:spPr>
        <p:txBody>
          <a:bodyPr wrap="square" anchor="t" lIns="0" rIns="0" tIns="0" bIns="0">
            <a:spAutoFit/>
          </a:bodyPr>
          <a:lstStyle/>
          <a:p>
            <a:pPr algn="l">
              <a:lnSpc>
                <a:spcPct val="114000"/>
              </a:lnSpc>
              <a:spcAft>
                <a:spcPts val="0"/>
              </a:spcAft>
            </a:pPr>
            <a:r>
              <a:rPr sz="1100" b="0" i="0">
                <a:solidFill>
                  <a:srgbClr val="4B5A70"/>
                </a:solidFill>
                <a:latin typeface="Segoe UI"/>
              </a:rPr>
              <a:t>No training data, no GPU, deterministic across runs.</a:t>
            </a:r>
          </a:p>
        </p:txBody>
      </p:sp>
      <p:sp>
        <p:nvSpPr>
          <p:cNvPr id="49" name="Rounded Rectangle 48"/>
          <p:cNvSpPr/>
          <p:nvPr/>
        </p:nvSpPr>
        <p:spPr>
          <a:xfrm>
            <a:off x="8298484" y="5413248"/>
            <a:ext cx="2331720" cy="292608"/>
          </a:xfrm>
          <a:prstGeom prst="roundRect">
            <a:avLst>
              <a:gd name="adj" fmla="val 50000"/>
            </a:avLst>
          </a:prstGeom>
          <a:solidFill>
            <a:srgbClr val="F3F6FA"/>
          </a:solidFill>
          <a:ln w="12700">
            <a:solidFill>
              <a:srgbClr val="10988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298484" y="5413248"/>
            <a:ext cx="2331720" cy="292608"/>
          </a:xfrm>
          <a:prstGeom prst="rect">
            <a:avLst/>
          </a:prstGeom>
          <a:noFill/>
        </p:spPr>
        <p:txBody>
          <a:bodyPr wrap="square" anchor="ctr" lIns="0" rIns="0" tIns="0" bIns="0">
            <a:spAutoFit/>
          </a:bodyPr>
          <a:lstStyle/>
          <a:p>
            <a:pPr algn="ctr">
              <a:lnSpc>
                <a:spcPct val="100000"/>
              </a:lnSpc>
              <a:spcAft>
                <a:spcPts val="0"/>
              </a:spcAft>
            </a:pPr>
            <a:r>
              <a:rPr sz="1000" b="1" i="0">
                <a:solidFill>
                  <a:srgbClr val="109881"/>
                </a:solidFill>
                <a:latin typeface="Segoe UI"/>
              </a:rPr>
              <a:t>0 model parameters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07</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07</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Methodology</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Embedding, detection, recovery — and the protocol that tests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07 · METHODOLOGY</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Protecting an image — six steps, done once</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10</a:t>
            </a:r>
          </a:p>
        </p:txBody>
      </p:sp>
      <p:sp>
        <p:nvSpPr>
          <p:cNvPr id="9" name="Chevron 8"/>
          <p:cNvSpPr/>
          <p:nvPr/>
        </p:nvSpPr>
        <p:spPr>
          <a:xfrm>
            <a:off x="658368" y="1892808"/>
            <a:ext cx="1920240" cy="1115568"/>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2039112"/>
            <a:ext cx="1417320" cy="932688"/>
          </a:xfrm>
          <a:prstGeom prst="rect">
            <a:avLst/>
          </a:prstGeom>
          <a:noFill/>
        </p:spPr>
        <p:txBody>
          <a:bodyPr wrap="square" anchor="t" lIns="0" rIns="0" tIns="0" bIns="0">
            <a:spAutoFit/>
          </a:bodyPr>
          <a:lstStyle/>
          <a:p>
            <a:pPr algn="ctr">
              <a:lnSpc>
                <a:spcPct val="100000"/>
              </a:lnSpc>
              <a:spcAft>
                <a:spcPts val="0"/>
              </a:spcAft>
            </a:pPr>
            <a:r>
              <a:rPr sz="1300" b="1" i="0">
                <a:solidFill>
                  <a:srgbClr val="E6EDF6"/>
                </a:solidFill>
                <a:latin typeface="Segoe UI"/>
              </a:rPr>
              <a:t>Partition</a:t>
            </a:r>
          </a:p>
        </p:txBody>
      </p:sp>
      <p:sp>
        <p:nvSpPr>
          <p:cNvPr id="11" name="TextBox 10"/>
          <p:cNvSpPr txBox="1"/>
          <p:nvPr/>
        </p:nvSpPr>
        <p:spPr>
          <a:xfrm>
            <a:off x="932688" y="2606040"/>
            <a:ext cx="141732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pad to a multiple of 8;
split into 8×8 blocks</a:t>
            </a:r>
          </a:p>
        </p:txBody>
      </p:sp>
      <p:sp>
        <p:nvSpPr>
          <p:cNvPr id="12" name="Chevron 11"/>
          <p:cNvSpPr/>
          <p:nvPr/>
        </p:nvSpPr>
        <p:spPr>
          <a:xfrm>
            <a:off x="2414015" y="1892808"/>
            <a:ext cx="1920240" cy="1115568"/>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688335" y="2039112"/>
            <a:ext cx="1417320" cy="932688"/>
          </a:xfrm>
          <a:prstGeom prst="rect">
            <a:avLst/>
          </a:prstGeom>
          <a:noFill/>
        </p:spPr>
        <p:txBody>
          <a:bodyPr wrap="square" anchor="t" lIns="0" rIns="0" tIns="0" bIns="0">
            <a:spAutoFit/>
          </a:bodyPr>
          <a:lstStyle/>
          <a:p>
            <a:pPr algn="ctr">
              <a:lnSpc>
                <a:spcPct val="100000"/>
              </a:lnSpc>
              <a:spcAft>
                <a:spcPts val="0"/>
              </a:spcAft>
            </a:pPr>
            <a:r>
              <a:rPr sz="1300" b="1" i="0">
                <a:solidFill>
                  <a:srgbClr val="E6EDF6"/>
                </a:solidFill>
                <a:latin typeface="Segoe UI"/>
              </a:rPr>
              <a:t>Fix the MSBs</a:t>
            </a:r>
          </a:p>
        </p:txBody>
      </p:sp>
      <p:sp>
        <p:nvSpPr>
          <p:cNvPr id="14" name="TextBox 13"/>
          <p:cNvSpPr txBox="1"/>
          <p:nvPr/>
        </p:nvSpPr>
        <p:spPr>
          <a:xfrm>
            <a:off x="2688335" y="2606040"/>
            <a:ext cx="141732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msb(a) = a ∧ 0xFC — the
top 6 bits are the content</a:t>
            </a:r>
          </a:p>
        </p:txBody>
      </p:sp>
      <p:sp>
        <p:nvSpPr>
          <p:cNvPr id="15" name="Chevron 14"/>
          <p:cNvSpPr/>
          <p:nvPr/>
        </p:nvSpPr>
        <p:spPr>
          <a:xfrm>
            <a:off x="4169663" y="1892808"/>
            <a:ext cx="1920240" cy="1115568"/>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443983" y="2039112"/>
            <a:ext cx="1417320" cy="932688"/>
          </a:xfrm>
          <a:prstGeom prst="rect">
            <a:avLst/>
          </a:prstGeom>
          <a:noFill/>
        </p:spPr>
        <p:txBody>
          <a:bodyPr wrap="square" anchor="t" lIns="0" rIns="0" tIns="0" bIns="0">
            <a:spAutoFit/>
          </a:bodyPr>
          <a:lstStyle/>
          <a:p>
            <a:pPr algn="ctr">
              <a:lnSpc>
                <a:spcPct val="100000"/>
              </a:lnSpc>
              <a:spcAft>
                <a:spcPts val="0"/>
              </a:spcAft>
            </a:pPr>
            <a:r>
              <a:rPr sz="1300" b="1" i="0">
                <a:solidFill>
                  <a:srgbClr val="E6EDF6"/>
                </a:solidFill>
                <a:latin typeface="Segoe UI"/>
              </a:rPr>
              <a:t>Describe</a:t>
            </a:r>
          </a:p>
        </p:txBody>
      </p:sp>
      <p:sp>
        <p:nvSpPr>
          <p:cNvPr id="17" name="TextBox 16"/>
          <p:cNvSpPr txBox="1"/>
          <p:nvPr/>
        </p:nvSpPr>
        <p:spPr>
          <a:xfrm>
            <a:off x="4443983" y="2606040"/>
            <a:ext cx="141732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per-block DCT descriptor,
96 bits per channel</a:t>
            </a:r>
          </a:p>
        </p:txBody>
      </p:sp>
      <p:sp>
        <p:nvSpPr>
          <p:cNvPr id="18" name="Chevron 17"/>
          <p:cNvSpPr/>
          <p:nvPr/>
        </p:nvSpPr>
        <p:spPr>
          <a:xfrm>
            <a:off x="5925312" y="1892808"/>
            <a:ext cx="1920240" cy="1115568"/>
          </a:xfrm>
          <a:prstGeom prst="chevron">
            <a:avLst>
              <a:gd name="adj" fmla="val 22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199631" y="2039112"/>
            <a:ext cx="1417320" cy="932688"/>
          </a:xfrm>
          <a:prstGeom prst="rect">
            <a:avLst/>
          </a:prstGeom>
          <a:noFill/>
        </p:spPr>
        <p:txBody>
          <a:bodyPr wrap="square" anchor="t" lIns="0" rIns="0" tIns="0" bIns="0">
            <a:spAutoFit/>
          </a:bodyPr>
          <a:lstStyle/>
          <a:p>
            <a:pPr algn="ctr">
              <a:lnSpc>
                <a:spcPct val="100000"/>
              </a:lnSpc>
              <a:spcAft>
                <a:spcPts val="0"/>
              </a:spcAft>
            </a:pPr>
            <a:r>
              <a:rPr sz="1300" b="1" i="0">
                <a:solidFill>
                  <a:srgbClr val="E6EDF6"/>
                </a:solidFill>
                <a:latin typeface="Segoe UI"/>
              </a:rPr>
              <a:t>Map</a:t>
            </a:r>
          </a:p>
        </p:txBody>
      </p:sp>
      <p:sp>
        <p:nvSpPr>
          <p:cNvPr id="20" name="TextBox 19"/>
          <p:cNvSpPr txBox="1"/>
          <p:nvPr/>
        </p:nvSpPr>
        <p:spPr>
          <a:xfrm>
            <a:off x="6199631" y="2606040"/>
            <a:ext cx="141732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key-seeded single-cycle
permutation m(i), i ≠ m(i)</a:t>
            </a:r>
          </a:p>
        </p:txBody>
      </p:sp>
      <p:sp>
        <p:nvSpPr>
          <p:cNvPr id="21" name="Chevron 20"/>
          <p:cNvSpPr/>
          <p:nvPr/>
        </p:nvSpPr>
        <p:spPr>
          <a:xfrm>
            <a:off x="7680960" y="1892808"/>
            <a:ext cx="1920240" cy="1115568"/>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955280" y="2039112"/>
            <a:ext cx="1417320" cy="932688"/>
          </a:xfrm>
          <a:prstGeom prst="rect">
            <a:avLst/>
          </a:prstGeom>
          <a:noFill/>
        </p:spPr>
        <p:txBody>
          <a:bodyPr wrap="square" anchor="t" lIns="0" rIns="0" tIns="0" bIns="0">
            <a:spAutoFit/>
          </a:bodyPr>
          <a:lstStyle/>
          <a:p>
            <a:pPr algn="ctr">
              <a:lnSpc>
                <a:spcPct val="100000"/>
              </a:lnSpc>
              <a:spcAft>
                <a:spcPts val="0"/>
              </a:spcAft>
            </a:pPr>
            <a:r>
              <a:rPr sz="1300" b="1" i="0">
                <a:solidFill>
                  <a:srgbClr val="E6EDF6"/>
                </a:solidFill>
                <a:latin typeface="Segoe UI"/>
              </a:rPr>
              <a:t>Tag</a:t>
            </a:r>
          </a:p>
        </p:txBody>
      </p:sp>
      <p:sp>
        <p:nvSpPr>
          <p:cNvPr id="23" name="TextBox 22"/>
          <p:cNvSpPr txBox="1"/>
          <p:nvPr/>
        </p:nvSpPr>
        <p:spPr>
          <a:xfrm>
            <a:off x="7955280" y="2606040"/>
            <a:ext cx="141732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32-bit keyed hash of
msb(bᵢ) ‖ i ‖ image-id</a:t>
            </a:r>
          </a:p>
        </p:txBody>
      </p:sp>
      <p:sp>
        <p:nvSpPr>
          <p:cNvPr id="24" name="Chevron 23"/>
          <p:cNvSpPr/>
          <p:nvPr/>
        </p:nvSpPr>
        <p:spPr>
          <a:xfrm>
            <a:off x="9436608" y="1892808"/>
            <a:ext cx="1920240" cy="1115568"/>
          </a:xfrm>
          <a:prstGeom prst="chevron">
            <a:avLst>
              <a:gd name="adj" fmla="val 22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10928" y="2039112"/>
            <a:ext cx="1417320" cy="932688"/>
          </a:xfrm>
          <a:prstGeom prst="rect">
            <a:avLst/>
          </a:prstGeom>
          <a:noFill/>
        </p:spPr>
        <p:txBody>
          <a:bodyPr wrap="square" anchor="t" lIns="0" rIns="0" tIns="0" bIns="0">
            <a:spAutoFit/>
          </a:bodyPr>
          <a:lstStyle/>
          <a:p>
            <a:pPr algn="ctr">
              <a:lnSpc>
                <a:spcPct val="100000"/>
              </a:lnSpc>
              <a:spcAft>
                <a:spcPts val="0"/>
              </a:spcAft>
            </a:pPr>
            <a:r>
              <a:rPr sz="1300" b="1" i="0">
                <a:solidFill>
                  <a:srgbClr val="E6EDF6"/>
                </a:solidFill>
                <a:latin typeface="Segoe UI"/>
              </a:rPr>
              <a:t>Embed</a:t>
            </a:r>
          </a:p>
        </p:txBody>
      </p:sp>
      <p:sp>
        <p:nvSpPr>
          <p:cNvPr id="26" name="TextBox 25"/>
          <p:cNvSpPr txBox="1"/>
          <p:nvPr/>
        </p:nvSpPr>
        <p:spPr>
          <a:xfrm>
            <a:off x="9710928" y="2606040"/>
            <a:ext cx="141732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LSB shifting into the
2 low bits of each pixel</a:t>
            </a:r>
          </a:p>
        </p:txBody>
      </p:sp>
      <p:sp>
        <p:nvSpPr>
          <p:cNvPr id="27" name="TextBox 26"/>
          <p:cNvSpPr txBox="1"/>
          <p:nvPr/>
        </p:nvSpPr>
        <p:spPr>
          <a:xfrm>
            <a:off x="658368" y="1554480"/>
            <a:ext cx="10874959" cy="274320"/>
          </a:xfrm>
          <a:prstGeom prst="rect">
            <a:avLst/>
          </a:prstGeom>
          <a:noFill/>
        </p:spPr>
        <p:txBody>
          <a:bodyPr wrap="square" anchor="t" lIns="0" rIns="0" tIns="0" bIns="0">
            <a:spAutoFit/>
          </a:bodyPr>
          <a:lstStyle/>
          <a:p>
            <a:pPr algn="l">
              <a:lnSpc>
                <a:spcPct val="100000"/>
              </a:lnSpc>
              <a:spcAft>
                <a:spcPts val="0"/>
              </a:spcAft>
            </a:pPr>
            <a:r>
              <a:rPr sz="1000" b="1" i="0">
                <a:solidFill>
                  <a:srgbClr val="0EA5A4"/>
                </a:solidFill>
                <a:latin typeface="Segoe UI"/>
              </a:rPr>
              <a:t>OFFLINE, BEFORE THE IMAGE IS RELEASED — THE ONLY STEP THAT NEEDS THE ORIGINAL</a:t>
            </a:r>
          </a:p>
        </p:txBody>
      </p:sp>
      <p:sp>
        <p:nvSpPr>
          <p:cNvPr id="28" name="Rounded Rectangle 27"/>
          <p:cNvSpPr/>
          <p:nvPr/>
        </p:nvSpPr>
        <p:spPr>
          <a:xfrm>
            <a:off x="658368" y="3520440"/>
            <a:ext cx="3478682" cy="175564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58368" y="3520440"/>
            <a:ext cx="68580" cy="175564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14400" y="3675888"/>
            <a:ext cx="3021482" cy="44196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Why the MSBs are hashed, not the pixels</a:t>
            </a:r>
          </a:p>
        </p:txBody>
      </p:sp>
      <p:sp>
        <p:nvSpPr>
          <p:cNvPr id="31" name="TextBox 30"/>
          <p:cNvSpPr txBox="1"/>
          <p:nvPr/>
        </p:nvSpPr>
        <p:spPr>
          <a:xfrm>
            <a:off x="914400" y="4117848"/>
            <a:ext cx="3021482" cy="1002791"/>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The 2 LSBs carry the watermark, so they cannot be part of what the tag commits to. Hashing msb(·) makes the tag stable under its own embedding.</a:t>
            </a:r>
          </a:p>
        </p:txBody>
      </p:sp>
      <p:sp>
        <p:nvSpPr>
          <p:cNvPr id="32" name="Rounded Rectangle 31"/>
          <p:cNvSpPr/>
          <p:nvPr/>
        </p:nvSpPr>
        <p:spPr>
          <a:xfrm>
            <a:off x="4356506" y="3520440"/>
            <a:ext cx="3478682" cy="175564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4356506" y="3520440"/>
            <a:ext cx="68580" cy="175564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612538" y="3675888"/>
            <a:ext cx="3021482" cy="44196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Why the map must be a single cycle</a:t>
            </a:r>
          </a:p>
        </p:txBody>
      </p:sp>
      <p:sp>
        <p:nvSpPr>
          <p:cNvPr id="35" name="TextBox 34"/>
          <p:cNvSpPr txBox="1"/>
          <p:nvPr/>
        </p:nvSpPr>
        <p:spPr>
          <a:xfrm>
            <a:off x="4612538" y="4117848"/>
            <a:ext cx="3021482" cy="1002791"/>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A single cycle guarantees every block backs up exactly one other and is backed up by exactly one — no block is left without a partner, none is stored twice.</a:t>
            </a:r>
          </a:p>
        </p:txBody>
      </p:sp>
      <p:sp>
        <p:nvSpPr>
          <p:cNvPr id="36" name="Rounded Rectangle 35"/>
          <p:cNvSpPr/>
          <p:nvPr/>
        </p:nvSpPr>
        <p:spPr>
          <a:xfrm>
            <a:off x="8054644" y="3520440"/>
            <a:ext cx="3478682" cy="175564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8054644" y="3520440"/>
            <a:ext cx="68580" cy="17556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310676" y="3675888"/>
            <a:ext cx="3021482" cy="44196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Why LSB shifting, not LSB replacement</a:t>
            </a:r>
          </a:p>
        </p:txBody>
      </p:sp>
      <p:sp>
        <p:nvSpPr>
          <p:cNvPr id="39" name="TextBox 38"/>
          <p:cNvSpPr txBox="1"/>
          <p:nvPr/>
        </p:nvSpPr>
        <p:spPr>
          <a:xfrm>
            <a:off x="8310676" y="4117848"/>
            <a:ext cx="3021482" cy="1002791"/>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Shifting a pixel to the nearest value with the required low bits costs ≈0.5 LSB of distortion instead of ≈1.5 — worth about +2.3 dB, for free.</a:t>
            </a:r>
          </a:p>
        </p:txBody>
      </p:sp>
      <p:sp>
        <p:nvSpPr>
          <p:cNvPr id="40" name="Rounded Rectangle 39"/>
          <p:cNvSpPr/>
          <p:nvPr/>
        </p:nvSpPr>
        <p:spPr>
          <a:xfrm>
            <a:off x="658368" y="5833872"/>
            <a:ext cx="10874959" cy="502920"/>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658368" y="5833872"/>
            <a:ext cx="64008" cy="50292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32688" y="5833872"/>
            <a:ext cx="10326319" cy="502920"/>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Tag-carrying pixels are never shifted — their low bits are the tag, so shifting them would make the hash depend on its own output.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07 · METHODOLOGY</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Verifying and recovering — on any received copy</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11</a:t>
            </a:r>
          </a:p>
        </p:txBody>
      </p:sp>
      <p:sp>
        <p:nvSpPr>
          <p:cNvPr id="9" name="Rounded Rectangle 8"/>
          <p:cNvSpPr/>
          <p:nvPr/>
        </p:nvSpPr>
        <p:spPr>
          <a:xfrm>
            <a:off x="658368" y="1499616"/>
            <a:ext cx="10874959" cy="1481328"/>
          </a:xfrm>
          <a:prstGeom prst="roundRect">
            <a:avLst>
              <a:gd name="adj" fmla="val 3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499616"/>
            <a:ext cx="54864" cy="148132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7" y="1591056"/>
            <a:ext cx="4572000" cy="237744"/>
          </a:xfrm>
          <a:prstGeom prst="rect">
            <a:avLst/>
          </a:prstGeom>
          <a:noFill/>
        </p:spPr>
        <p:txBody>
          <a:bodyPr wrap="square" anchor="t" lIns="0" rIns="0" tIns="0" bIns="0">
            <a:spAutoFit/>
          </a:bodyPr>
          <a:lstStyle/>
          <a:p>
            <a:pPr algn="l">
              <a:lnSpc>
                <a:spcPct val="100000"/>
              </a:lnSpc>
              <a:spcAft>
                <a:spcPts val="0"/>
              </a:spcAft>
            </a:pPr>
            <a:r>
              <a:rPr sz="1000" b="1" i="0">
                <a:solidFill>
                  <a:srgbClr val="22D3EE"/>
                </a:solidFill>
                <a:latin typeface="Segoe UI"/>
              </a:rPr>
              <a:t>DETECTION</a:t>
            </a:r>
          </a:p>
        </p:txBody>
      </p:sp>
      <p:sp>
        <p:nvSpPr>
          <p:cNvPr id="12" name="Chevron 11"/>
          <p:cNvSpPr/>
          <p:nvPr/>
        </p:nvSpPr>
        <p:spPr>
          <a:xfrm>
            <a:off x="859536" y="1847088"/>
            <a:ext cx="2514600"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33856" y="1993392"/>
            <a:ext cx="2011680" cy="731520"/>
          </a:xfrm>
          <a:prstGeom prst="rect">
            <a:avLst/>
          </a:prstGeom>
          <a:noFill/>
        </p:spPr>
        <p:txBody>
          <a:bodyPr wrap="square" anchor="t" lIns="0" rIns="0" tIns="0" bIns="0">
            <a:spAutoFit/>
          </a:bodyPr>
          <a:lstStyle/>
          <a:p>
            <a:pPr algn="ctr">
              <a:lnSpc>
                <a:spcPct val="100000"/>
              </a:lnSpc>
              <a:spcAft>
                <a:spcPts val="0"/>
              </a:spcAft>
            </a:pPr>
            <a:r>
              <a:rPr sz="1250" b="1" i="0">
                <a:solidFill>
                  <a:srgbClr val="E6EDF6"/>
                </a:solidFill>
                <a:latin typeface="Segoe UI"/>
              </a:rPr>
              <a:t>Re-partition</a:t>
            </a:r>
          </a:p>
        </p:txBody>
      </p:sp>
      <p:sp>
        <p:nvSpPr>
          <p:cNvPr id="14" name="TextBox 13"/>
          <p:cNvSpPr txBox="1"/>
          <p:nvPr/>
        </p:nvSpPr>
        <p:spPr>
          <a:xfrm>
            <a:off x="1133856" y="2359152"/>
            <a:ext cx="201168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same grid, same block size</a:t>
            </a:r>
          </a:p>
        </p:txBody>
      </p:sp>
      <p:sp>
        <p:nvSpPr>
          <p:cNvPr id="15" name="Chevron 14"/>
          <p:cNvSpPr/>
          <p:nvPr/>
        </p:nvSpPr>
        <p:spPr>
          <a:xfrm>
            <a:off x="3438144" y="1847088"/>
            <a:ext cx="2514600"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12463" y="1993392"/>
            <a:ext cx="2011680" cy="731520"/>
          </a:xfrm>
          <a:prstGeom prst="rect">
            <a:avLst/>
          </a:prstGeom>
          <a:noFill/>
        </p:spPr>
        <p:txBody>
          <a:bodyPr wrap="square" anchor="t" lIns="0" rIns="0" tIns="0" bIns="0">
            <a:spAutoFit/>
          </a:bodyPr>
          <a:lstStyle/>
          <a:p>
            <a:pPr algn="ctr">
              <a:lnSpc>
                <a:spcPct val="100000"/>
              </a:lnSpc>
              <a:spcAft>
                <a:spcPts val="0"/>
              </a:spcAft>
            </a:pPr>
            <a:r>
              <a:rPr sz="1250" b="1" i="0">
                <a:solidFill>
                  <a:srgbClr val="E6EDF6"/>
                </a:solidFill>
                <a:latin typeface="Segoe UI"/>
              </a:rPr>
              <a:t>Recompute</a:t>
            </a:r>
          </a:p>
        </p:txBody>
      </p:sp>
      <p:sp>
        <p:nvSpPr>
          <p:cNvPr id="17" name="TextBox 16"/>
          <p:cNvSpPr txBox="1"/>
          <p:nvPr/>
        </p:nvSpPr>
        <p:spPr>
          <a:xfrm>
            <a:off x="3712463" y="2359152"/>
            <a:ext cx="201168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taĝᵢ from current msb(bᵢ)</a:t>
            </a:r>
          </a:p>
        </p:txBody>
      </p:sp>
      <p:sp>
        <p:nvSpPr>
          <p:cNvPr id="18" name="Chevron 17"/>
          <p:cNvSpPr/>
          <p:nvPr/>
        </p:nvSpPr>
        <p:spPr>
          <a:xfrm>
            <a:off x="6016752" y="1847088"/>
            <a:ext cx="2514600"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91072" y="1993392"/>
            <a:ext cx="2011680" cy="731520"/>
          </a:xfrm>
          <a:prstGeom prst="rect">
            <a:avLst/>
          </a:prstGeom>
          <a:noFill/>
        </p:spPr>
        <p:txBody>
          <a:bodyPr wrap="square" anchor="t" lIns="0" rIns="0" tIns="0" bIns="0">
            <a:spAutoFit/>
          </a:bodyPr>
          <a:lstStyle/>
          <a:p>
            <a:pPr algn="ctr">
              <a:lnSpc>
                <a:spcPct val="100000"/>
              </a:lnSpc>
              <a:spcAft>
                <a:spcPts val="0"/>
              </a:spcAft>
            </a:pPr>
            <a:r>
              <a:rPr sz="1250" b="1" i="0">
                <a:solidFill>
                  <a:srgbClr val="E6EDF6"/>
                </a:solidFill>
                <a:latin typeface="Segoe UI"/>
              </a:rPr>
              <a:t>Compare</a:t>
            </a:r>
          </a:p>
        </p:txBody>
      </p:sp>
      <p:sp>
        <p:nvSpPr>
          <p:cNvPr id="20" name="TextBox 19"/>
          <p:cNvSpPr txBox="1"/>
          <p:nvPr/>
        </p:nvSpPr>
        <p:spPr>
          <a:xfrm>
            <a:off x="6291072" y="2359152"/>
            <a:ext cx="201168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taĝᵢ ≠ tagᵢ ⇒ block flagged</a:t>
            </a:r>
          </a:p>
        </p:txBody>
      </p:sp>
      <p:sp>
        <p:nvSpPr>
          <p:cNvPr id="21" name="Chevron 20"/>
          <p:cNvSpPr/>
          <p:nvPr/>
        </p:nvSpPr>
        <p:spPr>
          <a:xfrm>
            <a:off x="8595359" y="1847088"/>
            <a:ext cx="2514600"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869680" y="1993392"/>
            <a:ext cx="2011680" cy="731520"/>
          </a:xfrm>
          <a:prstGeom prst="rect">
            <a:avLst/>
          </a:prstGeom>
          <a:noFill/>
        </p:spPr>
        <p:txBody>
          <a:bodyPr wrap="square" anchor="t" lIns="0" rIns="0" tIns="0" bIns="0">
            <a:spAutoFit/>
          </a:bodyPr>
          <a:lstStyle/>
          <a:p>
            <a:pPr algn="ctr">
              <a:lnSpc>
                <a:spcPct val="100000"/>
              </a:lnSpc>
              <a:spcAft>
                <a:spcPts val="0"/>
              </a:spcAft>
            </a:pPr>
            <a:r>
              <a:rPr sz="1250" b="1" i="0">
                <a:solidFill>
                  <a:srgbClr val="E6EDF6"/>
                </a:solidFill>
                <a:latin typeface="Segoe UI"/>
              </a:rPr>
              <a:t>Mask</a:t>
            </a:r>
          </a:p>
        </p:txBody>
      </p:sp>
      <p:sp>
        <p:nvSpPr>
          <p:cNvPr id="23" name="TextBox 22"/>
          <p:cNvSpPr txBox="1"/>
          <p:nvPr/>
        </p:nvSpPr>
        <p:spPr>
          <a:xfrm>
            <a:off x="8869680" y="2359152"/>
            <a:ext cx="201168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binary mask + refinement</a:t>
            </a:r>
          </a:p>
        </p:txBody>
      </p:sp>
      <p:sp>
        <p:nvSpPr>
          <p:cNvPr id="24" name="Rounded Rectangle 23"/>
          <p:cNvSpPr/>
          <p:nvPr/>
        </p:nvSpPr>
        <p:spPr>
          <a:xfrm>
            <a:off x="658368" y="3145536"/>
            <a:ext cx="10874959" cy="1481328"/>
          </a:xfrm>
          <a:prstGeom prst="roundRect">
            <a:avLst>
              <a:gd name="adj" fmla="val 3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58368" y="3145536"/>
            <a:ext cx="54864" cy="1481328"/>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41247" y="3236976"/>
            <a:ext cx="4572000" cy="237744"/>
          </a:xfrm>
          <a:prstGeom prst="rect">
            <a:avLst/>
          </a:prstGeom>
          <a:noFill/>
        </p:spPr>
        <p:txBody>
          <a:bodyPr wrap="square" anchor="t" lIns="0" rIns="0" tIns="0" bIns="0">
            <a:spAutoFit/>
          </a:bodyPr>
          <a:lstStyle/>
          <a:p>
            <a:pPr algn="l">
              <a:lnSpc>
                <a:spcPct val="100000"/>
              </a:lnSpc>
              <a:spcAft>
                <a:spcPts val="0"/>
              </a:spcAft>
            </a:pPr>
            <a:r>
              <a:rPr sz="1000" b="1" i="0">
                <a:solidFill>
                  <a:srgbClr val="109881"/>
                </a:solidFill>
                <a:latin typeface="Segoe UI"/>
              </a:rPr>
              <a:t>RECOVERY</a:t>
            </a:r>
          </a:p>
        </p:txBody>
      </p:sp>
      <p:sp>
        <p:nvSpPr>
          <p:cNvPr id="27" name="Chevron 26"/>
          <p:cNvSpPr/>
          <p:nvPr/>
        </p:nvSpPr>
        <p:spPr>
          <a:xfrm>
            <a:off x="859536" y="3493008"/>
            <a:ext cx="2514600"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133856" y="3639312"/>
            <a:ext cx="2011680" cy="731520"/>
          </a:xfrm>
          <a:prstGeom prst="rect">
            <a:avLst/>
          </a:prstGeom>
          <a:noFill/>
        </p:spPr>
        <p:txBody>
          <a:bodyPr wrap="square" anchor="t" lIns="0" rIns="0" tIns="0" bIns="0">
            <a:spAutoFit/>
          </a:bodyPr>
          <a:lstStyle/>
          <a:p>
            <a:pPr algn="ctr">
              <a:lnSpc>
                <a:spcPct val="100000"/>
              </a:lnSpc>
              <a:spcAft>
                <a:spcPts val="0"/>
              </a:spcAft>
            </a:pPr>
            <a:r>
              <a:rPr sz="1250" b="1" i="0">
                <a:solidFill>
                  <a:srgbClr val="E6EDF6"/>
                </a:solidFill>
                <a:latin typeface="Segoe UI"/>
              </a:rPr>
              <a:t>Locate partner</a:t>
            </a:r>
          </a:p>
        </p:txBody>
      </p:sp>
      <p:sp>
        <p:nvSpPr>
          <p:cNvPr id="29" name="TextBox 28"/>
          <p:cNvSpPr txBox="1"/>
          <p:nvPr/>
        </p:nvSpPr>
        <p:spPr>
          <a:xfrm>
            <a:off x="1133856" y="4005072"/>
            <a:ext cx="201168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read m⁻¹(i)</a:t>
            </a:r>
          </a:p>
        </p:txBody>
      </p:sp>
      <p:sp>
        <p:nvSpPr>
          <p:cNvPr id="30" name="Chevron 29"/>
          <p:cNvSpPr/>
          <p:nvPr/>
        </p:nvSpPr>
        <p:spPr>
          <a:xfrm>
            <a:off x="3438144" y="3493008"/>
            <a:ext cx="2514600"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712463" y="3639312"/>
            <a:ext cx="2011680" cy="731520"/>
          </a:xfrm>
          <a:prstGeom prst="rect">
            <a:avLst/>
          </a:prstGeom>
          <a:noFill/>
        </p:spPr>
        <p:txBody>
          <a:bodyPr wrap="square" anchor="t" lIns="0" rIns="0" tIns="0" bIns="0">
            <a:spAutoFit/>
          </a:bodyPr>
          <a:lstStyle/>
          <a:p>
            <a:pPr algn="ctr">
              <a:lnSpc>
                <a:spcPct val="100000"/>
              </a:lnSpc>
              <a:spcAft>
                <a:spcPts val="0"/>
              </a:spcAft>
            </a:pPr>
            <a:r>
              <a:rPr sz="1250" b="1" i="0">
                <a:solidFill>
                  <a:srgbClr val="E6EDF6"/>
                </a:solidFill>
                <a:latin typeface="Segoe UI"/>
              </a:rPr>
              <a:t>Check partner</a:t>
            </a:r>
          </a:p>
        </p:txBody>
      </p:sp>
      <p:sp>
        <p:nvSpPr>
          <p:cNvPr id="32" name="TextBox 31"/>
          <p:cNvSpPr txBox="1"/>
          <p:nvPr/>
        </p:nvSpPr>
        <p:spPr>
          <a:xfrm>
            <a:off x="3712463" y="4005072"/>
            <a:ext cx="201168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authentic? then its LSBs are intact</a:t>
            </a:r>
          </a:p>
        </p:txBody>
      </p:sp>
      <p:sp>
        <p:nvSpPr>
          <p:cNvPr id="33" name="Chevron 32"/>
          <p:cNvSpPr/>
          <p:nvPr/>
        </p:nvSpPr>
        <p:spPr>
          <a:xfrm>
            <a:off x="6016752" y="3493008"/>
            <a:ext cx="2514600"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291072" y="3639312"/>
            <a:ext cx="2011680" cy="731520"/>
          </a:xfrm>
          <a:prstGeom prst="rect">
            <a:avLst/>
          </a:prstGeom>
          <a:noFill/>
        </p:spPr>
        <p:txBody>
          <a:bodyPr wrap="square" anchor="t" lIns="0" rIns="0" tIns="0" bIns="0">
            <a:spAutoFit/>
          </a:bodyPr>
          <a:lstStyle/>
          <a:p>
            <a:pPr algn="ctr">
              <a:lnSpc>
                <a:spcPct val="100000"/>
              </a:lnSpc>
              <a:spcAft>
                <a:spcPts val="0"/>
              </a:spcAft>
            </a:pPr>
            <a:r>
              <a:rPr sz="1250" b="1" i="0">
                <a:solidFill>
                  <a:srgbClr val="E6EDF6"/>
                </a:solidFill>
                <a:latin typeface="Segoe UI"/>
              </a:rPr>
              <a:t>Rebuild</a:t>
            </a:r>
          </a:p>
        </p:txBody>
      </p:sp>
      <p:sp>
        <p:nvSpPr>
          <p:cNvPr id="35" name="TextBox 34"/>
          <p:cNvSpPr txBox="1"/>
          <p:nvPr/>
        </p:nvSpPr>
        <p:spPr>
          <a:xfrm>
            <a:off x="6291072" y="4005072"/>
            <a:ext cx="201168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inverse-quantize, inverse-DCT, repaint</a:t>
            </a:r>
          </a:p>
        </p:txBody>
      </p:sp>
      <p:sp>
        <p:nvSpPr>
          <p:cNvPr id="36" name="Chevron 35"/>
          <p:cNvSpPr/>
          <p:nvPr/>
        </p:nvSpPr>
        <p:spPr>
          <a:xfrm>
            <a:off x="8595359" y="3493008"/>
            <a:ext cx="2514600" cy="914400"/>
          </a:xfrm>
          <a:prstGeom prst="chevron">
            <a:avLst>
              <a:gd name="adj" fmla="val 22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869680" y="3639312"/>
            <a:ext cx="2011680" cy="731520"/>
          </a:xfrm>
          <a:prstGeom prst="rect">
            <a:avLst/>
          </a:prstGeom>
          <a:noFill/>
        </p:spPr>
        <p:txBody>
          <a:bodyPr wrap="square" anchor="t" lIns="0" rIns="0" tIns="0" bIns="0">
            <a:spAutoFit/>
          </a:bodyPr>
          <a:lstStyle/>
          <a:p>
            <a:pPr algn="ctr">
              <a:lnSpc>
                <a:spcPct val="100000"/>
              </a:lnSpc>
              <a:spcAft>
                <a:spcPts val="0"/>
              </a:spcAft>
            </a:pPr>
            <a:r>
              <a:rPr sz="1250" b="1" i="0">
                <a:solidFill>
                  <a:srgbClr val="E6EDF6"/>
                </a:solidFill>
                <a:latin typeface="Segoe UI"/>
              </a:rPr>
              <a:t>Or declare</a:t>
            </a:r>
          </a:p>
        </p:txBody>
      </p:sp>
      <p:sp>
        <p:nvSpPr>
          <p:cNvPr id="38" name="TextBox 37"/>
          <p:cNvSpPr txBox="1"/>
          <p:nvPr/>
        </p:nvSpPr>
        <p:spPr>
          <a:xfrm>
            <a:off x="8869680" y="4005072"/>
            <a:ext cx="2011680" cy="329184"/>
          </a:xfrm>
          <a:prstGeom prst="rect">
            <a:avLst/>
          </a:prstGeom>
          <a:noFill/>
        </p:spPr>
        <p:txBody>
          <a:bodyPr wrap="square" anchor="t" lIns="0" rIns="0" tIns="0" bIns="0">
            <a:spAutoFit/>
          </a:bodyPr>
          <a:lstStyle/>
          <a:p>
            <a:pPr algn="ctr">
              <a:lnSpc>
                <a:spcPct val="100000"/>
              </a:lnSpc>
              <a:spcAft>
                <a:spcPts val="0"/>
              </a:spcAft>
            </a:pPr>
            <a:r>
              <a:rPr sz="950" b="0" i="0">
                <a:solidFill>
                  <a:srgbClr val="9FB2CA"/>
                </a:solidFill>
                <a:latin typeface="Segoe UI"/>
              </a:rPr>
              <a:t>partner tampered ⇒ UNRECOVERABLE</a:t>
            </a:r>
          </a:p>
        </p:txBody>
      </p:sp>
      <p:sp>
        <p:nvSpPr>
          <p:cNvPr id="39" name="Rounded Rectangle 38"/>
          <p:cNvSpPr/>
          <p:nvPr/>
        </p:nvSpPr>
        <p:spPr>
          <a:xfrm>
            <a:off x="658368" y="4882896"/>
            <a:ext cx="3478682" cy="126187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658368" y="4882896"/>
            <a:ext cx="68580" cy="1261872"/>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14400" y="5038344"/>
            <a:ext cx="3021482"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Never silently faked</a:t>
            </a:r>
          </a:p>
        </p:txBody>
      </p:sp>
      <p:sp>
        <p:nvSpPr>
          <p:cNvPr id="42" name="TextBox 41"/>
          <p:cNvSpPr txBox="1"/>
          <p:nvPr/>
        </p:nvSpPr>
        <p:spPr>
          <a:xfrm>
            <a:off x="914400" y="5282184"/>
            <a:ext cx="3021482" cy="707135"/>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An unrecoverable block is marked in the output, not filled with plausible invention. Honesty costs 10–15 dB of whole-image PSNR against the convention other papers report.</a:t>
            </a:r>
          </a:p>
        </p:txBody>
      </p:sp>
      <p:sp>
        <p:nvSpPr>
          <p:cNvPr id="43" name="Rounded Rectangle 42"/>
          <p:cNvSpPr/>
          <p:nvPr/>
        </p:nvSpPr>
        <p:spPr>
          <a:xfrm>
            <a:off x="4356506" y="4882896"/>
            <a:ext cx="3478682" cy="126187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4356506" y="4882896"/>
            <a:ext cx="68580" cy="1261872"/>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4612538" y="5038344"/>
            <a:ext cx="3021482"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Refinement is cosmetic</a:t>
            </a:r>
          </a:p>
        </p:txBody>
      </p:sp>
      <p:sp>
        <p:nvSpPr>
          <p:cNvPr id="46" name="TextBox 45"/>
          <p:cNvSpPr txBox="1"/>
          <p:nvPr/>
        </p:nvSpPr>
        <p:spPr>
          <a:xfrm>
            <a:off x="4612538" y="5282184"/>
            <a:ext cx="3021482" cy="707135"/>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Neighbourhood refinement flagged 5 extra blocks across 20,611,072 verified — it never changed a recovery outcome.</a:t>
            </a:r>
          </a:p>
        </p:txBody>
      </p:sp>
      <p:sp>
        <p:nvSpPr>
          <p:cNvPr id="47" name="Rounded Rectangle 46"/>
          <p:cNvSpPr/>
          <p:nvPr/>
        </p:nvSpPr>
        <p:spPr>
          <a:xfrm>
            <a:off x="8054644" y="4882896"/>
            <a:ext cx="3478682" cy="126187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8054644" y="4882896"/>
            <a:ext cx="68580" cy="126187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310676" y="5038344"/>
            <a:ext cx="3021482"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Fully deterministic</a:t>
            </a:r>
          </a:p>
        </p:txBody>
      </p:sp>
      <p:sp>
        <p:nvSpPr>
          <p:cNvPr id="50" name="TextBox 49"/>
          <p:cNvSpPr txBox="1"/>
          <p:nvPr/>
        </p:nvSpPr>
        <p:spPr>
          <a:xfrm>
            <a:off x="8310676" y="5282184"/>
            <a:ext cx="3021482" cy="707135"/>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Same key, same image, same bytes out. Re-running the grid from scratch reproduces every non-timing column exactly.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07 · METHODOLOGY</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The experimental protocol</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12</a:t>
            </a:r>
          </a:p>
        </p:txBody>
      </p:sp>
      <p:sp>
        <p:nvSpPr>
          <p:cNvPr id="9" name="Rectangle 8"/>
          <p:cNvSpPr/>
          <p:nvPr/>
        </p:nvSpPr>
        <p:spPr>
          <a:xfrm>
            <a:off x="658368" y="1792224"/>
            <a:ext cx="6720840" cy="36576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1810512"/>
            <a:ext cx="2020824" cy="365760"/>
          </a:xfrm>
          <a:prstGeom prst="rect">
            <a:avLst/>
          </a:prstGeom>
          <a:noFill/>
        </p:spPr>
        <p:txBody>
          <a:bodyPr wrap="square" anchor="ctr" lIns="0" rIns="0" tIns="0" bIns="0">
            <a:spAutoFit/>
          </a:bodyPr>
          <a:lstStyle/>
          <a:p>
            <a:pPr algn="l">
              <a:lnSpc>
                <a:spcPct val="100000"/>
              </a:lnSpc>
              <a:spcAft>
                <a:spcPts val="0"/>
              </a:spcAft>
            </a:pPr>
            <a:r>
              <a:rPr sz="1050" b="1" i="0">
                <a:solidFill>
                  <a:srgbClr val="E6EDF6"/>
                </a:solidFill>
                <a:latin typeface="Segoe UI"/>
              </a:rPr>
              <a:t>Factor</a:t>
            </a:r>
          </a:p>
        </p:txBody>
      </p:sp>
      <p:sp>
        <p:nvSpPr>
          <p:cNvPr id="11" name="TextBox 10"/>
          <p:cNvSpPr txBox="1"/>
          <p:nvPr/>
        </p:nvSpPr>
        <p:spPr>
          <a:xfrm>
            <a:off x="3008376" y="1810512"/>
            <a:ext cx="426110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Levels</a:t>
            </a:r>
          </a:p>
        </p:txBody>
      </p:sp>
      <p:sp>
        <p:nvSpPr>
          <p:cNvPr id="12" name="Rectangle 11"/>
          <p:cNvSpPr/>
          <p:nvPr/>
        </p:nvSpPr>
        <p:spPr>
          <a:xfrm>
            <a:off x="658368" y="2157984"/>
            <a:ext cx="6720840" cy="36576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58368" y="2512771"/>
            <a:ext cx="672084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86384" y="2157984"/>
            <a:ext cx="1984248" cy="36576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Corpus</a:t>
            </a:r>
          </a:p>
        </p:txBody>
      </p:sp>
      <p:sp>
        <p:nvSpPr>
          <p:cNvPr id="15" name="TextBox 14"/>
          <p:cNvSpPr txBox="1"/>
          <p:nvPr/>
        </p:nvSpPr>
        <p:spPr>
          <a:xfrm>
            <a:off x="3026664" y="2157984"/>
            <a:ext cx="4224528" cy="36576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32 images — 8 USC-SIPI + 24 Kodak</a:t>
            </a:r>
          </a:p>
        </p:txBody>
      </p:sp>
      <p:sp>
        <p:nvSpPr>
          <p:cNvPr id="16" name="Rectangle 15"/>
          <p:cNvSpPr/>
          <p:nvPr/>
        </p:nvSpPr>
        <p:spPr>
          <a:xfrm>
            <a:off x="658368" y="2523744"/>
            <a:ext cx="67208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58368" y="2878531"/>
            <a:ext cx="672084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6384" y="2523744"/>
            <a:ext cx="1984248" cy="36576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Tamper class</a:t>
            </a:r>
          </a:p>
        </p:txBody>
      </p:sp>
      <p:sp>
        <p:nvSpPr>
          <p:cNvPr id="19" name="TextBox 18"/>
          <p:cNvSpPr txBox="1"/>
          <p:nvPr/>
        </p:nvSpPr>
        <p:spPr>
          <a:xfrm>
            <a:off x="3026664" y="2523744"/>
            <a:ext cx="4224528" cy="36576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splice, object removal, crop-refill, noise</a:t>
            </a:r>
          </a:p>
        </p:txBody>
      </p:sp>
      <p:sp>
        <p:nvSpPr>
          <p:cNvPr id="20" name="Rectangle 19"/>
          <p:cNvSpPr/>
          <p:nvPr/>
        </p:nvSpPr>
        <p:spPr>
          <a:xfrm>
            <a:off x="658368" y="2889504"/>
            <a:ext cx="6720840" cy="36576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8368" y="3244291"/>
            <a:ext cx="672084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86384" y="2889504"/>
            <a:ext cx="1984248" cy="36576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Tamper ratio α</a:t>
            </a:r>
          </a:p>
        </p:txBody>
      </p:sp>
      <p:sp>
        <p:nvSpPr>
          <p:cNvPr id="23" name="TextBox 22"/>
          <p:cNvSpPr txBox="1"/>
          <p:nvPr/>
        </p:nvSpPr>
        <p:spPr>
          <a:xfrm>
            <a:off x="3026664" y="2889504"/>
            <a:ext cx="4224528" cy="36576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0.10, 0.20, 0.30, 0.40, 0.50, 0.60, 0.70</a:t>
            </a:r>
          </a:p>
        </p:txBody>
      </p:sp>
      <p:sp>
        <p:nvSpPr>
          <p:cNvPr id="24" name="Rectangle 23"/>
          <p:cNvSpPr/>
          <p:nvPr/>
        </p:nvSpPr>
        <p:spPr>
          <a:xfrm>
            <a:off x="658368" y="3255264"/>
            <a:ext cx="67208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8368" y="3610051"/>
            <a:ext cx="672084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86384" y="3255264"/>
            <a:ext cx="1984248" cy="36576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Descriptor variant</a:t>
            </a:r>
          </a:p>
        </p:txBody>
      </p:sp>
      <p:sp>
        <p:nvSpPr>
          <p:cNvPr id="27" name="TextBox 26"/>
          <p:cNvSpPr txBox="1"/>
          <p:nvPr/>
        </p:nvSpPr>
        <p:spPr>
          <a:xfrm>
            <a:off x="3026664" y="3255264"/>
            <a:ext cx="4224528" cy="36576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A (fixed DCT), C (rate–distortion), B (ablation)</a:t>
            </a:r>
          </a:p>
        </p:txBody>
      </p:sp>
      <p:sp>
        <p:nvSpPr>
          <p:cNvPr id="28" name="Rectangle 27"/>
          <p:cNvSpPr/>
          <p:nvPr/>
        </p:nvSpPr>
        <p:spPr>
          <a:xfrm>
            <a:off x="658368" y="3621024"/>
            <a:ext cx="6720840" cy="36576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3975811"/>
            <a:ext cx="672084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86384" y="3621024"/>
            <a:ext cx="1984248" cy="36576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Block size</a:t>
            </a:r>
          </a:p>
        </p:txBody>
      </p:sp>
      <p:sp>
        <p:nvSpPr>
          <p:cNvPr id="31" name="TextBox 30"/>
          <p:cNvSpPr txBox="1"/>
          <p:nvPr/>
        </p:nvSpPr>
        <p:spPr>
          <a:xfrm>
            <a:off x="3026664" y="3621024"/>
            <a:ext cx="4224528" cy="36576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8×8 main, 4×4 ablation</a:t>
            </a:r>
          </a:p>
        </p:txBody>
      </p:sp>
      <p:sp>
        <p:nvSpPr>
          <p:cNvPr id="32" name="Rectangle 31"/>
          <p:cNvSpPr/>
          <p:nvPr/>
        </p:nvSpPr>
        <p:spPr>
          <a:xfrm>
            <a:off x="658368" y="3986784"/>
            <a:ext cx="67208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4341571"/>
            <a:ext cx="672084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6384" y="3986784"/>
            <a:ext cx="1984248" cy="36576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Null condition</a:t>
            </a:r>
          </a:p>
        </p:txBody>
      </p:sp>
      <p:sp>
        <p:nvSpPr>
          <p:cNvPr id="35" name="TextBox 34"/>
          <p:cNvSpPr txBox="1"/>
          <p:nvPr/>
        </p:nvSpPr>
        <p:spPr>
          <a:xfrm>
            <a:off x="3026664" y="3986784"/>
            <a:ext cx="4224528" cy="36576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5 wrong keys × 32 images × 2 variants</a:t>
            </a:r>
          </a:p>
        </p:txBody>
      </p:sp>
      <p:sp>
        <p:nvSpPr>
          <p:cNvPr id="36" name="TextBox 35"/>
          <p:cNvSpPr txBox="1"/>
          <p:nvPr/>
        </p:nvSpPr>
        <p:spPr>
          <a:xfrm>
            <a:off x="658368" y="1499616"/>
            <a:ext cx="6720840" cy="274320"/>
          </a:xfrm>
          <a:prstGeom prst="rect">
            <a:avLst/>
          </a:prstGeom>
          <a:noFill/>
        </p:spPr>
        <p:txBody>
          <a:bodyPr wrap="square" anchor="t" lIns="0" rIns="0" tIns="0" bIns="0">
            <a:spAutoFit/>
          </a:bodyPr>
          <a:lstStyle/>
          <a:p>
            <a:pPr algn="l">
              <a:lnSpc>
                <a:spcPct val="100000"/>
              </a:lnSpc>
              <a:spcAft>
                <a:spcPts val="0"/>
              </a:spcAft>
            </a:pPr>
            <a:r>
              <a:rPr sz="1000" b="1" i="0">
                <a:solidFill>
                  <a:srgbClr val="0EA5A4"/>
                </a:solidFill>
                <a:latin typeface="Segoe UI"/>
              </a:rPr>
              <a:t>FULL FACTORIAL GRID</a:t>
            </a:r>
          </a:p>
        </p:txBody>
      </p:sp>
      <p:sp>
        <p:nvSpPr>
          <p:cNvPr id="37" name="Rounded Rectangle 36"/>
          <p:cNvSpPr/>
          <p:nvPr/>
        </p:nvSpPr>
        <p:spPr>
          <a:xfrm>
            <a:off x="7744968" y="1792224"/>
            <a:ext cx="1802739" cy="13716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7744968" y="1792224"/>
            <a:ext cx="1802739"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872984" y="1984248"/>
            <a:ext cx="1546707" cy="603504"/>
          </a:xfrm>
          <a:prstGeom prst="rect">
            <a:avLst/>
          </a:prstGeom>
          <a:noFill/>
        </p:spPr>
        <p:txBody>
          <a:bodyPr wrap="square" anchor="ctr" lIns="0" rIns="0" tIns="0" bIns="0">
            <a:spAutoFit/>
          </a:bodyPr>
          <a:lstStyle/>
          <a:p>
            <a:pPr algn="ctr">
              <a:lnSpc>
                <a:spcPct val="100000"/>
              </a:lnSpc>
              <a:spcAft>
                <a:spcPts val="0"/>
              </a:spcAft>
            </a:pPr>
            <a:r>
              <a:rPr sz="3000" b="1" i="0">
                <a:solidFill>
                  <a:srgbClr val="0F172A"/>
                </a:solidFill>
                <a:latin typeface="Segoe UI"/>
              </a:rPr>
              <a:t>1,792</a:t>
            </a:r>
          </a:p>
        </p:txBody>
      </p:sp>
      <p:sp>
        <p:nvSpPr>
          <p:cNvPr id="40" name="TextBox 39"/>
          <p:cNvSpPr txBox="1"/>
          <p:nvPr/>
        </p:nvSpPr>
        <p:spPr>
          <a:xfrm>
            <a:off x="7872984" y="2615184"/>
            <a:ext cx="1546707" cy="274320"/>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main grid rows</a:t>
            </a:r>
          </a:p>
        </p:txBody>
      </p:sp>
      <p:sp>
        <p:nvSpPr>
          <p:cNvPr id="41" name="TextBox 40"/>
          <p:cNvSpPr txBox="1"/>
          <p:nvPr/>
        </p:nvSpPr>
        <p:spPr>
          <a:xfrm>
            <a:off x="7854696" y="2875788"/>
            <a:ext cx="1583283" cy="260604"/>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tamper trials</a:t>
            </a:r>
          </a:p>
        </p:txBody>
      </p:sp>
      <p:sp>
        <p:nvSpPr>
          <p:cNvPr id="42" name="Rounded Rectangle 41"/>
          <p:cNvSpPr/>
          <p:nvPr/>
        </p:nvSpPr>
        <p:spPr>
          <a:xfrm>
            <a:off x="9730587" y="1792224"/>
            <a:ext cx="1802739" cy="13716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9730587" y="1792224"/>
            <a:ext cx="1802739"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858603" y="1984248"/>
            <a:ext cx="1546707" cy="603504"/>
          </a:xfrm>
          <a:prstGeom prst="rect">
            <a:avLst/>
          </a:prstGeom>
          <a:noFill/>
        </p:spPr>
        <p:txBody>
          <a:bodyPr wrap="square" anchor="ctr" lIns="0" rIns="0" tIns="0" bIns="0">
            <a:spAutoFit/>
          </a:bodyPr>
          <a:lstStyle/>
          <a:p>
            <a:pPr algn="ctr">
              <a:lnSpc>
                <a:spcPct val="100000"/>
              </a:lnSpc>
              <a:spcAft>
                <a:spcPts val="0"/>
              </a:spcAft>
            </a:pPr>
            <a:r>
              <a:rPr sz="3000" b="1" i="0">
                <a:solidFill>
                  <a:srgbClr val="0F172A"/>
                </a:solidFill>
                <a:latin typeface="Segoe UI"/>
              </a:rPr>
              <a:t>3,232</a:t>
            </a:r>
          </a:p>
        </p:txBody>
      </p:sp>
      <p:sp>
        <p:nvSpPr>
          <p:cNvPr id="45" name="TextBox 44"/>
          <p:cNvSpPr txBox="1"/>
          <p:nvPr/>
        </p:nvSpPr>
        <p:spPr>
          <a:xfrm>
            <a:off x="9858603" y="2615184"/>
            <a:ext cx="1546707" cy="274320"/>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total rows</a:t>
            </a:r>
          </a:p>
        </p:txBody>
      </p:sp>
      <p:sp>
        <p:nvSpPr>
          <p:cNvPr id="46" name="TextBox 45"/>
          <p:cNvSpPr txBox="1"/>
          <p:nvPr/>
        </p:nvSpPr>
        <p:spPr>
          <a:xfrm>
            <a:off x="9840315" y="2875788"/>
            <a:ext cx="1583283" cy="260604"/>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incl. null + ablation</a:t>
            </a:r>
          </a:p>
        </p:txBody>
      </p:sp>
      <p:sp>
        <p:nvSpPr>
          <p:cNvPr id="47" name="Rounded Rectangle 46"/>
          <p:cNvSpPr/>
          <p:nvPr/>
        </p:nvSpPr>
        <p:spPr>
          <a:xfrm>
            <a:off x="7744968" y="3355848"/>
            <a:ext cx="3788359"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7744968" y="3355848"/>
            <a:ext cx="68580" cy="1417320"/>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001000" y="3511296"/>
            <a:ext cx="333115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Ground truth is exact</a:t>
            </a:r>
          </a:p>
        </p:txBody>
      </p:sp>
      <p:sp>
        <p:nvSpPr>
          <p:cNvPr id="50" name="TextBox 49"/>
          <p:cNvSpPr txBox="1"/>
          <p:nvPr/>
        </p:nvSpPr>
        <p:spPr>
          <a:xfrm>
            <a:off x="8001000" y="3755136"/>
            <a:ext cx="3331159" cy="862584"/>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The tamper script writes the mask it applied, so there is no hand-labelling error anywhere in the measurement — precision and recall are computed against the truth, not an estimate of it.</a:t>
            </a:r>
          </a:p>
        </p:txBody>
      </p:sp>
      <p:sp>
        <p:nvSpPr>
          <p:cNvPr id="51" name="TextBox 50"/>
          <p:cNvSpPr txBox="1"/>
          <p:nvPr/>
        </p:nvSpPr>
        <p:spPr>
          <a:xfrm>
            <a:off x="658368" y="4517136"/>
            <a:ext cx="6720840" cy="731520"/>
          </a:xfrm>
          <a:prstGeom prst="rect">
            <a:avLst/>
          </a:prstGeom>
          <a:noFill/>
        </p:spPr>
        <p:txBody>
          <a:bodyPr wrap="square" anchor="t" lIns="0" rIns="0" tIns="0" bIns="0">
            <a:spAutoFit/>
          </a:bodyPr>
          <a:lstStyle/>
          <a:p>
            <a:pPr algn="l">
              <a:lnSpc>
                <a:spcPct val="120000"/>
              </a:lnSpc>
              <a:spcAft>
                <a:spcPts val="0"/>
              </a:spcAft>
            </a:pPr>
            <a:r>
              <a:rPr sz="1150" b="0" i="0">
                <a:solidFill>
                  <a:srgbClr val="4B5A70"/>
                </a:solidFill>
                <a:latin typeface="Segoe UI"/>
              </a:rPr>
              <a:t>▪  Every cell of the grid runs from a fixed seed, so the whole table regenerates byte-for-byte on any machine.
▪  The runner is parallel (--jobs N); a full regeneration is hours, not days.</a:t>
            </a:r>
          </a:p>
        </p:txBody>
      </p:sp>
      <p:sp>
        <p:nvSpPr>
          <p:cNvPr id="52" name="Rounded Rectangle 51"/>
          <p:cNvSpPr/>
          <p:nvPr/>
        </p:nvSpPr>
        <p:spPr>
          <a:xfrm>
            <a:off x="658368" y="5440680"/>
            <a:ext cx="10874959" cy="566928"/>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658368" y="5440680"/>
            <a:ext cx="64008" cy="56692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932688" y="5440680"/>
            <a:ext cx="1032631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Achieved area drifts below nominal at high α (0.70 nominal → 0.653 achieved): the region generator cannot always place that much non-overlapping area. Reported, not hidden.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08</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08</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System Architecture</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The full pipeline, end to end, with the key as a side input.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08 · SYSTEM ARCHITECTURE</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End-to-end pipeline</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13</a:t>
            </a:r>
          </a:p>
        </p:txBody>
      </p:sp>
      <p:sp>
        <p:nvSpPr>
          <p:cNvPr id="9" name="Rounded Rectangle 8"/>
          <p:cNvSpPr/>
          <p:nvPr/>
        </p:nvSpPr>
        <p:spPr>
          <a:xfrm>
            <a:off x="658368" y="1499616"/>
            <a:ext cx="10874959" cy="1389888"/>
          </a:xfrm>
          <a:prstGeom prst="roundRect">
            <a:avLst>
              <a:gd name="adj" fmla="val 3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499616"/>
            <a:ext cx="54864" cy="138988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7" y="1591056"/>
            <a:ext cx="4572000" cy="237744"/>
          </a:xfrm>
          <a:prstGeom prst="rect">
            <a:avLst/>
          </a:prstGeom>
          <a:noFill/>
        </p:spPr>
        <p:txBody>
          <a:bodyPr wrap="square" anchor="t" lIns="0" rIns="0" tIns="0" bIns="0">
            <a:spAutoFit/>
          </a:bodyPr>
          <a:lstStyle/>
          <a:p>
            <a:pPr algn="l">
              <a:lnSpc>
                <a:spcPct val="100000"/>
              </a:lnSpc>
              <a:spcAft>
                <a:spcPts val="0"/>
              </a:spcAft>
            </a:pPr>
            <a:r>
              <a:rPr sz="1000" b="1" i="0">
                <a:solidFill>
                  <a:srgbClr val="22D3EE"/>
                </a:solidFill>
                <a:latin typeface="Segoe UI"/>
              </a:rPr>
              <a:t>PROTECT · OFFLINE, ONCE</a:t>
            </a:r>
          </a:p>
        </p:txBody>
      </p:sp>
      <p:sp>
        <p:nvSpPr>
          <p:cNvPr id="12" name="Chevron 11"/>
          <p:cNvSpPr/>
          <p:nvPr/>
        </p:nvSpPr>
        <p:spPr>
          <a:xfrm>
            <a:off x="859536" y="1810512"/>
            <a:ext cx="1664208"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33856" y="1810512"/>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E6EDF6"/>
                </a:solidFill>
                <a:latin typeface="Segoe UI"/>
              </a:rPr>
              <a:t>Original
image</a:t>
            </a:r>
          </a:p>
        </p:txBody>
      </p:sp>
      <p:sp>
        <p:nvSpPr>
          <p:cNvPr id="14" name="Chevron 13"/>
          <p:cNvSpPr/>
          <p:nvPr/>
        </p:nvSpPr>
        <p:spPr>
          <a:xfrm>
            <a:off x="2322576" y="1810512"/>
            <a:ext cx="1664208"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596896" y="1810512"/>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E6EDF6"/>
                </a:solidFill>
                <a:latin typeface="Segoe UI"/>
              </a:rPr>
              <a:t>8×8 block
partition</a:t>
            </a:r>
          </a:p>
        </p:txBody>
      </p:sp>
      <p:sp>
        <p:nvSpPr>
          <p:cNvPr id="16" name="Chevron 15"/>
          <p:cNvSpPr/>
          <p:nvPr/>
        </p:nvSpPr>
        <p:spPr>
          <a:xfrm>
            <a:off x="3785616" y="1810512"/>
            <a:ext cx="1664208"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059936" y="1810512"/>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E6EDF6"/>
                </a:solidFill>
                <a:latin typeface="Segoe UI"/>
              </a:rPr>
              <a:t>Descriptor
96 bits</a:t>
            </a:r>
          </a:p>
        </p:txBody>
      </p:sp>
      <p:sp>
        <p:nvSpPr>
          <p:cNvPr id="18" name="Chevron 17"/>
          <p:cNvSpPr/>
          <p:nvPr/>
        </p:nvSpPr>
        <p:spPr>
          <a:xfrm>
            <a:off x="5248656" y="1810512"/>
            <a:ext cx="1664208" cy="914400"/>
          </a:xfrm>
          <a:prstGeom prst="chevron">
            <a:avLst>
              <a:gd name="adj" fmla="val 22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522976" y="1810512"/>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0B1424"/>
                </a:solidFill>
                <a:latin typeface="Segoe UI"/>
              </a:rPr>
              <a:t>Key map
m(i)</a:t>
            </a:r>
          </a:p>
        </p:txBody>
      </p:sp>
      <p:sp>
        <p:nvSpPr>
          <p:cNvPr id="20" name="Chevron 19"/>
          <p:cNvSpPr/>
          <p:nvPr/>
        </p:nvSpPr>
        <p:spPr>
          <a:xfrm>
            <a:off x="6711696" y="1810512"/>
            <a:ext cx="1664208" cy="914400"/>
          </a:xfrm>
          <a:prstGeom prst="chevron">
            <a:avLst>
              <a:gd name="adj" fmla="val 22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86016" y="1810512"/>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0B1424"/>
                </a:solidFill>
                <a:latin typeface="Segoe UI"/>
              </a:rPr>
              <a:t>Tag
32 bits</a:t>
            </a:r>
          </a:p>
        </p:txBody>
      </p:sp>
      <p:sp>
        <p:nvSpPr>
          <p:cNvPr id="22" name="Chevron 21"/>
          <p:cNvSpPr/>
          <p:nvPr/>
        </p:nvSpPr>
        <p:spPr>
          <a:xfrm>
            <a:off x="8174736" y="1810512"/>
            <a:ext cx="1664208"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49056" y="1810512"/>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E6EDF6"/>
                </a:solidFill>
                <a:latin typeface="Segoe UI"/>
              </a:rPr>
              <a:t>LSB-shift
embed</a:t>
            </a:r>
          </a:p>
        </p:txBody>
      </p:sp>
      <p:sp>
        <p:nvSpPr>
          <p:cNvPr id="24" name="Chevron 23"/>
          <p:cNvSpPr/>
          <p:nvPr/>
        </p:nvSpPr>
        <p:spPr>
          <a:xfrm>
            <a:off x="9637776" y="1810512"/>
            <a:ext cx="1664208" cy="914400"/>
          </a:xfrm>
          <a:prstGeom prst="chevron">
            <a:avLst>
              <a:gd name="adj" fmla="val 22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912096" y="1810512"/>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0B1424"/>
                </a:solidFill>
                <a:latin typeface="Segoe UI"/>
              </a:rPr>
              <a:t>Protected
PNG</a:t>
            </a:r>
          </a:p>
        </p:txBody>
      </p:sp>
      <p:sp>
        <p:nvSpPr>
          <p:cNvPr id="26" name="Rounded Rectangle 25"/>
          <p:cNvSpPr/>
          <p:nvPr/>
        </p:nvSpPr>
        <p:spPr>
          <a:xfrm>
            <a:off x="4590288" y="3035808"/>
            <a:ext cx="2148840" cy="438912"/>
          </a:xfrm>
          <a:prstGeom prst="roundRect">
            <a:avLst>
              <a:gd name="adj" fmla="val 50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90288" y="3035808"/>
            <a:ext cx="2148840" cy="438912"/>
          </a:xfrm>
          <a:prstGeom prst="rect">
            <a:avLst/>
          </a:prstGeom>
          <a:noFill/>
        </p:spPr>
        <p:txBody>
          <a:bodyPr wrap="square" anchor="ctr" lIns="0" rIns="0" tIns="0" bIns="0">
            <a:spAutoFit/>
          </a:bodyPr>
          <a:lstStyle/>
          <a:p>
            <a:pPr algn="ctr">
              <a:lnSpc>
                <a:spcPct val="100000"/>
              </a:lnSpc>
              <a:spcAft>
                <a:spcPts val="0"/>
              </a:spcAft>
            </a:pPr>
            <a:r>
              <a:rPr sz="1250" b="1" i="0">
                <a:solidFill>
                  <a:srgbClr val="22D3EE"/>
                </a:solidFill>
                <a:latin typeface="Segoe UI"/>
              </a:rPr>
              <a:t>Secret key  K</a:t>
            </a:r>
          </a:p>
        </p:txBody>
      </p:sp>
      <p:sp>
        <p:nvSpPr>
          <p:cNvPr id="28" name="Up Arrow 27"/>
          <p:cNvSpPr/>
          <p:nvPr/>
        </p:nvSpPr>
        <p:spPr>
          <a:xfrm>
            <a:off x="5760720" y="2852928"/>
            <a:ext cx="274320" cy="201168"/>
          </a:xfrm>
          <a:prstGeom prst="up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Down Arrow 28"/>
          <p:cNvSpPr/>
          <p:nvPr/>
        </p:nvSpPr>
        <p:spPr>
          <a:xfrm>
            <a:off x="5760720" y="3474720"/>
            <a:ext cx="274320" cy="201168"/>
          </a:xfrm>
          <a:prstGeom prst="down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922007" y="3035808"/>
            <a:ext cx="4572000" cy="438912"/>
          </a:xfrm>
          <a:prstGeom prst="rect">
            <a:avLst/>
          </a:prstGeom>
          <a:noFill/>
        </p:spPr>
        <p:txBody>
          <a:bodyPr wrap="square" anchor="ctr" lIns="0" rIns="0" tIns="0" bIns="0">
            <a:spAutoFit/>
          </a:bodyPr>
          <a:lstStyle/>
          <a:p>
            <a:pPr algn="l">
              <a:lnSpc>
                <a:spcPct val="112000"/>
              </a:lnSpc>
              <a:spcAft>
                <a:spcPts val="0"/>
              </a:spcAft>
            </a:pPr>
            <a:r>
              <a:rPr sz="1050" b="0" i="0">
                <a:solidFill>
                  <a:srgbClr val="4B5A70"/>
                </a:solidFill>
                <a:latin typeface="Segoe UI"/>
              </a:rPr>
              <a:t>seeds the block permutation and the keyed hash — the same key is required to verify; a wrong key flags everything, it never silently accepts.</a:t>
            </a:r>
          </a:p>
        </p:txBody>
      </p:sp>
      <p:sp>
        <p:nvSpPr>
          <p:cNvPr id="31" name="Rounded Rectangle 30"/>
          <p:cNvSpPr/>
          <p:nvPr/>
        </p:nvSpPr>
        <p:spPr>
          <a:xfrm>
            <a:off x="658368" y="3657600"/>
            <a:ext cx="10874959" cy="1389888"/>
          </a:xfrm>
          <a:prstGeom prst="roundRect">
            <a:avLst>
              <a:gd name="adj" fmla="val 3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58368" y="3657600"/>
            <a:ext cx="54864" cy="13898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41247" y="3749039"/>
            <a:ext cx="4572000" cy="237744"/>
          </a:xfrm>
          <a:prstGeom prst="rect">
            <a:avLst/>
          </a:prstGeom>
          <a:noFill/>
        </p:spPr>
        <p:txBody>
          <a:bodyPr wrap="square" anchor="t" lIns="0" rIns="0" tIns="0" bIns="0">
            <a:spAutoFit/>
          </a:bodyPr>
          <a:lstStyle/>
          <a:p>
            <a:pPr algn="l">
              <a:lnSpc>
                <a:spcPct val="100000"/>
              </a:lnSpc>
              <a:spcAft>
                <a:spcPts val="0"/>
              </a:spcAft>
            </a:pPr>
            <a:r>
              <a:rPr sz="1000" b="1" i="0">
                <a:solidFill>
                  <a:srgbClr val="7C3AED"/>
                </a:solidFill>
                <a:latin typeface="Segoe UI"/>
              </a:rPr>
              <a:t>VERIFY &amp; RECOVER · ON ANY RECEIVED COPY</a:t>
            </a:r>
          </a:p>
        </p:txBody>
      </p:sp>
      <p:sp>
        <p:nvSpPr>
          <p:cNvPr id="34" name="Chevron 33"/>
          <p:cNvSpPr/>
          <p:nvPr/>
        </p:nvSpPr>
        <p:spPr>
          <a:xfrm>
            <a:off x="859536" y="3968496"/>
            <a:ext cx="1664208"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133856" y="3968496"/>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E6EDF6"/>
                </a:solidFill>
                <a:latin typeface="Segoe UI"/>
              </a:rPr>
              <a:t>Received
image</a:t>
            </a:r>
          </a:p>
        </p:txBody>
      </p:sp>
      <p:sp>
        <p:nvSpPr>
          <p:cNvPr id="36" name="Chevron 35"/>
          <p:cNvSpPr/>
          <p:nvPr/>
        </p:nvSpPr>
        <p:spPr>
          <a:xfrm>
            <a:off x="2322576" y="3968496"/>
            <a:ext cx="1664208"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596896" y="3968496"/>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E6EDF6"/>
                </a:solidFill>
                <a:latin typeface="Segoe UI"/>
              </a:rPr>
              <a:t>Re-partition
same grid</a:t>
            </a:r>
          </a:p>
        </p:txBody>
      </p:sp>
      <p:sp>
        <p:nvSpPr>
          <p:cNvPr id="38" name="Chevron 37"/>
          <p:cNvSpPr/>
          <p:nvPr/>
        </p:nvSpPr>
        <p:spPr>
          <a:xfrm>
            <a:off x="3785616" y="3968496"/>
            <a:ext cx="1664208" cy="914400"/>
          </a:xfrm>
          <a:prstGeom prst="chevron">
            <a:avLst>
              <a:gd name="adj" fmla="val 22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059936" y="3968496"/>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0B1424"/>
                </a:solidFill>
                <a:latin typeface="Segoe UI"/>
              </a:rPr>
              <a:t>Recompute
taĝ</a:t>
            </a:r>
          </a:p>
        </p:txBody>
      </p:sp>
      <p:sp>
        <p:nvSpPr>
          <p:cNvPr id="40" name="Chevron 39"/>
          <p:cNvSpPr/>
          <p:nvPr/>
        </p:nvSpPr>
        <p:spPr>
          <a:xfrm>
            <a:off x="5248656" y="3968496"/>
            <a:ext cx="1664208" cy="914400"/>
          </a:xfrm>
          <a:prstGeom prst="chevron">
            <a:avLst>
              <a:gd name="adj" fmla="val 22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522976" y="3968496"/>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0B1424"/>
                </a:solidFill>
                <a:latin typeface="Segoe UI"/>
              </a:rPr>
              <a:t>Compare
taĝ vs tag</a:t>
            </a:r>
          </a:p>
        </p:txBody>
      </p:sp>
      <p:sp>
        <p:nvSpPr>
          <p:cNvPr id="42" name="Chevron 41"/>
          <p:cNvSpPr/>
          <p:nvPr/>
        </p:nvSpPr>
        <p:spPr>
          <a:xfrm>
            <a:off x="6711696" y="3968496"/>
            <a:ext cx="1664208"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986016" y="3968496"/>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E6EDF6"/>
                </a:solidFill>
                <a:latin typeface="Segoe UI"/>
              </a:rPr>
              <a:t>Fetch backup
m⁻¹(i)</a:t>
            </a:r>
          </a:p>
        </p:txBody>
      </p:sp>
      <p:sp>
        <p:nvSpPr>
          <p:cNvPr id="44" name="Chevron 43"/>
          <p:cNvSpPr/>
          <p:nvPr/>
        </p:nvSpPr>
        <p:spPr>
          <a:xfrm>
            <a:off x="8174736" y="3968496"/>
            <a:ext cx="1664208" cy="914400"/>
          </a:xfrm>
          <a:prstGeom prst="chevron">
            <a:avLst>
              <a:gd name="adj" fmla="val 22000"/>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449056" y="3968496"/>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E6EDF6"/>
                </a:solidFill>
                <a:latin typeface="Segoe UI"/>
              </a:rPr>
              <a:t>Repaint
block</a:t>
            </a:r>
          </a:p>
        </p:txBody>
      </p:sp>
      <p:sp>
        <p:nvSpPr>
          <p:cNvPr id="46" name="Chevron 45"/>
          <p:cNvSpPr/>
          <p:nvPr/>
        </p:nvSpPr>
        <p:spPr>
          <a:xfrm>
            <a:off x="9637776" y="3968496"/>
            <a:ext cx="1664208" cy="914400"/>
          </a:xfrm>
          <a:prstGeom prst="chevron">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912096" y="3968496"/>
            <a:ext cx="1161288" cy="914400"/>
          </a:xfrm>
          <a:prstGeom prst="rect">
            <a:avLst/>
          </a:prstGeom>
          <a:noFill/>
        </p:spPr>
        <p:txBody>
          <a:bodyPr wrap="square" anchor="ctr" lIns="0" rIns="0" tIns="0" bIns="0">
            <a:spAutoFit/>
          </a:bodyPr>
          <a:lstStyle/>
          <a:p>
            <a:pPr algn="ctr">
              <a:lnSpc>
                <a:spcPct val="100000"/>
              </a:lnSpc>
              <a:spcAft>
                <a:spcPts val="0"/>
              </a:spcAft>
            </a:pPr>
            <a:r>
              <a:rPr sz="1150" b="1" i="0">
                <a:solidFill>
                  <a:srgbClr val="0B1424"/>
                </a:solidFill>
                <a:latin typeface="Segoe UI"/>
              </a:rPr>
              <a:t>Mask +
recovered</a:t>
            </a:r>
          </a:p>
        </p:txBody>
      </p:sp>
      <p:sp>
        <p:nvSpPr>
          <p:cNvPr id="48" name="Rounded Rectangle 47"/>
          <p:cNvSpPr/>
          <p:nvPr/>
        </p:nvSpPr>
        <p:spPr>
          <a:xfrm>
            <a:off x="658368" y="5833872"/>
            <a:ext cx="10874959" cy="502920"/>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658368" y="5833872"/>
            <a:ext cx="64008" cy="5029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32688" y="5833872"/>
            <a:ext cx="10326319" cy="502920"/>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Only the four cyan stages need the key. Everything else is public, fixed, and reproducible by anyone who holds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08 · SYSTEM ARCHITECTURE</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What each block carries, and where its backup lives</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14</a:t>
            </a:r>
          </a:p>
        </p:txBody>
      </p:sp>
      <p:sp>
        <p:nvSpPr>
          <p:cNvPr id="9" name="TextBox 8"/>
          <p:cNvSpPr txBox="1"/>
          <p:nvPr/>
        </p:nvSpPr>
        <p:spPr>
          <a:xfrm>
            <a:off x="658368" y="1499616"/>
            <a:ext cx="5852160" cy="274320"/>
          </a:xfrm>
          <a:prstGeom prst="rect">
            <a:avLst/>
          </a:prstGeom>
          <a:noFill/>
        </p:spPr>
        <p:txBody>
          <a:bodyPr wrap="square" anchor="t" lIns="0" rIns="0" tIns="0" bIns="0">
            <a:spAutoFit/>
          </a:bodyPr>
          <a:lstStyle/>
          <a:p>
            <a:pPr algn="l">
              <a:lnSpc>
                <a:spcPct val="100000"/>
              </a:lnSpc>
              <a:spcAft>
                <a:spcPts val="0"/>
              </a:spcAft>
            </a:pPr>
            <a:r>
              <a:rPr sz="1000" b="1" i="0">
                <a:solidFill>
                  <a:srgbClr val="0EA5A4"/>
                </a:solidFill>
                <a:latin typeface="Segoe UI"/>
              </a:rPr>
              <a:t>PER BLOCK, PER CHANNEL — 128 BITS AT 2 LSBs × 64 PIXELS</a:t>
            </a:r>
          </a:p>
        </p:txBody>
      </p:sp>
      <p:sp>
        <p:nvSpPr>
          <p:cNvPr id="10" name="Rounded Rectangle 9"/>
          <p:cNvSpPr/>
          <p:nvPr/>
        </p:nvSpPr>
        <p:spPr>
          <a:xfrm>
            <a:off x="658368" y="1847088"/>
            <a:ext cx="1463040" cy="749808"/>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2157984" y="1847088"/>
            <a:ext cx="4352544" cy="749808"/>
          </a:xfrm>
          <a:prstGeom prst="roundRect">
            <a:avLst>
              <a:gd name="adj" fmla="val 8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1847088"/>
            <a:ext cx="1463040" cy="749808"/>
          </a:xfrm>
          <a:prstGeom prst="rect">
            <a:avLst/>
          </a:prstGeom>
          <a:noFill/>
        </p:spPr>
        <p:txBody>
          <a:bodyPr wrap="square" anchor="ctr" lIns="0" rIns="0" tIns="0" bIns="0">
            <a:spAutoFit/>
          </a:bodyPr>
          <a:lstStyle/>
          <a:p>
            <a:pPr algn="ctr">
              <a:lnSpc>
                <a:spcPct val="105000"/>
              </a:lnSpc>
              <a:spcAft>
                <a:spcPts val="0"/>
              </a:spcAft>
            </a:pPr>
            <a:r>
              <a:rPr sz="1200" b="1" i="0">
                <a:solidFill>
                  <a:srgbClr val="FFFFFF"/>
                </a:solidFill>
                <a:latin typeface="Segoe UI"/>
              </a:rPr>
              <a:t>TAG
32 bits</a:t>
            </a:r>
          </a:p>
        </p:txBody>
      </p:sp>
      <p:sp>
        <p:nvSpPr>
          <p:cNvPr id="13" name="TextBox 12"/>
          <p:cNvSpPr txBox="1"/>
          <p:nvPr/>
        </p:nvSpPr>
        <p:spPr>
          <a:xfrm>
            <a:off x="2157984" y="1847088"/>
            <a:ext cx="4352544" cy="749808"/>
          </a:xfrm>
          <a:prstGeom prst="rect">
            <a:avLst/>
          </a:prstGeom>
          <a:noFill/>
        </p:spPr>
        <p:txBody>
          <a:bodyPr wrap="square" anchor="ctr" lIns="0" rIns="0" tIns="0" bIns="0">
            <a:spAutoFit/>
          </a:bodyPr>
          <a:lstStyle/>
          <a:p>
            <a:pPr algn="ctr">
              <a:lnSpc>
                <a:spcPct val="100000"/>
              </a:lnSpc>
              <a:spcAft>
                <a:spcPts val="0"/>
              </a:spcAft>
            </a:pPr>
            <a:r>
              <a:rPr sz="1250" b="1" i="0">
                <a:solidFill>
                  <a:srgbClr val="FFFFFF"/>
                </a:solidFill>
                <a:latin typeface="Segoe UI"/>
              </a:rPr>
              <a:t>DESCRIPTOR of the partner block  ·  96 bits</a:t>
            </a:r>
          </a:p>
        </p:txBody>
      </p:sp>
      <p:sp>
        <p:nvSpPr>
          <p:cNvPr id="14" name="TextBox 13"/>
          <p:cNvSpPr txBox="1"/>
          <p:nvPr/>
        </p:nvSpPr>
        <p:spPr>
          <a:xfrm>
            <a:off x="658368" y="2724912"/>
            <a:ext cx="5852160" cy="822960"/>
          </a:xfrm>
          <a:prstGeom prst="rect">
            <a:avLst/>
          </a:prstGeom>
          <a:noFill/>
        </p:spPr>
        <p:txBody>
          <a:bodyPr wrap="square" anchor="t" lIns="0" rIns="0" tIns="0" bIns="0">
            <a:spAutoFit/>
          </a:bodyPr>
          <a:lstStyle/>
          <a:p>
            <a:pPr algn="l">
              <a:lnSpc>
                <a:spcPct val="120000"/>
              </a:lnSpc>
              <a:spcAft>
                <a:spcPts val="0"/>
              </a:spcAft>
            </a:pPr>
            <a:r>
              <a:rPr sz="1100" b="0" i="0">
                <a:solidFill>
                  <a:srgbClr val="4B5A70"/>
                </a:solidFill>
                <a:latin typeface="Segoe UI"/>
              </a:rPr>
              <a:t>▪  The tag authenticates this block.  ▪  The descriptor restores a different one.
▪  At block size 4 the budget halves to 32 bits and the tag drops to 16 — sharper localization, but the per-block false-accept probability rises from 2⁻³² to 2⁻¹⁶.</a:t>
            </a:r>
          </a:p>
        </p:txBody>
      </p:sp>
      <p:sp>
        <p:nvSpPr>
          <p:cNvPr id="15" name="Rounded Rectangle 14"/>
          <p:cNvSpPr/>
          <p:nvPr/>
        </p:nvSpPr>
        <p:spPr>
          <a:xfrm>
            <a:off x="658368" y="3621024"/>
            <a:ext cx="5852160" cy="120700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58368" y="3621024"/>
            <a:ext cx="68580" cy="1207008"/>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776472"/>
            <a:ext cx="5394960"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Where 128 bits comes from</a:t>
            </a:r>
          </a:p>
        </p:txBody>
      </p:sp>
      <p:sp>
        <p:nvSpPr>
          <p:cNvPr id="18" name="TextBox 17"/>
          <p:cNvSpPr txBox="1"/>
          <p:nvPr/>
        </p:nvSpPr>
        <p:spPr>
          <a:xfrm>
            <a:off x="914400" y="4020312"/>
            <a:ext cx="5394960" cy="652272"/>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64 pixels × 2 usable low bits = 128 bits per block, per colour channel. A 512×512 image holds 4,096 blocks, so it carries 1,572,864 bits — 192 KB of self-description it did not have before, all of it inside the pixels.</a:t>
            </a:r>
          </a:p>
        </p:txBody>
      </p:sp>
      <p:sp>
        <p:nvSpPr>
          <p:cNvPr id="19" name="TextBox 18"/>
          <p:cNvSpPr txBox="1"/>
          <p:nvPr/>
        </p:nvSpPr>
        <p:spPr>
          <a:xfrm>
            <a:off x="7013448" y="1499616"/>
            <a:ext cx="5120640" cy="274320"/>
          </a:xfrm>
          <a:prstGeom prst="rect">
            <a:avLst/>
          </a:prstGeom>
          <a:noFill/>
        </p:spPr>
        <p:txBody>
          <a:bodyPr wrap="square" anchor="t" lIns="0" rIns="0" tIns="0" bIns="0">
            <a:spAutoFit/>
          </a:bodyPr>
          <a:lstStyle/>
          <a:p>
            <a:pPr algn="l">
              <a:lnSpc>
                <a:spcPct val="100000"/>
              </a:lnSpc>
              <a:spcAft>
                <a:spcPts val="0"/>
              </a:spcAft>
            </a:pPr>
            <a:r>
              <a:rPr sz="1000" b="1" i="0">
                <a:solidFill>
                  <a:srgbClr val="7C3AED"/>
                </a:solidFill>
                <a:latin typeface="Segoe UI"/>
              </a:rPr>
              <a:t>KEY-SEEDED PARTNER MAPPING  m(i)</a:t>
            </a:r>
          </a:p>
        </p:txBody>
      </p:sp>
      <p:sp>
        <p:nvSpPr>
          <p:cNvPr id="20" name="Rounded Rectangle 19"/>
          <p:cNvSpPr/>
          <p:nvPr/>
        </p:nvSpPr>
        <p:spPr>
          <a:xfrm>
            <a:off x="7013448"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447788"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7882127"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8316467"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8750808"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9185148"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9619488"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10053828"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10488167"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10922508" y="184708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013448"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447788"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882127"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8316467"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8750808"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185148"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619488"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10053828"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10488167"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10922508" y="228142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7013448"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7447788"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7882127"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8316467"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8750808"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9185148"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9619488"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10053828"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10488167"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10922508" y="271576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7013448"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7447788"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7882127"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8316467"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8750808"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9185148"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9619488"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ed Rectangle 56"/>
          <p:cNvSpPr/>
          <p:nvPr/>
        </p:nvSpPr>
        <p:spPr>
          <a:xfrm>
            <a:off x="10053828"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10488167"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10922508" y="315010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ed Rectangle 59"/>
          <p:cNvSpPr/>
          <p:nvPr/>
        </p:nvSpPr>
        <p:spPr>
          <a:xfrm>
            <a:off x="7013448"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ounded Rectangle 60"/>
          <p:cNvSpPr/>
          <p:nvPr/>
        </p:nvSpPr>
        <p:spPr>
          <a:xfrm>
            <a:off x="7447788"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7882127"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ounded Rectangle 62"/>
          <p:cNvSpPr/>
          <p:nvPr/>
        </p:nvSpPr>
        <p:spPr>
          <a:xfrm>
            <a:off x="8316467"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ounded Rectangle 63"/>
          <p:cNvSpPr/>
          <p:nvPr/>
        </p:nvSpPr>
        <p:spPr>
          <a:xfrm>
            <a:off x="8750808"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ounded Rectangle 64"/>
          <p:cNvSpPr/>
          <p:nvPr/>
        </p:nvSpPr>
        <p:spPr>
          <a:xfrm>
            <a:off x="9185148"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ounded Rectangle 65"/>
          <p:cNvSpPr/>
          <p:nvPr/>
        </p:nvSpPr>
        <p:spPr>
          <a:xfrm>
            <a:off x="9619488"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ounded Rectangle 66"/>
          <p:cNvSpPr/>
          <p:nvPr/>
        </p:nvSpPr>
        <p:spPr>
          <a:xfrm>
            <a:off x="10053828"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ounded Rectangle 67"/>
          <p:cNvSpPr/>
          <p:nvPr/>
        </p:nvSpPr>
        <p:spPr>
          <a:xfrm>
            <a:off x="10488167"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ounded Rectangle 68"/>
          <p:cNvSpPr/>
          <p:nvPr/>
        </p:nvSpPr>
        <p:spPr>
          <a:xfrm>
            <a:off x="10922508" y="3584448"/>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ounded Rectangle 69"/>
          <p:cNvSpPr/>
          <p:nvPr/>
        </p:nvSpPr>
        <p:spPr>
          <a:xfrm>
            <a:off x="7013448"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ounded Rectangle 70"/>
          <p:cNvSpPr/>
          <p:nvPr/>
        </p:nvSpPr>
        <p:spPr>
          <a:xfrm>
            <a:off x="7447788"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ounded Rectangle 71"/>
          <p:cNvSpPr/>
          <p:nvPr/>
        </p:nvSpPr>
        <p:spPr>
          <a:xfrm>
            <a:off x="7882127"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ounded Rectangle 72"/>
          <p:cNvSpPr/>
          <p:nvPr/>
        </p:nvSpPr>
        <p:spPr>
          <a:xfrm>
            <a:off x="8316467"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ounded Rectangle 73"/>
          <p:cNvSpPr/>
          <p:nvPr/>
        </p:nvSpPr>
        <p:spPr>
          <a:xfrm>
            <a:off x="8750808"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ounded Rectangle 74"/>
          <p:cNvSpPr/>
          <p:nvPr/>
        </p:nvSpPr>
        <p:spPr>
          <a:xfrm>
            <a:off x="9185148"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ounded Rectangle 75"/>
          <p:cNvSpPr/>
          <p:nvPr/>
        </p:nvSpPr>
        <p:spPr>
          <a:xfrm>
            <a:off x="9619488"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ounded Rectangle 76"/>
          <p:cNvSpPr/>
          <p:nvPr/>
        </p:nvSpPr>
        <p:spPr>
          <a:xfrm>
            <a:off x="10053828"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ounded Rectangle 77"/>
          <p:cNvSpPr/>
          <p:nvPr/>
        </p:nvSpPr>
        <p:spPr>
          <a:xfrm>
            <a:off x="10488167"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ounded Rectangle 78"/>
          <p:cNvSpPr/>
          <p:nvPr/>
        </p:nvSpPr>
        <p:spPr>
          <a:xfrm>
            <a:off x="10922508" y="4018787"/>
            <a:ext cx="384048" cy="384048"/>
          </a:xfrm>
          <a:prstGeom prst="roundRect">
            <a:avLst>
              <a:gd name="adj" fmla="val 12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ounded Rectangle 79"/>
          <p:cNvSpPr/>
          <p:nvPr/>
        </p:nvSpPr>
        <p:spPr>
          <a:xfrm>
            <a:off x="7447788" y="2281428"/>
            <a:ext cx="384048" cy="384048"/>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ounded Rectangle 80"/>
          <p:cNvSpPr/>
          <p:nvPr/>
        </p:nvSpPr>
        <p:spPr>
          <a:xfrm>
            <a:off x="10488167" y="3584448"/>
            <a:ext cx="384048" cy="384048"/>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7447788" y="2281428"/>
            <a:ext cx="384048" cy="384048"/>
          </a:xfrm>
          <a:prstGeom prst="rect">
            <a:avLst/>
          </a:prstGeom>
          <a:noFill/>
        </p:spPr>
        <p:txBody>
          <a:bodyPr wrap="square" anchor="ctr" lIns="0" rIns="0" tIns="0" bIns="0">
            <a:spAutoFit/>
          </a:bodyPr>
          <a:lstStyle/>
          <a:p>
            <a:pPr algn="ctr">
              <a:lnSpc>
                <a:spcPct val="100000"/>
              </a:lnSpc>
              <a:spcAft>
                <a:spcPts val="0"/>
              </a:spcAft>
            </a:pPr>
            <a:r>
              <a:rPr sz="1300" b="1" i="0">
                <a:solidFill>
                  <a:srgbClr val="FFFFFF"/>
                </a:solidFill>
                <a:latin typeface="Cambria Math"/>
              </a:rPr>
              <a:t>i</a:t>
            </a:r>
          </a:p>
        </p:txBody>
      </p:sp>
      <p:sp>
        <p:nvSpPr>
          <p:cNvPr id="83" name="TextBox 82"/>
          <p:cNvSpPr txBox="1"/>
          <p:nvPr/>
        </p:nvSpPr>
        <p:spPr>
          <a:xfrm>
            <a:off x="10488167" y="3584448"/>
            <a:ext cx="384048" cy="384048"/>
          </a:xfrm>
          <a:prstGeom prst="rect">
            <a:avLst/>
          </a:prstGeom>
          <a:noFill/>
        </p:spPr>
        <p:txBody>
          <a:bodyPr wrap="square" anchor="ctr" lIns="0" rIns="0" tIns="0" bIns="0">
            <a:spAutoFit/>
          </a:bodyPr>
          <a:lstStyle/>
          <a:p>
            <a:pPr algn="ctr">
              <a:lnSpc>
                <a:spcPct val="100000"/>
              </a:lnSpc>
              <a:spcAft>
                <a:spcPts val="0"/>
              </a:spcAft>
            </a:pPr>
            <a:r>
              <a:rPr sz="950" b="1" i="0">
                <a:solidFill>
                  <a:srgbClr val="FFFFFF"/>
                </a:solidFill>
                <a:latin typeface="Cambria Math"/>
              </a:rPr>
              <a:t>m(i)</a:t>
            </a:r>
          </a:p>
        </p:txBody>
      </p:sp>
      <p:sp>
        <p:nvSpPr>
          <p:cNvPr id="84" name="Right Arrow 83"/>
          <p:cNvSpPr/>
          <p:nvPr/>
        </p:nvSpPr>
        <p:spPr>
          <a:xfrm rot="1567770">
            <a:off x="7680647" y="3065526"/>
            <a:ext cx="2958709" cy="118872"/>
          </a:xfrm>
          <a:prstGeom prst="rightArrow">
            <a:avLst/>
          </a:prstGeom>
          <a:solidFill>
            <a:srgbClr val="8A97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7013448" y="4562855"/>
            <a:ext cx="5120640" cy="640080"/>
          </a:xfrm>
          <a:prstGeom prst="rect">
            <a:avLst/>
          </a:prstGeom>
          <a:noFill/>
        </p:spPr>
        <p:txBody>
          <a:bodyPr wrap="square" anchor="t" lIns="0" rIns="0" tIns="0" bIns="0">
            <a:spAutoFit/>
          </a:bodyPr>
          <a:lstStyle/>
          <a:p>
            <a:pPr algn="l">
              <a:lnSpc>
                <a:spcPct val="120000"/>
              </a:lnSpc>
              <a:spcAft>
                <a:spcPts val="0"/>
              </a:spcAft>
            </a:pPr>
            <a:r>
              <a:rPr sz="1100" b="0" i="0">
                <a:solidFill>
                  <a:srgbClr val="4B5A70"/>
                </a:solidFill>
                <a:latin typeface="Segoe UI"/>
              </a:rPr>
              <a:t>A single cycle over all blocks, with a minimum-separation constraint, so a local tamper cannot destroy a block and its own backup together.</a:t>
            </a:r>
          </a:p>
        </p:txBody>
      </p:sp>
      <p:sp>
        <p:nvSpPr>
          <p:cNvPr id="86" name="Rounded Rectangle 85"/>
          <p:cNvSpPr/>
          <p:nvPr/>
        </p:nvSpPr>
        <p:spPr>
          <a:xfrm>
            <a:off x="658368" y="5833872"/>
            <a:ext cx="10874959" cy="502920"/>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ounded Rectangle 86"/>
          <p:cNvSpPr/>
          <p:nvPr/>
        </p:nvSpPr>
        <p:spPr>
          <a:xfrm>
            <a:off x="658368" y="5833872"/>
            <a:ext cx="64008" cy="50292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TextBox 87"/>
          <p:cNvSpPr txBox="1"/>
          <p:nvPr/>
        </p:nvSpPr>
        <p:spPr>
          <a:xfrm>
            <a:off x="932688" y="5833872"/>
            <a:ext cx="10326319" cy="502920"/>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One-to-one mapping is what makes recovery degrade as 1 − α: if both a block and its single partner are hit, that block is gone. This is the design's main ceiling.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09</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09</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Mathematical Model</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Notation, the payload budget, the map, and the recoverability bound.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09 · MATHEMATICAL MODEL</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Notation, payload budget, mapping and tag</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15</a:t>
            </a:r>
          </a:p>
        </p:txBody>
      </p:sp>
      <p:sp>
        <p:nvSpPr>
          <p:cNvPr id="9" name="Rounded Rectangle 8"/>
          <p:cNvSpPr/>
          <p:nvPr/>
        </p:nvSpPr>
        <p:spPr>
          <a:xfrm>
            <a:off x="658368" y="1517904"/>
            <a:ext cx="10874959" cy="89611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517904"/>
            <a:ext cx="54864" cy="896112"/>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1618488"/>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Image and block set</a:t>
            </a:r>
          </a:p>
        </p:txBody>
      </p:sp>
      <p:sp>
        <p:nvSpPr>
          <p:cNvPr id="12" name="TextBox 11"/>
          <p:cNvSpPr txBox="1"/>
          <p:nvPr/>
        </p:nvSpPr>
        <p:spPr>
          <a:xfrm>
            <a:off x="914400" y="1883664"/>
            <a:ext cx="3063240" cy="438912"/>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The image is padded to a whole number of blocks; every block is treated independently.</a:t>
            </a:r>
          </a:p>
        </p:txBody>
      </p:sp>
      <p:sp>
        <p:nvSpPr>
          <p:cNvPr id="13" name="TextBox 12"/>
          <p:cNvSpPr txBox="1"/>
          <p:nvPr/>
        </p:nvSpPr>
        <p:spPr>
          <a:xfrm>
            <a:off x="4178808" y="1572768"/>
            <a:ext cx="7080199" cy="786384"/>
          </a:xfrm>
          <a:prstGeom prst="rect">
            <a:avLst/>
          </a:prstGeom>
          <a:noFill/>
        </p:spPr>
        <p:txBody>
          <a:bodyPr wrap="square" anchor="ctr" lIns="0" rIns="0" tIns="0" bIns="0">
            <a:spAutoFit/>
          </a:bodyPr>
          <a:lstStyle/>
          <a:p>
            <a:pPr algn="l">
              <a:lnSpc>
                <a:spcPct val="100000"/>
              </a:lnSpc>
              <a:spcAft>
                <a:spcPts val="0"/>
              </a:spcAft>
            </a:pPr>
            <a:r>
              <a:rPr sz="1450" b="1" i="0">
                <a:solidFill>
                  <a:srgbClr val="0F172A"/>
                </a:solidFill>
                <a:latin typeface="Cambria Math"/>
              </a:rPr>
              <a:t>I ∈ {0,…,255}^(H×W×3),   B = 8</a:t>
            </a:r>
          </a:p>
          <a:p>
            <a:pPr algn="l">
              <a:lnSpc>
                <a:spcPct val="100000"/>
              </a:lnSpc>
              <a:spcAft>
                <a:spcPts val="0"/>
              </a:spcAft>
            </a:pPr>
            <a:r>
              <a:rPr sz="1300" b="0" i="0">
                <a:solidFill>
                  <a:srgbClr val="4B5A70"/>
                </a:solidFill>
                <a:latin typeface="Cambria Math"/>
              </a:rPr>
              <a:t>T = { b₁, …, bₙ },   n = ⌈H/B⌉ · ⌈W/B⌉</a:t>
            </a:r>
          </a:p>
        </p:txBody>
      </p:sp>
      <p:sp>
        <p:nvSpPr>
          <p:cNvPr id="14" name="Rounded Rectangle 13"/>
          <p:cNvSpPr/>
          <p:nvPr/>
        </p:nvSpPr>
        <p:spPr>
          <a:xfrm>
            <a:off x="658368" y="2505456"/>
            <a:ext cx="10874959" cy="89611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58368" y="2505456"/>
            <a:ext cx="54864" cy="896112"/>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14400" y="2606040"/>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Content operator</a:t>
            </a:r>
          </a:p>
        </p:txBody>
      </p:sp>
      <p:sp>
        <p:nvSpPr>
          <p:cNvPr id="17" name="TextBox 16"/>
          <p:cNvSpPr txBox="1"/>
          <p:nvPr/>
        </p:nvSpPr>
        <p:spPr>
          <a:xfrm>
            <a:off x="914400" y="2871216"/>
            <a:ext cx="3063240" cy="438912"/>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The top 6 bits are the content; the bottom 2 are the channel the watermark travels in.</a:t>
            </a:r>
          </a:p>
        </p:txBody>
      </p:sp>
      <p:sp>
        <p:nvSpPr>
          <p:cNvPr id="18" name="TextBox 17"/>
          <p:cNvSpPr txBox="1"/>
          <p:nvPr/>
        </p:nvSpPr>
        <p:spPr>
          <a:xfrm>
            <a:off x="4178808" y="2560320"/>
            <a:ext cx="7080199" cy="786384"/>
          </a:xfrm>
          <a:prstGeom prst="rect">
            <a:avLst/>
          </a:prstGeom>
          <a:noFill/>
        </p:spPr>
        <p:txBody>
          <a:bodyPr wrap="square" anchor="ctr" lIns="0" rIns="0" tIns="0" bIns="0">
            <a:spAutoFit/>
          </a:bodyPr>
          <a:lstStyle/>
          <a:p>
            <a:pPr algn="l">
              <a:lnSpc>
                <a:spcPct val="100000"/>
              </a:lnSpc>
              <a:spcAft>
                <a:spcPts val="0"/>
              </a:spcAft>
            </a:pPr>
            <a:r>
              <a:rPr sz="1450" b="1" i="0">
                <a:solidFill>
                  <a:srgbClr val="0F172A"/>
                </a:solidFill>
                <a:latin typeface="Cambria Math"/>
              </a:rPr>
              <a:t>msb(a) = a ∧ 0xFC</a:t>
            </a:r>
          </a:p>
          <a:p>
            <a:pPr algn="l">
              <a:lnSpc>
                <a:spcPct val="100000"/>
              </a:lnSpc>
              <a:spcAft>
                <a:spcPts val="0"/>
              </a:spcAft>
            </a:pPr>
            <a:r>
              <a:rPr sz="1300" b="0" i="0">
                <a:solidFill>
                  <a:srgbClr val="4B5A70"/>
                </a:solidFill>
                <a:latin typeface="Cambria Math"/>
              </a:rPr>
              <a:t>content(bᵢ) = msb applied pixel-wise to bᵢ</a:t>
            </a:r>
          </a:p>
        </p:txBody>
      </p:sp>
      <p:sp>
        <p:nvSpPr>
          <p:cNvPr id="19" name="Rounded Rectangle 18"/>
          <p:cNvSpPr/>
          <p:nvPr/>
        </p:nvSpPr>
        <p:spPr>
          <a:xfrm>
            <a:off x="658368" y="3493008"/>
            <a:ext cx="10874959" cy="89611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58368" y="3493008"/>
            <a:ext cx="54864" cy="89611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4400" y="3593592"/>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Payload budget</a:t>
            </a:r>
          </a:p>
        </p:txBody>
      </p:sp>
      <p:sp>
        <p:nvSpPr>
          <p:cNvPr id="22" name="TextBox 21"/>
          <p:cNvSpPr txBox="1"/>
          <p:nvPr/>
        </p:nvSpPr>
        <p:spPr>
          <a:xfrm>
            <a:off x="914400" y="3858768"/>
            <a:ext cx="3063240" cy="438912"/>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2 LSBs × 64 pixels. The split is fixed at build time and is the same for every block.</a:t>
            </a:r>
          </a:p>
        </p:txBody>
      </p:sp>
      <p:sp>
        <p:nvSpPr>
          <p:cNvPr id="23" name="TextBox 22"/>
          <p:cNvSpPr txBox="1"/>
          <p:nvPr/>
        </p:nvSpPr>
        <p:spPr>
          <a:xfrm>
            <a:off x="4178808" y="3547872"/>
            <a:ext cx="7080199" cy="786384"/>
          </a:xfrm>
          <a:prstGeom prst="rect">
            <a:avLst/>
          </a:prstGeom>
          <a:noFill/>
        </p:spPr>
        <p:txBody>
          <a:bodyPr wrap="square" anchor="ctr" lIns="0" rIns="0" tIns="0" bIns="0">
            <a:spAutoFit/>
          </a:bodyPr>
          <a:lstStyle/>
          <a:p>
            <a:pPr algn="l">
              <a:lnSpc>
                <a:spcPct val="100000"/>
              </a:lnSpc>
              <a:spcAft>
                <a:spcPts val="0"/>
              </a:spcAft>
            </a:pPr>
            <a:r>
              <a:rPr sz="1450" b="1" i="0">
                <a:solidFill>
                  <a:srgbClr val="0F172A"/>
                </a:solidFill>
                <a:latin typeface="Cambria Math"/>
              </a:rPr>
              <a:t>cap(B) = 2B² = 128 bits  per block, per channel</a:t>
            </a:r>
          </a:p>
          <a:p>
            <a:pPr algn="l">
              <a:lnSpc>
                <a:spcPct val="100000"/>
              </a:lnSpc>
              <a:spcAft>
                <a:spcPts val="0"/>
              </a:spcAft>
            </a:pPr>
            <a:r>
              <a:rPr sz="1300" b="0" i="0">
                <a:solidFill>
                  <a:srgbClr val="4B5A70"/>
                </a:solidFill>
                <a:latin typeface="Cambria Math"/>
              </a:rPr>
              <a:t>cap = tag(32) + desc(96)</a:t>
            </a:r>
          </a:p>
        </p:txBody>
      </p:sp>
      <p:sp>
        <p:nvSpPr>
          <p:cNvPr id="24" name="Rounded Rectangle 23"/>
          <p:cNvSpPr/>
          <p:nvPr/>
        </p:nvSpPr>
        <p:spPr>
          <a:xfrm>
            <a:off x="658368" y="4480560"/>
            <a:ext cx="10874959" cy="89611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58368" y="4480560"/>
            <a:ext cx="54864" cy="89611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14400" y="4581144"/>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Mapping</a:t>
            </a:r>
          </a:p>
        </p:txBody>
      </p:sp>
      <p:sp>
        <p:nvSpPr>
          <p:cNvPr id="27" name="TextBox 26"/>
          <p:cNvSpPr txBox="1"/>
          <p:nvPr/>
        </p:nvSpPr>
        <p:spPr>
          <a:xfrm>
            <a:off x="914400" y="4846320"/>
            <a:ext cx="3063240" cy="438912"/>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Single-cycle: every block backs up exactly one other and is backed up by exactly one.</a:t>
            </a:r>
          </a:p>
        </p:txBody>
      </p:sp>
      <p:sp>
        <p:nvSpPr>
          <p:cNvPr id="28" name="TextBox 27"/>
          <p:cNvSpPr txBox="1"/>
          <p:nvPr/>
        </p:nvSpPr>
        <p:spPr>
          <a:xfrm>
            <a:off x="4178808" y="4535424"/>
            <a:ext cx="7080199" cy="786384"/>
          </a:xfrm>
          <a:prstGeom prst="rect">
            <a:avLst/>
          </a:prstGeom>
          <a:noFill/>
        </p:spPr>
        <p:txBody>
          <a:bodyPr wrap="square" anchor="ctr" lIns="0" rIns="0" tIns="0" bIns="0">
            <a:spAutoFit/>
          </a:bodyPr>
          <a:lstStyle/>
          <a:p>
            <a:pPr algn="l">
              <a:lnSpc>
                <a:spcPct val="100000"/>
              </a:lnSpc>
              <a:spcAft>
                <a:spcPts val="0"/>
              </a:spcAft>
            </a:pPr>
            <a:r>
              <a:rPr sz="1450" b="1" i="0">
                <a:solidFill>
                  <a:srgbClr val="0F172A"/>
                </a:solidFill>
                <a:latin typeface="Cambria Math"/>
              </a:rPr>
              <a:t>m : T → T,  a single cycle seeded by (K, id, shape, B)</a:t>
            </a:r>
          </a:p>
          <a:p>
            <a:pPr algn="l">
              <a:lnSpc>
                <a:spcPct val="100000"/>
              </a:lnSpc>
              <a:spcAft>
                <a:spcPts val="0"/>
              </a:spcAft>
            </a:pPr>
            <a:r>
              <a:rPr sz="1300" b="0" i="0">
                <a:solidFill>
                  <a:srgbClr val="4B5A70"/>
                </a:solidFill>
                <a:latin typeface="Cambria Math"/>
              </a:rPr>
              <a:t>m(i) ≠ i,   ‖ pos(i) − pos(m(i)) ‖ ≥ dₘᵢₙ</a:t>
            </a:r>
          </a:p>
        </p:txBody>
      </p:sp>
      <p:sp>
        <p:nvSpPr>
          <p:cNvPr id="29" name="Rounded Rectangle 28"/>
          <p:cNvSpPr/>
          <p:nvPr/>
        </p:nvSpPr>
        <p:spPr>
          <a:xfrm>
            <a:off x="658368" y="5468112"/>
            <a:ext cx="10874959" cy="74980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58368" y="5468112"/>
            <a:ext cx="54864" cy="7498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4400" y="5568696"/>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Authentication tag</a:t>
            </a:r>
          </a:p>
        </p:txBody>
      </p:sp>
      <p:sp>
        <p:nvSpPr>
          <p:cNvPr id="32" name="TextBox 31"/>
          <p:cNvSpPr txBox="1"/>
          <p:nvPr/>
        </p:nvSpPr>
        <p:spPr>
          <a:xfrm>
            <a:off x="914400" y="5833872"/>
            <a:ext cx="3063240" cy="292607"/>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Binding i and the image id defeats block-swap and cross-image counterfeiting.</a:t>
            </a:r>
          </a:p>
        </p:txBody>
      </p:sp>
      <p:sp>
        <p:nvSpPr>
          <p:cNvPr id="33" name="TextBox 32"/>
          <p:cNvSpPr txBox="1"/>
          <p:nvPr/>
        </p:nvSpPr>
        <p:spPr>
          <a:xfrm>
            <a:off x="4178808" y="5522976"/>
            <a:ext cx="7080199" cy="640080"/>
          </a:xfrm>
          <a:prstGeom prst="rect">
            <a:avLst/>
          </a:prstGeom>
          <a:noFill/>
        </p:spPr>
        <p:txBody>
          <a:bodyPr wrap="square" anchor="ctr" lIns="0" rIns="0" tIns="0" bIns="0">
            <a:spAutoFit/>
          </a:bodyPr>
          <a:lstStyle/>
          <a:p>
            <a:pPr algn="l">
              <a:lnSpc>
                <a:spcPct val="100000"/>
              </a:lnSpc>
              <a:spcAft>
                <a:spcPts val="0"/>
              </a:spcAft>
            </a:pPr>
            <a:r>
              <a:rPr sz="1450" b="1" i="0">
                <a:solidFill>
                  <a:srgbClr val="0F172A"/>
                </a:solidFill>
                <a:latin typeface="Cambria Math"/>
              </a:rPr>
              <a:t>tᵢ = HMAC-SHA256( K,  content(bᵢ) ‖ i ‖ image-id )[0:32]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09 · MATHEMATICAL MODEL</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Detection, recovery and the structural bound</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16</a:t>
            </a:r>
          </a:p>
        </p:txBody>
      </p:sp>
      <p:sp>
        <p:nvSpPr>
          <p:cNvPr id="9" name="Rounded Rectangle 8"/>
          <p:cNvSpPr/>
          <p:nvPr/>
        </p:nvSpPr>
        <p:spPr>
          <a:xfrm>
            <a:off x="658368" y="1517904"/>
            <a:ext cx="10874959" cy="74980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517904"/>
            <a:ext cx="54864" cy="749808"/>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1618488"/>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Detection rule</a:t>
            </a:r>
          </a:p>
        </p:txBody>
      </p:sp>
      <p:sp>
        <p:nvSpPr>
          <p:cNvPr id="12" name="TextBox 11"/>
          <p:cNvSpPr txBox="1"/>
          <p:nvPr/>
        </p:nvSpPr>
        <p:spPr>
          <a:xfrm>
            <a:off x="914400" y="1883664"/>
            <a:ext cx="3063240" cy="292607"/>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A hard equality on 32 bits — no threshold, no score, nothing to tune.</a:t>
            </a:r>
          </a:p>
        </p:txBody>
      </p:sp>
      <p:sp>
        <p:nvSpPr>
          <p:cNvPr id="13" name="TextBox 12"/>
          <p:cNvSpPr txBox="1"/>
          <p:nvPr/>
        </p:nvSpPr>
        <p:spPr>
          <a:xfrm>
            <a:off x="4178808" y="1572768"/>
            <a:ext cx="7080199" cy="640080"/>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Cambria Math"/>
              </a:rPr>
              <a:t>flag(i) = 1  ⇔  t̂ᵢ ≠ tᵢ,   where t̂ᵢ = HMAC(K, content(b̂ᵢ) ‖ i ‖ id)[0:32]</a:t>
            </a:r>
          </a:p>
        </p:txBody>
      </p:sp>
      <p:sp>
        <p:nvSpPr>
          <p:cNvPr id="14" name="Rounded Rectangle 13"/>
          <p:cNvSpPr/>
          <p:nvPr/>
        </p:nvSpPr>
        <p:spPr>
          <a:xfrm>
            <a:off x="658368" y="2359152"/>
            <a:ext cx="10874959" cy="89611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58368" y="2359152"/>
            <a:ext cx="54864" cy="896112"/>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14400" y="2459736"/>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Recovery rule</a:t>
            </a:r>
          </a:p>
        </p:txBody>
      </p:sp>
      <p:sp>
        <p:nvSpPr>
          <p:cNvPr id="17" name="TextBox 16"/>
          <p:cNvSpPr txBox="1"/>
          <p:nvPr/>
        </p:nvSpPr>
        <p:spPr>
          <a:xfrm>
            <a:off x="914400" y="2724912"/>
            <a:ext cx="3063240" cy="438912"/>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The second line is never silently filled in; it is reported in the output.</a:t>
            </a:r>
          </a:p>
        </p:txBody>
      </p:sp>
      <p:sp>
        <p:nvSpPr>
          <p:cNvPr id="18" name="TextBox 17"/>
          <p:cNvSpPr txBox="1"/>
          <p:nvPr/>
        </p:nvSpPr>
        <p:spPr>
          <a:xfrm>
            <a:off x="4178808" y="2414016"/>
            <a:ext cx="7080199"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Cambria Math"/>
              </a:rPr>
              <a:t>b̃ᵢ = D( desc read from m⁻¹(i) )   if  flag(m⁻¹(i)) = 0</a:t>
            </a:r>
          </a:p>
          <a:p>
            <a:pPr algn="l">
              <a:lnSpc>
                <a:spcPct val="100000"/>
              </a:lnSpc>
              <a:spcAft>
                <a:spcPts val="0"/>
              </a:spcAft>
            </a:pPr>
            <a:r>
              <a:rPr sz="1250" b="0" i="0">
                <a:solidFill>
                  <a:srgbClr val="4B5A70"/>
                </a:solidFill>
                <a:latin typeface="Cambria Math"/>
              </a:rPr>
              <a:t>b̃ᵢ = UNRECOVERABLE                   otherwise</a:t>
            </a:r>
          </a:p>
        </p:txBody>
      </p:sp>
      <p:sp>
        <p:nvSpPr>
          <p:cNvPr id="19" name="Rounded Rectangle 18"/>
          <p:cNvSpPr/>
          <p:nvPr/>
        </p:nvSpPr>
        <p:spPr>
          <a:xfrm>
            <a:off x="658368" y="3346704"/>
            <a:ext cx="10874959" cy="74980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58368" y="3346704"/>
            <a:ext cx="54864" cy="7498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4400" y="3447288"/>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Recoverability</a:t>
            </a:r>
          </a:p>
        </p:txBody>
      </p:sp>
      <p:sp>
        <p:nvSpPr>
          <p:cNvPr id="22" name="TextBox 21"/>
          <p:cNvSpPr txBox="1"/>
          <p:nvPr/>
        </p:nvSpPr>
        <p:spPr>
          <a:xfrm>
            <a:off x="914400" y="3712464"/>
            <a:ext cx="3063240" cy="292607"/>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The fraction of tampered blocks that could actually be rebuilt.</a:t>
            </a:r>
          </a:p>
        </p:txBody>
      </p:sp>
      <p:sp>
        <p:nvSpPr>
          <p:cNvPr id="23" name="TextBox 22"/>
          <p:cNvSpPr txBox="1"/>
          <p:nvPr/>
        </p:nvSpPr>
        <p:spPr>
          <a:xfrm>
            <a:off x="4178808" y="3401568"/>
            <a:ext cx="7080199" cy="640080"/>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Cambria Math"/>
              </a:rPr>
              <a:t>ρ = 1 − |U| / |Tₐ|,   U = flagged blocks whose partner is also flagged</a:t>
            </a:r>
          </a:p>
        </p:txBody>
      </p:sp>
      <p:sp>
        <p:nvSpPr>
          <p:cNvPr id="24" name="Rounded Rectangle 23"/>
          <p:cNvSpPr/>
          <p:nvPr/>
        </p:nvSpPr>
        <p:spPr>
          <a:xfrm>
            <a:off x="658368" y="4187952"/>
            <a:ext cx="10874959" cy="89611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58368" y="4187952"/>
            <a:ext cx="54864" cy="89611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14400" y="4288536"/>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Structural bound</a:t>
            </a:r>
          </a:p>
        </p:txBody>
      </p:sp>
      <p:sp>
        <p:nvSpPr>
          <p:cNvPr id="27" name="TextBox 26"/>
          <p:cNvSpPr txBox="1"/>
          <p:nvPr/>
        </p:nvSpPr>
        <p:spPr>
          <a:xfrm>
            <a:off x="914400" y="4553712"/>
            <a:ext cx="3063240" cy="438912"/>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Contiguous tamper regions coincide with their own partners slightly less often than uniform placement predicts.</a:t>
            </a:r>
          </a:p>
        </p:txBody>
      </p:sp>
      <p:sp>
        <p:nvSpPr>
          <p:cNvPr id="28" name="TextBox 27"/>
          <p:cNvSpPr txBox="1"/>
          <p:nvPr/>
        </p:nvSpPr>
        <p:spPr>
          <a:xfrm>
            <a:off x="4178808" y="4242816"/>
            <a:ext cx="7080199"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Cambria Math"/>
              </a:rPr>
              <a:t>under uniform tampering of area α:   E[ρ] ≈ 1 − α</a:t>
            </a:r>
          </a:p>
          <a:p>
            <a:pPr algn="l">
              <a:lnSpc>
                <a:spcPct val="100000"/>
              </a:lnSpc>
              <a:spcAft>
                <a:spcPts val="0"/>
              </a:spcAft>
            </a:pPr>
            <a:r>
              <a:rPr sz="1250" b="0" i="0">
                <a:solidFill>
                  <a:srgbClr val="4B5A70"/>
                </a:solidFill>
                <a:latin typeface="Cambria Math"/>
              </a:rPr>
              <a:t>measured: ρ sits 3–6 points ABOVE 1 − α at every ratio</a:t>
            </a:r>
          </a:p>
        </p:txBody>
      </p:sp>
      <p:sp>
        <p:nvSpPr>
          <p:cNvPr id="29" name="Rounded Rectangle 28"/>
          <p:cNvSpPr/>
          <p:nvPr/>
        </p:nvSpPr>
        <p:spPr>
          <a:xfrm>
            <a:off x="658368" y="5175504"/>
            <a:ext cx="10874959" cy="89611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58368" y="5175504"/>
            <a:ext cx="54864" cy="896112"/>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4400" y="5276088"/>
            <a:ext cx="28803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False accept</a:t>
            </a:r>
          </a:p>
        </p:txBody>
      </p:sp>
      <p:sp>
        <p:nvSpPr>
          <p:cNvPr id="32" name="TextBox 31"/>
          <p:cNvSpPr txBox="1"/>
          <p:nvPr/>
        </p:nvSpPr>
        <p:spPr>
          <a:xfrm>
            <a:off x="914400" y="5541264"/>
            <a:ext cx="3063240" cy="438912"/>
          </a:xfrm>
          <a:prstGeom prst="rect">
            <a:avLst/>
          </a:prstGeom>
          <a:noFill/>
        </p:spPr>
        <p:txBody>
          <a:bodyPr wrap="square" anchor="t" lIns="0" rIns="0" tIns="0" bIns="0">
            <a:spAutoFit/>
          </a:bodyPr>
          <a:lstStyle/>
          <a:p>
            <a:pPr algn="l">
              <a:lnSpc>
                <a:spcPct val="110000"/>
              </a:lnSpc>
              <a:spcAft>
                <a:spcPts val="0"/>
              </a:spcAft>
            </a:pPr>
            <a:r>
              <a:rPr sz="950" b="0" i="0">
                <a:solidFill>
                  <a:srgbClr val="4B5A70"/>
                </a:solidFill>
                <a:latin typeface="Segoe UI"/>
              </a:rPr>
              <a:t>The rule-of-three bound is what a zero-event experiment can honestly claim.</a:t>
            </a:r>
          </a:p>
        </p:txBody>
      </p:sp>
      <p:sp>
        <p:nvSpPr>
          <p:cNvPr id="33" name="TextBox 32"/>
          <p:cNvSpPr txBox="1"/>
          <p:nvPr/>
        </p:nvSpPr>
        <p:spPr>
          <a:xfrm>
            <a:off x="4178808" y="5230368"/>
            <a:ext cx="7080199" cy="786384"/>
          </a:xfrm>
          <a:prstGeom prst="rect">
            <a:avLst/>
          </a:prstGeom>
          <a:noFill/>
        </p:spPr>
        <p:txBody>
          <a:bodyPr wrap="square" anchor="ctr" lIns="0" rIns="0" tIns="0" bIns="0">
            <a:spAutoFit/>
          </a:bodyPr>
          <a:lstStyle/>
          <a:p>
            <a:pPr algn="l">
              <a:lnSpc>
                <a:spcPct val="100000"/>
              </a:lnSpc>
              <a:spcAft>
                <a:spcPts val="0"/>
              </a:spcAft>
            </a:pPr>
            <a:r>
              <a:rPr sz="1400" b="1" i="0">
                <a:solidFill>
                  <a:srgbClr val="0F172A"/>
                </a:solidFill>
                <a:latin typeface="Cambria Math"/>
              </a:rPr>
              <a:t>P(accept a tampered block) = 2⁻³² ≈ 2.3 × 10⁻¹⁰   per block</a:t>
            </a:r>
          </a:p>
          <a:p>
            <a:pPr algn="l">
              <a:lnSpc>
                <a:spcPct val="100000"/>
              </a:lnSpc>
              <a:spcAft>
                <a:spcPts val="0"/>
              </a:spcAft>
            </a:pPr>
            <a:r>
              <a:rPr sz="1250" b="0" i="0">
                <a:solidFill>
                  <a:srgbClr val="4B5A70"/>
                </a:solidFill>
                <a:latin typeface="Cambria Math"/>
              </a:rPr>
              <a:t>measured: 0 false positives in 1,802,240 blocks  ⇒  95% upper bound 3/n = 1.66 × 10⁻⁶</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10</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10</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Results &amp; Validation</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3,232 measured runs over a 32-image corpus.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10 · RESULTS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Imperceptibility — does embedding damage the image?</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17</a:t>
            </a:r>
          </a:p>
        </p:txBody>
      </p:sp>
      <p:sp>
        <p:nvSpPr>
          <p:cNvPr id="9" name="Rounded Rectangle 8"/>
          <p:cNvSpPr/>
          <p:nvPr/>
        </p:nvSpPr>
        <p:spPr>
          <a:xfrm>
            <a:off x="658368" y="1527048"/>
            <a:ext cx="3478682"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527048"/>
            <a:ext cx="3478682"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1725472"/>
            <a:ext cx="3222650" cy="623620"/>
          </a:xfrm>
          <a:prstGeom prst="rect">
            <a:avLst/>
          </a:prstGeom>
          <a:noFill/>
        </p:spPr>
        <p:txBody>
          <a:bodyPr wrap="square" anchor="ctr" lIns="0" rIns="0" tIns="0" bIns="0">
            <a:spAutoFit/>
          </a:bodyPr>
          <a:lstStyle/>
          <a:p>
            <a:pPr algn="ctr">
              <a:lnSpc>
                <a:spcPct val="100000"/>
              </a:lnSpc>
              <a:spcAft>
                <a:spcPts val="0"/>
              </a:spcAft>
            </a:pPr>
            <a:r>
              <a:rPr sz="4200" b="1" i="0">
                <a:solidFill>
                  <a:srgbClr val="0F172A"/>
                </a:solidFill>
                <a:latin typeface="Segoe UI"/>
              </a:rPr>
              <a:t>45.48 dB</a:t>
            </a:r>
          </a:p>
        </p:txBody>
      </p:sp>
      <p:sp>
        <p:nvSpPr>
          <p:cNvPr id="12" name="TextBox 11"/>
          <p:cNvSpPr txBox="1"/>
          <p:nvPr/>
        </p:nvSpPr>
        <p:spPr>
          <a:xfrm>
            <a:off x="786384" y="2377440"/>
            <a:ext cx="3222650" cy="283464"/>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PSNR · Variant A</a:t>
            </a:r>
          </a:p>
        </p:txBody>
      </p:sp>
      <p:sp>
        <p:nvSpPr>
          <p:cNvPr id="13" name="TextBox 12"/>
          <p:cNvSpPr txBox="1"/>
          <p:nvPr/>
        </p:nvSpPr>
        <p:spPr>
          <a:xfrm>
            <a:off x="768096" y="2646730"/>
            <a:ext cx="3259226" cy="269290"/>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mean over 32 images</a:t>
            </a:r>
          </a:p>
        </p:txBody>
      </p:sp>
      <p:sp>
        <p:nvSpPr>
          <p:cNvPr id="14" name="Rounded Rectangle 13"/>
          <p:cNvSpPr/>
          <p:nvPr/>
        </p:nvSpPr>
        <p:spPr>
          <a:xfrm>
            <a:off x="4356506" y="1527048"/>
            <a:ext cx="3478682"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56506" y="1527048"/>
            <a:ext cx="3478682"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484522" y="1725472"/>
            <a:ext cx="3222650" cy="623620"/>
          </a:xfrm>
          <a:prstGeom prst="rect">
            <a:avLst/>
          </a:prstGeom>
          <a:noFill/>
        </p:spPr>
        <p:txBody>
          <a:bodyPr wrap="square" anchor="ctr" lIns="0" rIns="0" tIns="0" bIns="0">
            <a:spAutoFit/>
          </a:bodyPr>
          <a:lstStyle/>
          <a:p>
            <a:pPr algn="ctr">
              <a:lnSpc>
                <a:spcPct val="100000"/>
              </a:lnSpc>
              <a:spcAft>
                <a:spcPts val="0"/>
              </a:spcAft>
            </a:pPr>
            <a:r>
              <a:rPr sz="4200" b="1" i="0">
                <a:solidFill>
                  <a:srgbClr val="0F172A"/>
                </a:solidFill>
                <a:latin typeface="Segoe UI"/>
              </a:rPr>
              <a:t>45.49 dB</a:t>
            </a:r>
          </a:p>
        </p:txBody>
      </p:sp>
      <p:sp>
        <p:nvSpPr>
          <p:cNvPr id="17" name="TextBox 16"/>
          <p:cNvSpPr txBox="1"/>
          <p:nvPr/>
        </p:nvSpPr>
        <p:spPr>
          <a:xfrm>
            <a:off x="4484522" y="2377440"/>
            <a:ext cx="3222650" cy="283464"/>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PSNR · Variant C</a:t>
            </a:r>
          </a:p>
        </p:txBody>
      </p:sp>
      <p:sp>
        <p:nvSpPr>
          <p:cNvPr id="18" name="TextBox 17"/>
          <p:cNvSpPr txBox="1"/>
          <p:nvPr/>
        </p:nvSpPr>
        <p:spPr>
          <a:xfrm>
            <a:off x="4466234" y="2646730"/>
            <a:ext cx="3259226" cy="269290"/>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rate–distortion default</a:t>
            </a:r>
          </a:p>
        </p:txBody>
      </p:sp>
      <p:sp>
        <p:nvSpPr>
          <p:cNvPr id="19" name="Rounded Rectangle 18"/>
          <p:cNvSpPr/>
          <p:nvPr/>
        </p:nvSpPr>
        <p:spPr>
          <a:xfrm>
            <a:off x="8054644" y="1527048"/>
            <a:ext cx="3478682"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54644" y="1527048"/>
            <a:ext cx="3478682" cy="50292"/>
          </a:xfrm>
          <a:prstGeom prst="rect">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82660" y="1725472"/>
            <a:ext cx="3222650" cy="623620"/>
          </a:xfrm>
          <a:prstGeom prst="rect">
            <a:avLst/>
          </a:prstGeom>
          <a:noFill/>
        </p:spPr>
        <p:txBody>
          <a:bodyPr wrap="square" anchor="ctr" lIns="0" rIns="0" tIns="0" bIns="0">
            <a:spAutoFit/>
          </a:bodyPr>
          <a:lstStyle/>
          <a:p>
            <a:pPr algn="ctr">
              <a:lnSpc>
                <a:spcPct val="100000"/>
              </a:lnSpc>
              <a:spcAft>
                <a:spcPts val="0"/>
              </a:spcAft>
            </a:pPr>
            <a:r>
              <a:rPr sz="4200" b="1" i="0">
                <a:solidFill>
                  <a:srgbClr val="0F172A"/>
                </a:solidFill>
                <a:latin typeface="Segoe UI"/>
              </a:rPr>
              <a:t>0.9783</a:t>
            </a:r>
          </a:p>
        </p:txBody>
      </p:sp>
      <p:sp>
        <p:nvSpPr>
          <p:cNvPr id="22" name="TextBox 21"/>
          <p:cNvSpPr txBox="1"/>
          <p:nvPr/>
        </p:nvSpPr>
        <p:spPr>
          <a:xfrm>
            <a:off x="8182660" y="2377440"/>
            <a:ext cx="3222650" cy="283464"/>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worst-case SSIM</a:t>
            </a:r>
          </a:p>
        </p:txBody>
      </p:sp>
      <p:sp>
        <p:nvSpPr>
          <p:cNvPr id="23" name="TextBox 22"/>
          <p:cNvSpPr txBox="1"/>
          <p:nvPr/>
        </p:nvSpPr>
        <p:spPr>
          <a:xfrm>
            <a:off x="8164372" y="2646730"/>
            <a:ext cx="3259226" cy="269290"/>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lowest of all 32 images</a:t>
            </a:r>
          </a:p>
        </p:txBody>
      </p:sp>
      <p:sp>
        <p:nvSpPr>
          <p:cNvPr id="24" name="Rectangle 23"/>
          <p:cNvSpPr/>
          <p:nvPr/>
        </p:nvSpPr>
        <p:spPr>
          <a:xfrm>
            <a:off x="658368" y="3236976"/>
            <a:ext cx="6400800" cy="36576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8096" y="3255264"/>
            <a:ext cx="1609344" cy="365760"/>
          </a:xfrm>
          <a:prstGeom prst="rect">
            <a:avLst/>
          </a:prstGeom>
          <a:noFill/>
        </p:spPr>
        <p:txBody>
          <a:bodyPr wrap="square" anchor="ctr" lIns="0" rIns="0" tIns="0" bIns="0">
            <a:spAutoFit/>
          </a:bodyPr>
          <a:lstStyle/>
          <a:p>
            <a:pPr algn="l">
              <a:lnSpc>
                <a:spcPct val="100000"/>
              </a:lnSpc>
              <a:spcAft>
                <a:spcPts val="0"/>
              </a:spcAft>
            </a:pPr>
            <a:r>
              <a:rPr sz="1050" b="1" i="0">
                <a:solidFill>
                  <a:srgbClr val="E6EDF6"/>
                </a:solidFill>
                <a:latin typeface="Segoe UI"/>
              </a:rPr>
              <a:t>Image</a:t>
            </a:r>
          </a:p>
        </p:txBody>
      </p:sp>
      <p:sp>
        <p:nvSpPr>
          <p:cNvPr id="26" name="TextBox 25"/>
          <p:cNvSpPr txBox="1"/>
          <p:nvPr/>
        </p:nvSpPr>
        <p:spPr>
          <a:xfrm>
            <a:off x="2596896" y="3255264"/>
            <a:ext cx="101498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PSNR-A (dB)</a:t>
            </a:r>
          </a:p>
        </p:txBody>
      </p:sp>
      <p:sp>
        <p:nvSpPr>
          <p:cNvPr id="27" name="TextBox 26"/>
          <p:cNvSpPr txBox="1"/>
          <p:nvPr/>
        </p:nvSpPr>
        <p:spPr>
          <a:xfrm>
            <a:off x="3831336" y="3255264"/>
            <a:ext cx="832103"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SSIM-A</a:t>
            </a:r>
          </a:p>
        </p:txBody>
      </p:sp>
      <p:sp>
        <p:nvSpPr>
          <p:cNvPr id="28" name="TextBox 27"/>
          <p:cNvSpPr txBox="1"/>
          <p:nvPr/>
        </p:nvSpPr>
        <p:spPr>
          <a:xfrm>
            <a:off x="4882896" y="3255264"/>
            <a:ext cx="101498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PSNR-C (dB)</a:t>
            </a:r>
          </a:p>
        </p:txBody>
      </p:sp>
      <p:sp>
        <p:nvSpPr>
          <p:cNvPr id="29" name="TextBox 28"/>
          <p:cNvSpPr txBox="1"/>
          <p:nvPr/>
        </p:nvSpPr>
        <p:spPr>
          <a:xfrm>
            <a:off x="6117336" y="3255264"/>
            <a:ext cx="832103"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SSIM-C</a:t>
            </a:r>
          </a:p>
        </p:txBody>
      </p:sp>
      <p:sp>
        <p:nvSpPr>
          <p:cNvPr id="30" name="Rectangle 29"/>
          <p:cNvSpPr/>
          <p:nvPr/>
        </p:nvSpPr>
        <p:spPr>
          <a:xfrm>
            <a:off x="658368" y="3602736"/>
            <a:ext cx="6400800" cy="3200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58368" y="3911803"/>
            <a:ext cx="640080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86384" y="3602736"/>
            <a:ext cx="1572768" cy="32004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Airplane</a:t>
            </a:r>
          </a:p>
        </p:txBody>
      </p:sp>
      <p:sp>
        <p:nvSpPr>
          <p:cNvPr id="33" name="TextBox 32"/>
          <p:cNvSpPr txBox="1"/>
          <p:nvPr/>
        </p:nvSpPr>
        <p:spPr>
          <a:xfrm>
            <a:off x="2615184" y="3602736"/>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45.72</a:t>
            </a:r>
          </a:p>
        </p:txBody>
      </p:sp>
      <p:sp>
        <p:nvSpPr>
          <p:cNvPr id="34" name="TextBox 33"/>
          <p:cNvSpPr txBox="1"/>
          <p:nvPr/>
        </p:nvSpPr>
        <p:spPr>
          <a:xfrm>
            <a:off x="3849624" y="3602736"/>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0.9853</a:t>
            </a:r>
          </a:p>
        </p:txBody>
      </p:sp>
      <p:sp>
        <p:nvSpPr>
          <p:cNvPr id="35" name="TextBox 34"/>
          <p:cNvSpPr txBox="1"/>
          <p:nvPr/>
        </p:nvSpPr>
        <p:spPr>
          <a:xfrm>
            <a:off x="4901184" y="3602736"/>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45.71</a:t>
            </a:r>
          </a:p>
        </p:txBody>
      </p:sp>
      <p:sp>
        <p:nvSpPr>
          <p:cNvPr id="36" name="TextBox 35"/>
          <p:cNvSpPr txBox="1"/>
          <p:nvPr/>
        </p:nvSpPr>
        <p:spPr>
          <a:xfrm>
            <a:off x="6135624" y="3602736"/>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0.9852</a:t>
            </a:r>
          </a:p>
        </p:txBody>
      </p:sp>
      <p:sp>
        <p:nvSpPr>
          <p:cNvPr id="37" name="Rectangle 36"/>
          <p:cNvSpPr/>
          <p:nvPr/>
        </p:nvSpPr>
        <p:spPr>
          <a:xfrm>
            <a:off x="658368" y="3922776"/>
            <a:ext cx="640080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58368" y="4231843"/>
            <a:ext cx="640080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86384" y="3922776"/>
            <a:ext cx="1572768" cy="32004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Baboon</a:t>
            </a:r>
          </a:p>
        </p:txBody>
      </p:sp>
      <p:sp>
        <p:nvSpPr>
          <p:cNvPr id="40" name="TextBox 39"/>
          <p:cNvSpPr txBox="1"/>
          <p:nvPr/>
        </p:nvSpPr>
        <p:spPr>
          <a:xfrm>
            <a:off x="2615184" y="3922776"/>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45.70</a:t>
            </a:r>
          </a:p>
        </p:txBody>
      </p:sp>
      <p:sp>
        <p:nvSpPr>
          <p:cNvPr id="41" name="TextBox 40"/>
          <p:cNvSpPr txBox="1"/>
          <p:nvPr/>
        </p:nvSpPr>
        <p:spPr>
          <a:xfrm>
            <a:off x="3849624" y="3922776"/>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0.9962</a:t>
            </a:r>
          </a:p>
        </p:txBody>
      </p:sp>
      <p:sp>
        <p:nvSpPr>
          <p:cNvPr id="42" name="TextBox 41"/>
          <p:cNvSpPr txBox="1"/>
          <p:nvPr/>
        </p:nvSpPr>
        <p:spPr>
          <a:xfrm>
            <a:off x="4901184" y="3922776"/>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45.70</a:t>
            </a:r>
          </a:p>
        </p:txBody>
      </p:sp>
      <p:sp>
        <p:nvSpPr>
          <p:cNvPr id="43" name="TextBox 42"/>
          <p:cNvSpPr txBox="1"/>
          <p:nvPr/>
        </p:nvSpPr>
        <p:spPr>
          <a:xfrm>
            <a:off x="6135624" y="3922776"/>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0.9962</a:t>
            </a:r>
          </a:p>
        </p:txBody>
      </p:sp>
      <p:sp>
        <p:nvSpPr>
          <p:cNvPr id="44" name="Rectangle 43"/>
          <p:cNvSpPr/>
          <p:nvPr/>
        </p:nvSpPr>
        <p:spPr>
          <a:xfrm>
            <a:off x="658368" y="4242816"/>
            <a:ext cx="6400800" cy="3200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58368" y="4551883"/>
            <a:ext cx="640080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86384" y="4242816"/>
            <a:ext cx="1572768" cy="32004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Lena</a:t>
            </a:r>
          </a:p>
        </p:txBody>
      </p:sp>
      <p:sp>
        <p:nvSpPr>
          <p:cNvPr id="47" name="TextBox 46"/>
          <p:cNvSpPr txBox="1"/>
          <p:nvPr/>
        </p:nvSpPr>
        <p:spPr>
          <a:xfrm>
            <a:off x="2615184" y="4242816"/>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45.73</a:t>
            </a:r>
          </a:p>
        </p:txBody>
      </p:sp>
      <p:sp>
        <p:nvSpPr>
          <p:cNvPr id="48" name="TextBox 47"/>
          <p:cNvSpPr txBox="1"/>
          <p:nvPr/>
        </p:nvSpPr>
        <p:spPr>
          <a:xfrm>
            <a:off x="3849624" y="4242816"/>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0.9883</a:t>
            </a:r>
          </a:p>
        </p:txBody>
      </p:sp>
      <p:sp>
        <p:nvSpPr>
          <p:cNvPr id="49" name="TextBox 48"/>
          <p:cNvSpPr txBox="1"/>
          <p:nvPr/>
        </p:nvSpPr>
        <p:spPr>
          <a:xfrm>
            <a:off x="4901184" y="4242816"/>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45.71</a:t>
            </a:r>
          </a:p>
        </p:txBody>
      </p:sp>
      <p:sp>
        <p:nvSpPr>
          <p:cNvPr id="50" name="TextBox 49"/>
          <p:cNvSpPr txBox="1"/>
          <p:nvPr/>
        </p:nvSpPr>
        <p:spPr>
          <a:xfrm>
            <a:off x="6135624" y="4242816"/>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0.9882</a:t>
            </a:r>
          </a:p>
        </p:txBody>
      </p:sp>
      <p:sp>
        <p:nvSpPr>
          <p:cNvPr id="51" name="Rectangle 50"/>
          <p:cNvSpPr/>
          <p:nvPr/>
        </p:nvSpPr>
        <p:spPr>
          <a:xfrm>
            <a:off x="658368" y="4562855"/>
            <a:ext cx="640080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658368" y="4871923"/>
            <a:ext cx="640080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86384" y="4562855"/>
            <a:ext cx="1572768" cy="32004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Splash</a:t>
            </a:r>
          </a:p>
        </p:txBody>
      </p:sp>
      <p:sp>
        <p:nvSpPr>
          <p:cNvPr id="54" name="TextBox 53"/>
          <p:cNvSpPr txBox="1"/>
          <p:nvPr/>
        </p:nvSpPr>
        <p:spPr>
          <a:xfrm>
            <a:off x="2615184" y="4562855"/>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45.66</a:t>
            </a:r>
          </a:p>
        </p:txBody>
      </p:sp>
      <p:sp>
        <p:nvSpPr>
          <p:cNvPr id="55" name="TextBox 54"/>
          <p:cNvSpPr txBox="1"/>
          <p:nvPr/>
        </p:nvSpPr>
        <p:spPr>
          <a:xfrm>
            <a:off x="3849624" y="4562855"/>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0.9803</a:t>
            </a:r>
          </a:p>
        </p:txBody>
      </p:sp>
      <p:sp>
        <p:nvSpPr>
          <p:cNvPr id="56" name="TextBox 55"/>
          <p:cNvSpPr txBox="1"/>
          <p:nvPr/>
        </p:nvSpPr>
        <p:spPr>
          <a:xfrm>
            <a:off x="4901184" y="4562855"/>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45.65</a:t>
            </a:r>
          </a:p>
        </p:txBody>
      </p:sp>
      <p:sp>
        <p:nvSpPr>
          <p:cNvPr id="57" name="TextBox 56"/>
          <p:cNvSpPr txBox="1"/>
          <p:nvPr/>
        </p:nvSpPr>
        <p:spPr>
          <a:xfrm>
            <a:off x="6135624" y="4562855"/>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0.9797</a:t>
            </a:r>
          </a:p>
        </p:txBody>
      </p:sp>
      <p:sp>
        <p:nvSpPr>
          <p:cNvPr id="58" name="Rectangle 57"/>
          <p:cNvSpPr/>
          <p:nvPr/>
        </p:nvSpPr>
        <p:spPr>
          <a:xfrm>
            <a:off x="658368" y="4882895"/>
            <a:ext cx="6400800" cy="3200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658368" y="5191963"/>
            <a:ext cx="640080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86384" y="4882895"/>
            <a:ext cx="1572768" cy="320040"/>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Tiffany</a:t>
            </a:r>
          </a:p>
        </p:txBody>
      </p:sp>
      <p:sp>
        <p:nvSpPr>
          <p:cNvPr id="61" name="TextBox 60"/>
          <p:cNvSpPr txBox="1"/>
          <p:nvPr/>
        </p:nvSpPr>
        <p:spPr>
          <a:xfrm>
            <a:off x="2615184" y="4882895"/>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44.07</a:t>
            </a:r>
          </a:p>
        </p:txBody>
      </p:sp>
      <p:sp>
        <p:nvSpPr>
          <p:cNvPr id="62" name="TextBox 61"/>
          <p:cNvSpPr txBox="1"/>
          <p:nvPr/>
        </p:nvSpPr>
        <p:spPr>
          <a:xfrm>
            <a:off x="3849624" y="4882895"/>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0.9856</a:t>
            </a:r>
          </a:p>
        </p:txBody>
      </p:sp>
      <p:sp>
        <p:nvSpPr>
          <p:cNvPr id="63" name="TextBox 62"/>
          <p:cNvSpPr txBox="1"/>
          <p:nvPr/>
        </p:nvSpPr>
        <p:spPr>
          <a:xfrm>
            <a:off x="4901184" y="4882895"/>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44.19</a:t>
            </a:r>
          </a:p>
        </p:txBody>
      </p:sp>
      <p:sp>
        <p:nvSpPr>
          <p:cNvPr id="64" name="TextBox 63"/>
          <p:cNvSpPr txBox="1"/>
          <p:nvPr/>
        </p:nvSpPr>
        <p:spPr>
          <a:xfrm>
            <a:off x="6135624" y="4882895"/>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0.9855</a:t>
            </a:r>
          </a:p>
        </p:txBody>
      </p:sp>
      <p:sp>
        <p:nvSpPr>
          <p:cNvPr id="65" name="Rectangle 64"/>
          <p:cNvSpPr/>
          <p:nvPr/>
        </p:nvSpPr>
        <p:spPr>
          <a:xfrm>
            <a:off x="658368" y="5202935"/>
            <a:ext cx="640080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658368" y="5202935"/>
            <a:ext cx="50292" cy="320040"/>
          </a:xfrm>
          <a:prstGeom prst="rect">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786384" y="5202935"/>
            <a:ext cx="1572768" cy="320040"/>
          </a:xfrm>
          <a:prstGeom prst="rect">
            <a:avLst/>
          </a:prstGeom>
          <a:noFill/>
        </p:spPr>
        <p:txBody>
          <a:bodyPr wrap="square" anchor="ctr" lIns="0" rIns="0" tIns="0" bIns="0">
            <a:spAutoFit/>
          </a:bodyPr>
          <a:lstStyle/>
          <a:p>
            <a:pPr algn="l">
              <a:lnSpc>
                <a:spcPct val="100000"/>
              </a:lnSpc>
              <a:spcAft>
                <a:spcPts val="0"/>
              </a:spcAft>
            </a:pPr>
            <a:r>
              <a:rPr sz="1100" b="1" i="0">
                <a:solidFill>
                  <a:srgbClr val="0F172A"/>
                </a:solidFill>
                <a:latin typeface="Segoe UI"/>
              </a:rPr>
              <a:t>Mean (32 images)</a:t>
            </a:r>
          </a:p>
        </p:txBody>
      </p:sp>
      <p:sp>
        <p:nvSpPr>
          <p:cNvPr id="68" name="TextBox 67"/>
          <p:cNvSpPr txBox="1"/>
          <p:nvPr/>
        </p:nvSpPr>
        <p:spPr>
          <a:xfrm>
            <a:off x="2615184" y="5202935"/>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45.48</a:t>
            </a:r>
          </a:p>
        </p:txBody>
      </p:sp>
      <p:sp>
        <p:nvSpPr>
          <p:cNvPr id="69" name="TextBox 68"/>
          <p:cNvSpPr txBox="1"/>
          <p:nvPr/>
        </p:nvSpPr>
        <p:spPr>
          <a:xfrm>
            <a:off x="3849624" y="5202935"/>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0.9885</a:t>
            </a:r>
          </a:p>
        </p:txBody>
      </p:sp>
      <p:sp>
        <p:nvSpPr>
          <p:cNvPr id="70" name="TextBox 69"/>
          <p:cNvSpPr txBox="1"/>
          <p:nvPr/>
        </p:nvSpPr>
        <p:spPr>
          <a:xfrm>
            <a:off x="4901184" y="5202935"/>
            <a:ext cx="978408"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45.49</a:t>
            </a:r>
          </a:p>
        </p:txBody>
      </p:sp>
      <p:sp>
        <p:nvSpPr>
          <p:cNvPr id="71" name="TextBox 70"/>
          <p:cNvSpPr txBox="1"/>
          <p:nvPr/>
        </p:nvSpPr>
        <p:spPr>
          <a:xfrm>
            <a:off x="6135624" y="5202935"/>
            <a:ext cx="795527" cy="320040"/>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0.9884</a:t>
            </a:r>
          </a:p>
        </p:txBody>
      </p:sp>
      <p:sp>
        <p:nvSpPr>
          <p:cNvPr id="72" name="Rounded Rectangle 71"/>
          <p:cNvSpPr/>
          <p:nvPr/>
        </p:nvSpPr>
        <p:spPr>
          <a:xfrm>
            <a:off x="7379208" y="3236976"/>
            <a:ext cx="4154119" cy="11430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ounded Rectangle 72"/>
          <p:cNvSpPr/>
          <p:nvPr/>
        </p:nvSpPr>
        <p:spPr>
          <a:xfrm>
            <a:off x="7379208" y="3236976"/>
            <a:ext cx="68580" cy="114300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635240" y="3392424"/>
            <a:ext cx="369691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Where the gain came from</a:t>
            </a:r>
          </a:p>
        </p:txBody>
      </p:sp>
      <p:sp>
        <p:nvSpPr>
          <p:cNvPr id="75" name="TextBox 74"/>
          <p:cNvSpPr txBox="1"/>
          <p:nvPr/>
        </p:nvSpPr>
        <p:spPr>
          <a:xfrm>
            <a:off x="7635240" y="3636264"/>
            <a:ext cx="3696919" cy="588264"/>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Switching from LSB replacement to LSB shifting moved the corpus mean from ≈43 dB to ≈45.5 dB — the same payload, placed at lower distortion cost.</a:t>
            </a:r>
          </a:p>
        </p:txBody>
      </p:sp>
      <p:sp>
        <p:nvSpPr>
          <p:cNvPr id="76" name="Rounded Rectangle 75"/>
          <p:cNvSpPr/>
          <p:nvPr/>
        </p:nvSpPr>
        <p:spPr>
          <a:xfrm>
            <a:off x="7379208" y="4498848"/>
            <a:ext cx="4154119" cy="11430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ounded Rectangle 76"/>
          <p:cNvSpPr/>
          <p:nvPr/>
        </p:nvSpPr>
        <p:spPr>
          <a:xfrm>
            <a:off x="7379208" y="4498848"/>
            <a:ext cx="68580" cy="114300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7635240" y="4654296"/>
            <a:ext cx="369691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The one outlier, reported</a:t>
            </a:r>
          </a:p>
        </p:txBody>
      </p:sp>
      <p:sp>
        <p:nvSpPr>
          <p:cNvPr id="79" name="TextBox 78"/>
          <p:cNvSpPr txBox="1"/>
          <p:nvPr/>
        </p:nvSpPr>
        <p:spPr>
          <a:xfrm>
            <a:off x="7635240" y="4898136"/>
            <a:ext cx="3696919" cy="588264"/>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Tiffany sits ≈1.5 dB below the corpus at 44.07 dB — large flat skin regions leave the shift with fewer low-cost pixels to use.</a:t>
            </a:r>
          </a:p>
        </p:txBody>
      </p:sp>
      <p:sp>
        <p:nvSpPr>
          <p:cNvPr id="80" name="Rounded Rectangle 79"/>
          <p:cNvSpPr/>
          <p:nvPr/>
        </p:nvSpPr>
        <p:spPr>
          <a:xfrm>
            <a:off x="658368" y="5833872"/>
            <a:ext cx="10874959" cy="502920"/>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ounded Rectangle 80"/>
          <p:cNvSpPr/>
          <p:nvPr/>
        </p:nvSpPr>
        <p:spPr>
          <a:xfrm>
            <a:off x="658368" y="5833872"/>
            <a:ext cx="64008" cy="502920"/>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932688" y="5833872"/>
            <a:ext cx="10326319" cy="502920"/>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Target was &gt; 40 dB. Every image in the corpus clears 44 dB, and SSIM never drops below 0.978.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10 · RESULTS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Detection and localization</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18</a:t>
            </a:r>
          </a:p>
        </p:txBody>
      </p:sp>
      <p:sp>
        <p:nvSpPr>
          <p:cNvPr id="9" name="Rounded Rectangle 8"/>
          <p:cNvSpPr/>
          <p:nvPr/>
        </p:nvSpPr>
        <p:spPr>
          <a:xfrm>
            <a:off x="658368" y="1527048"/>
            <a:ext cx="2567863" cy="13716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527048"/>
            <a:ext cx="2567863" cy="50292"/>
          </a:xfrm>
          <a:prstGeom prst="rect">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1719072"/>
            <a:ext cx="2311831" cy="603504"/>
          </a:xfrm>
          <a:prstGeom prst="rect">
            <a:avLst/>
          </a:prstGeom>
          <a:noFill/>
        </p:spPr>
        <p:txBody>
          <a:bodyPr wrap="square" anchor="ctr" lIns="0" rIns="0" tIns="0" bIns="0">
            <a:spAutoFit/>
          </a:bodyPr>
          <a:lstStyle/>
          <a:p>
            <a:pPr algn="ctr">
              <a:lnSpc>
                <a:spcPct val="100000"/>
              </a:lnSpc>
              <a:spcAft>
                <a:spcPts val="0"/>
              </a:spcAft>
            </a:pPr>
            <a:r>
              <a:rPr sz="4200" b="1" i="0">
                <a:solidFill>
                  <a:srgbClr val="0F172A"/>
                </a:solidFill>
                <a:latin typeface="Segoe UI"/>
              </a:rPr>
              <a:t>1.0000</a:t>
            </a:r>
          </a:p>
        </p:txBody>
      </p:sp>
      <p:sp>
        <p:nvSpPr>
          <p:cNvPr id="12" name="TextBox 11"/>
          <p:cNvSpPr txBox="1"/>
          <p:nvPr/>
        </p:nvSpPr>
        <p:spPr>
          <a:xfrm>
            <a:off x="786384" y="2350008"/>
            <a:ext cx="2311831" cy="274320"/>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block precision</a:t>
            </a:r>
          </a:p>
        </p:txBody>
      </p:sp>
      <p:sp>
        <p:nvSpPr>
          <p:cNvPr id="13" name="TextBox 12"/>
          <p:cNvSpPr txBox="1"/>
          <p:nvPr/>
        </p:nvSpPr>
        <p:spPr>
          <a:xfrm>
            <a:off x="768096" y="2610612"/>
            <a:ext cx="2348407" cy="260604"/>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1,792 tamper trials</a:t>
            </a:r>
          </a:p>
        </p:txBody>
      </p:sp>
      <p:sp>
        <p:nvSpPr>
          <p:cNvPr id="14" name="Rounded Rectangle 13"/>
          <p:cNvSpPr/>
          <p:nvPr/>
        </p:nvSpPr>
        <p:spPr>
          <a:xfrm>
            <a:off x="3427399" y="1527048"/>
            <a:ext cx="2567863" cy="13716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27399" y="1527048"/>
            <a:ext cx="2567863" cy="50292"/>
          </a:xfrm>
          <a:prstGeom prst="rect">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55415" y="1719072"/>
            <a:ext cx="2311831" cy="603504"/>
          </a:xfrm>
          <a:prstGeom prst="rect">
            <a:avLst/>
          </a:prstGeom>
          <a:noFill/>
        </p:spPr>
        <p:txBody>
          <a:bodyPr wrap="square" anchor="ctr" lIns="0" rIns="0" tIns="0" bIns="0">
            <a:spAutoFit/>
          </a:bodyPr>
          <a:lstStyle/>
          <a:p>
            <a:pPr algn="ctr">
              <a:lnSpc>
                <a:spcPct val="100000"/>
              </a:lnSpc>
              <a:spcAft>
                <a:spcPts val="0"/>
              </a:spcAft>
            </a:pPr>
            <a:r>
              <a:rPr sz="4200" b="1" i="0">
                <a:solidFill>
                  <a:srgbClr val="0F172A"/>
                </a:solidFill>
                <a:latin typeface="Segoe UI"/>
              </a:rPr>
              <a:t>1.0000</a:t>
            </a:r>
          </a:p>
        </p:txBody>
      </p:sp>
      <p:sp>
        <p:nvSpPr>
          <p:cNvPr id="17" name="TextBox 16"/>
          <p:cNvSpPr txBox="1"/>
          <p:nvPr/>
        </p:nvSpPr>
        <p:spPr>
          <a:xfrm>
            <a:off x="3555415" y="2350008"/>
            <a:ext cx="2311831" cy="274320"/>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block recall</a:t>
            </a:r>
          </a:p>
        </p:txBody>
      </p:sp>
      <p:sp>
        <p:nvSpPr>
          <p:cNvPr id="18" name="TextBox 17"/>
          <p:cNvSpPr txBox="1"/>
          <p:nvPr/>
        </p:nvSpPr>
        <p:spPr>
          <a:xfrm>
            <a:off x="3537127" y="2610612"/>
            <a:ext cx="2348407" cy="260604"/>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splice, crop-refill, noise</a:t>
            </a:r>
          </a:p>
        </p:txBody>
      </p:sp>
      <p:sp>
        <p:nvSpPr>
          <p:cNvPr id="19" name="Rounded Rectangle 18"/>
          <p:cNvSpPr/>
          <p:nvPr/>
        </p:nvSpPr>
        <p:spPr>
          <a:xfrm>
            <a:off x="6196431" y="1527048"/>
            <a:ext cx="2567863" cy="13716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96431" y="1527048"/>
            <a:ext cx="2567863"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24447" y="1719072"/>
            <a:ext cx="2311831" cy="603504"/>
          </a:xfrm>
          <a:prstGeom prst="rect">
            <a:avLst/>
          </a:prstGeom>
          <a:noFill/>
        </p:spPr>
        <p:txBody>
          <a:bodyPr wrap="square" anchor="ctr" lIns="0" rIns="0" tIns="0" bIns="0">
            <a:spAutoFit/>
          </a:bodyPr>
          <a:lstStyle/>
          <a:p>
            <a:pPr algn="ctr">
              <a:lnSpc>
                <a:spcPct val="100000"/>
              </a:lnSpc>
              <a:spcAft>
                <a:spcPts val="0"/>
              </a:spcAft>
            </a:pPr>
            <a:r>
              <a:rPr sz="4200" b="1" i="0">
                <a:solidFill>
                  <a:srgbClr val="0F172A"/>
                </a:solidFill>
                <a:latin typeface="Segoe UI"/>
              </a:rPr>
              <a:t>0.9599</a:t>
            </a:r>
          </a:p>
        </p:txBody>
      </p:sp>
      <p:sp>
        <p:nvSpPr>
          <p:cNvPr id="22" name="TextBox 21"/>
          <p:cNvSpPr txBox="1"/>
          <p:nvPr/>
        </p:nvSpPr>
        <p:spPr>
          <a:xfrm>
            <a:off x="6324447" y="2350008"/>
            <a:ext cx="2311831" cy="274320"/>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pixel precision</a:t>
            </a:r>
          </a:p>
        </p:txBody>
      </p:sp>
      <p:sp>
        <p:nvSpPr>
          <p:cNvPr id="23" name="TextBox 22"/>
          <p:cNvSpPr txBox="1"/>
          <p:nvPr/>
        </p:nvSpPr>
        <p:spPr>
          <a:xfrm>
            <a:off x="6306159" y="2610612"/>
            <a:ext cx="2348407" cy="260604"/>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gap is grid quantization</a:t>
            </a:r>
          </a:p>
        </p:txBody>
      </p:sp>
      <p:sp>
        <p:nvSpPr>
          <p:cNvPr id="24" name="Rounded Rectangle 23"/>
          <p:cNvSpPr/>
          <p:nvPr/>
        </p:nvSpPr>
        <p:spPr>
          <a:xfrm>
            <a:off x="8965463" y="1527048"/>
            <a:ext cx="2567863" cy="13716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965463" y="1527048"/>
            <a:ext cx="2567863"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093479" y="1719072"/>
            <a:ext cx="2311831" cy="603504"/>
          </a:xfrm>
          <a:prstGeom prst="rect">
            <a:avLst/>
          </a:prstGeom>
          <a:noFill/>
        </p:spPr>
        <p:txBody>
          <a:bodyPr wrap="square" anchor="ctr" lIns="0" rIns="0" tIns="0" bIns="0">
            <a:spAutoFit/>
          </a:bodyPr>
          <a:lstStyle/>
          <a:p>
            <a:pPr algn="ctr">
              <a:lnSpc>
                <a:spcPct val="100000"/>
              </a:lnSpc>
              <a:spcAft>
                <a:spcPts val="0"/>
              </a:spcAft>
            </a:pPr>
            <a:r>
              <a:rPr sz="4200" b="1" i="0">
                <a:solidFill>
                  <a:srgbClr val="0F172A"/>
                </a:solidFill>
                <a:latin typeface="Segoe UI"/>
              </a:rPr>
              <a:t>0</a:t>
            </a:r>
          </a:p>
        </p:txBody>
      </p:sp>
      <p:sp>
        <p:nvSpPr>
          <p:cNvPr id="27" name="TextBox 26"/>
          <p:cNvSpPr txBox="1"/>
          <p:nvPr/>
        </p:nvSpPr>
        <p:spPr>
          <a:xfrm>
            <a:off x="9093479" y="2350008"/>
            <a:ext cx="2311831" cy="274320"/>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false positives</a:t>
            </a:r>
          </a:p>
        </p:txBody>
      </p:sp>
      <p:sp>
        <p:nvSpPr>
          <p:cNvPr id="28" name="TextBox 27"/>
          <p:cNvSpPr txBox="1"/>
          <p:nvPr/>
        </p:nvSpPr>
        <p:spPr>
          <a:xfrm>
            <a:off x="9075191" y="2610612"/>
            <a:ext cx="2348407" cy="260604"/>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in 1,802,240 blocks</a:t>
            </a:r>
          </a:p>
        </p:txBody>
      </p:sp>
      <p:sp>
        <p:nvSpPr>
          <p:cNvPr id="29" name="Rectangle 28"/>
          <p:cNvSpPr/>
          <p:nvPr/>
        </p:nvSpPr>
        <p:spPr>
          <a:xfrm>
            <a:off x="658368" y="3172968"/>
            <a:ext cx="6903720" cy="36576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68096" y="3191256"/>
            <a:ext cx="1929384" cy="365760"/>
          </a:xfrm>
          <a:prstGeom prst="rect">
            <a:avLst/>
          </a:prstGeom>
          <a:noFill/>
        </p:spPr>
        <p:txBody>
          <a:bodyPr wrap="square" anchor="ctr" lIns="0" rIns="0" tIns="0" bIns="0">
            <a:spAutoFit/>
          </a:bodyPr>
          <a:lstStyle/>
          <a:p>
            <a:pPr algn="l">
              <a:lnSpc>
                <a:spcPct val="100000"/>
              </a:lnSpc>
              <a:spcAft>
                <a:spcPts val="0"/>
              </a:spcAft>
            </a:pPr>
            <a:r>
              <a:rPr sz="1050" b="1" i="0">
                <a:solidFill>
                  <a:srgbClr val="E6EDF6"/>
                </a:solidFill>
                <a:latin typeface="Segoe UI"/>
              </a:rPr>
              <a:t>Tamper class</a:t>
            </a:r>
          </a:p>
        </p:txBody>
      </p:sp>
      <p:sp>
        <p:nvSpPr>
          <p:cNvPr id="31" name="TextBox 30"/>
          <p:cNvSpPr txBox="1"/>
          <p:nvPr/>
        </p:nvSpPr>
        <p:spPr>
          <a:xfrm>
            <a:off x="2916936" y="3191256"/>
            <a:ext cx="804672"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Block prec.</a:t>
            </a:r>
          </a:p>
        </p:txBody>
      </p:sp>
      <p:sp>
        <p:nvSpPr>
          <p:cNvPr id="32" name="TextBox 31"/>
          <p:cNvSpPr txBox="1"/>
          <p:nvPr/>
        </p:nvSpPr>
        <p:spPr>
          <a:xfrm>
            <a:off x="3941064" y="3191256"/>
            <a:ext cx="804672"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Block recall</a:t>
            </a:r>
          </a:p>
        </p:txBody>
      </p:sp>
      <p:sp>
        <p:nvSpPr>
          <p:cNvPr id="33" name="TextBox 32"/>
          <p:cNvSpPr txBox="1"/>
          <p:nvPr/>
        </p:nvSpPr>
        <p:spPr>
          <a:xfrm>
            <a:off x="4965192" y="3191256"/>
            <a:ext cx="69494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Block F1</a:t>
            </a:r>
          </a:p>
        </p:txBody>
      </p:sp>
      <p:sp>
        <p:nvSpPr>
          <p:cNvPr id="34" name="TextBox 33"/>
          <p:cNvSpPr txBox="1"/>
          <p:nvPr/>
        </p:nvSpPr>
        <p:spPr>
          <a:xfrm>
            <a:off x="5879592" y="3191256"/>
            <a:ext cx="69494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Block IoU</a:t>
            </a:r>
          </a:p>
        </p:txBody>
      </p:sp>
      <p:sp>
        <p:nvSpPr>
          <p:cNvPr id="35" name="TextBox 34"/>
          <p:cNvSpPr txBox="1"/>
          <p:nvPr/>
        </p:nvSpPr>
        <p:spPr>
          <a:xfrm>
            <a:off x="6793992" y="3191256"/>
            <a:ext cx="658368"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Pixel prec.</a:t>
            </a:r>
          </a:p>
        </p:txBody>
      </p:sp>
      <p:sp>
        <p:nvSpPr>
          <p:cNvPr id="36" name="Rectangle 35"/>
          <p:cNvSpPr/>
          <p:nvPr/>
        </p:nvSpPr>
        <p:spPr>
          <a:xfrm>
            <a:off x="658368" y="3538728"/>
            <a:ext cx="6903720" cy="36576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58368" y="3893515"/>
            <a:ext cx="690372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86384" y="3538728"/>
            <a:ext cx="1892808" cy="365760"/>
          </a:xfrm>
          <a:prstGeom prst="rect">
            <a:avLst/>
          </a:prstGeom>
          <a:noFill/>
        </p:spPr>
        <p:txBody>
          <a:bodyPr wrap="square" anchor="ctr" lIns="0" rIns="0" tIns="0" bIns="0">
            <a:spAutoFit/>
          </a:bodyPr>
          <a:lstStyle/>
          <a:p>
            <a:pPr algn="l">
              <a:lnSpc>
                <a:spcPct val="100000"/>
              </a:lnSpc>
              <a:spcAft>
                <a:spcPts val="0"/>
              </a:spcAft>
            </a:pPr>
            <a:r>
              <a:rPr sz="1050" b="0" i="0">
                <a:solidFill>
                  <a:srgbClr val="0F172A"/>
                </a:solidFill>
                <a:latin typeface="Segoe UI"/>
              </a:rPr>
              <a:t>Copy-paste splicing</a:t>
            </a:r>
          </a:p>
        </p:txBody>
      </p:sp>
      <p:sp>
        <p:nvSpPr>
          <p:cNvPr id="39" name="TextBox 38"/>
          <p:cNvSpPr txBox="1"/>
          <p:nvPr/>
        </p:nvSpPr>
        <p:spPr>
          <a:xfrm>
            <a:off x="2935224" y="3538728"/>
            <a:ext cx="768096"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40" name="TextBox 39"/>
          <p:cNvSpPr txBox="1"/>
          <p:nvPr/>
        </p:nvSpPr>
        <p:spPr>
          <a:xfrm>
            <a:off x="3959352" y="3538728"/>
            <a:ext cx="768096"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41" name="TextBox 40"/>
          <p:cNvSpPr txBox="1"/>
          <p:nvPr/>
        </p:nvSpPr>
        <p:spPr>
          <a:xfrm>
            <a:off x="4983480" y="3538728"/>
            <a:ext cx="658368"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42" name="TextBox 41"/>
          <p:cNvSpPr txBox="1"/>
          <p:nvPr/>
        </p:nvSpPr>
        <p:spPr>
          <a:xfrm>
            <a:off x="5897880" y="3538728"/>
            <a:ext cx="658368"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43" name="TextBox 42"/>
          <p:cNvSpPr txBox="1"/>
          <p:nvPr/>
        </p:nvSpPr>
        <p:spPr>
          <a:xfrm>
            <a:off x="6812280" y="3538728"/>
            <a:ext cx="621792"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0.9600</a:t>
            </a:r>
          </a:p>
        </p:txBody>
      </p:sp>
      <p:sp>
        <p:nvSpPr>
          <p:cNvPr id="44" name="Rectangle 43"/>
          <p:cNvSpPr/>
          <p:nvPr/>
        </p:nvSpPr>
        <p:spPr>
          <a:xfrm>
            <a:off x="658368" y="3904488"/>
            <a:ext cx="6903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58368" y="3904488"/>
            <a:ext cx="50292"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86384" y="3904488"/>
            <a:ext cx="1892808" cy="365760"/>
          </a:xfrm>
          <a:prstGeom prst="rect">
            <a:avLst/>
          </a:prstGeom>
          <a:noFill/>
        </p:spPr>
        <p:txBody>
          <a:bodyPr wrap="square" anchor="ctr" lIns="0" rIns="0" tIns="0" bIns="0">
            <a:spAutoFit/>
          </a:bodyPr>
          <a:lstStyle/>
          <a:p>
            <a:pPr algn="l">
              <a:lnSpc>
                <a:spcPct val="100000"/>
              </a:lnSpc>
              <a:spcAft>
                <a:spcPts val="0"/>
              </a:spcAft>
            </a:pPr>
            <a:r>
              <a:rPr sz="1050" b="1" i="0">
                <a:solidFill>
                  <a:srgbClr val="0F172A"/>
                </a:solidFill>
                <a:latin typeface="Segoe UI"/>
              </a:rPr>
              <a:t>Object removal (inpaint)</a:t>
            </a:r>
          </a:p>
        </p:txBody>
      </p:sp>
      <p:sp>
        <p:nvSpPr>
          <p:cNvPr id="47" name="TextBox 46"/>
          <p:cNvSpPr txBox="1"/>
          <p:nvPr/>
        </p:nvSpPr>
        <p:spPr>
          <a:xfrm>
            <a:off x="2935224" y="3904488"/>
            <a:ext cx="768096"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0.999999</a:t>
            </a:r>
          </a:p>
        </p:txBody>
      </p:sp>
      <p:sp>
        <p:nvSpPr>
          <p:cNvPr id="48" name="TextBox 47"/>
          <p:cNvSpPr txBox="1"/>
          <p:nvPr/>
        </p:nvSpPr>
        <p:spPr>
          <a:xfrm>
            <a:off x="3959352" y="3904488"/>
            <a:ext cx="768096"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0.999990</a:t>
            </a:r>
          </a:p>
        </p:txBody>
      </p:sp>
      <p:sp>
        <p:nvSpPr>
          <p:cNvPr id="49" name="TextBox 48"/>
          <p:cNvSpPr txBox="1"/>
          <p:nvPr/>
        </p:nvSpPr>
        <p:spPr>
          <a:xfrm>
            <a:off x="4983480" y="3904488"/>
            <a:ext cx="658368"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0.999995</a:t>
            </a:r>
          </a:p>
        </p:txBody>
      </p:sp>
      <p:sp>
        <p:nvSpPr>
          <p:cNvPr id="50" name="TextBox 49"/>
          <p:cNvSpPr txBox="1"/>
          <p:nvPr/>
        </p:nvSpPr>
        <p:spPr>
          <a:xfrm>
            <a:off x="5897880" y="3904488"/>
            <a:ext cx="658368"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0.999989</a:t>
            </a:r>
          </a:p>
        </p:txBody>
      </p:sp>
      <p:sp>
        <p:nvSpPr>
          <p:cNvPr id="51" name="TextBox 50"/>
          <p:cNvSpPr txBox="1"/>
          <p:nvPr/>
        </p:nvSpPr>
        <p:spPr>
          <a:xfrm>
            <a:off x="6812280" y="3904488"/>
            <a:ext cx="621792"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0.9587</a:t>
            </a:r>
          </a:p>
        </p:txBody>
      </p:sp>
      <p:sp>
        <p:nvSpPr>
          <p:cNvPr id="52" name="Rectangle 51"/>
          <p:cNvSpPr/>
          <p:nvPr/>
        </p:nvSpPr>
        <p:spPr>
          <a:xfrm>
            <a:off x="658368" y="4270248"/>
            <a:ext cx="6903720" cy="36576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658368" y="4625035"/>
            <a:ext cx="690372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786384" y="4270248"/>
            <a:ext cx="1892808" cy="365760"/>
          </a:xfrm>
          <a:prstGeom prst="rect">
            <a:avLst/>
          </a:prstGeom>
          <a:noFill/>
        </p:spPr>
        <p:txBody>
          <a:bodyPr wrap="square" anchor="ctr" lIns="0" rIns="0" tIns="0" bIns="0">
            <a:spAutoFit/>
          </a:bodyPr>
          <a:lstStyle/>
          <a:p>
            <a:pPr algn="l">
              <a:lnSpc>
                <a:spcPct val="100000"/>
              </a:lnSpc>
              <a:spcAft>
                <a:spcPts val="0"/>
              </a:spcAft>
            </a:pPr>
            <a:r>
              <a:rPr sz="1050" b="0" i="0">
                <a:solidFill>
                  <a:srgbClr val="0F172A"/>
                </a:solidFill>
                <a:latin typeface="Segoe UI"/>
              </a:rPr>
              <a:t>Crop-and-refill</a:t>
            </a:r>
          </a:p>
        </p:txBody>
      </p:sp>
      <p:sp>
        <p:nvSpPr>
          <p:cNvPr id="55" name="TextBox 54"/>
          <p:cNvSpPr txBox="1"/>
          <p:nvPr/>
        </p:nvSpPr>
        <p:spPr>
          <a:xfrm>
            <a:off x="2935224" y="4270248"/>
            <a:ext cx="768096"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56" name="TextBox 55"/>
          <p:cNvSpPr txBox="1"/>
          <p:nvPr/>
        </p:nvSpPr>
        <p:spPr>
          <a:xfrm>
            <a:off x="3959352" y="4270248"/>
            <a:ext cx="768096"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57" name="TextBox 56"/>
          <p:cNvSpPr txBox="1"/>
          <p:nvPr/>
        </p:nvSpPr>
        <p:spPr>
          <a:xfrm>
            <a:off x="4983480" y="4270248"/>
            <a:ext cx="658368"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58" name="TextBox 57"/>
          <p:cNvSpPr txBox="1"/>
          <p:nvPr/>
        </p:nvSpPr>
        <p:spPr>
          <a:xfrm>
            <a:off x="5897880" y="4270248"/>
            <a:ext cx="658368"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59" name="TextBox 58"/>
          <p:cNvSpPr txBox="1"/>
          <p:nvPr/>
        </p:nvSpPr>
        <p:spPr>
          <a:xfrm>
            <a:off x="6812280" y="4270248"/>
            <a:ext cx="621792"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0.9595</a:t>
            </a:r>
          </a:p>
        </p:txBody>
      </p:sp>
      <p:sp>
        <p:nvSpPr>
          <p:cNvPr id="60" name="Rectangle 59"/>
          <p:cNvSpPr/>
          <p:nvPr/>
        </p:nvSpPr>
        <p:spPr>
          <a:xfrm>
            <a:off x="658368" y="4636008"/>
            <a:ext cx="6903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658368" y="4990795"/>
            <a:ext cx="6903720"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86384" y="4636008"/>
            <a:ext cx="1892808" cy="365760"/>
          </a:xfrm>
          <a:prstGeom prst="rect">
            <a:avLst/>
          </a:prstGeom>
          <a:noFill/>
        </p:spPr>
        <p:txBody>
          <a:bodyPr wrap="square" anchor="ctr" lIns="0" rIns="0" tIns="0" bIns="0">
            <a:spAutoFit/>
          </a:bodyPr>
          <a:lstStyle/>
          <a:p>
            <a:pPr algn="l">
              <a:lnSpc>
                <a:spcPct val="100000"/>
              </a:lnSpc>
              <a:spcAft>
                <a:spcPts val="0"/>
              </a:spcAft>
            </a:pPr>
            <a:r>
              <a:rPr sz="1050" b="0" i="0">
                <a:solidFill>
                  <a:srgbClr val="0F172A"/>
                </a:solidFill>
                <a:latin typeface="Segoe UI"/>
              </a:rPr>
              <a:t>Noise corruption</a:t>
            </a:r>
          </a:p>
        </p:txBody>
      </p:sp>
      <p:sp>
        <p:nvSpPr>
          <p:cNvPr id="63" name="TextBox 62"/>
          <p:cNvSpPr txBox="1"/>
          <p:nvPr/>
        </p:nvSpPr>
        <p:spPr>
          <a:xfrm>
            <a:off x="2935224" y="4636008"/>
            <a:ext cx="768096"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64" name="TextBox 63"/>
          <p:cNvSpPr txBox="1"/>
          <p:nvPr/>
        </p:nvSpPr>
        <p:spPr>
          <a:xfrm>
            <a:off x="3959352" y="4636008"/>
            <a:ext cx="768096"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65" name="TextBox 64"/>
          <p:cNvSpPr txBox="1"/>
          <p:nvPr/>
        </p:nvSpPr>
        <p:spPr>
          <a:xfrm>
            <a:off x="4983480" y="4636008"/>
            <a:ext cx="658368"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66" name="TextBox 65"/>
          <p:cNvSpPr txBox="1"/>
          <p:nvPr/>
        </p:nvSpPr>
        <p:spPr>
          <a:xfrm>
            <a:off x="5897880" y="4636008"/>
            <a:ext cx="658368"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1.000000</a:t>
            </a:r>
          </a:p>
        </p:txBody>
      </p:sp>
      <p:sp>
        <p:nvSpPr>
          <p:cNvPr id="67" name="TextBox 66"/>
          <p:cNvSpPr txBox="1"/>
          <p:nvPr/>
        </p:nvSpPr>
        <p:spPr>
          <a:xfrm>
            <a:off x="6812280" y="4636008"/>
            <a:ext cx="621792" cy="365760"/>
          </a:xfrm>
          <a:prstGeom prst="rect">
            <a:avLst/>
          </a:prstGeom>
          <a:noFill/>
        </p:spPr>
        <p:txBody>
          <a:bodyPr wrap="square" anchor="ctr" lIns="0" rIns="0" tIns="0" bIns="0">
            <a:spAutoFit/>
          </a:bodyPr>
          <a:lstStyle/>
          <a:p>
            <a:pPr algn="ctr">
              <a:lnSpc>
                <a:spcPct val="100000"/>
              </a:lnSpc>
              <a:spcAft>
                <a:spcPts val="0"/>
              </a:spcAft>
            </a:pPr>
            <a:r>
              <a:rPr sz="1050" b="0" i="0">
                <a:solidFill>
                  <a:srgbClr val="0F172A"/>
                </a:solidFill>
                <a:latin typeface="Segoe UI"/>
              </a:rPr>
              <a:t>0.9612</a:t>
            </a:r>
          </a:p>
        </p:txBody>
      </p:sp>
      <p:sp>
        <p:nvSpPr>
          <p:cNvPr id="68" name="Rounded Rectangle 67"/>
          <p:cNvSpPr/>
          <p:nvPr/>
        </p:nvSpPr>
        <p:spPr>
          <a:xfrm>
            <a:off x="7882127" y="3145536"/>
            <a:ext cx="3651199" cy="1316736"/>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ounded Rectangle 68"/>
          <p:cNvSpPr/>
          <p:nvPr/>
        </p:nvSpPr>
        <p:spPr>
          <a:xfrm>
            <a:off x="7882127" y="3145536"/>
            <a:ext cx="68580" cy="131673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8138159" y="3300984"/>
            <a:ext cx="3193999" cy="426720"/>
          </a:xfrm>
          <a:prstGeom prst="rect">
            <a:avLst/>
          </a:prstGeom>
          <a:noFill/>
        </p:spPr>
        <p:txBody>
          <a:bodyPr wrap="square" anchor="t" lIns="0" rIns="0" tIns="0" bIns="0">
            <a:spAutoFit/>
          </a:bodyPr>
          <a:lstStyle/>
          <a:p>
            <a:pPr algn="l">
              <a:lnSpc>
                <a:spcPct val="105000"/>
              </a:lnSpc>
              <a:spcAft>
                <a:spcPts val="0"/>
              </a:spcAft>
            </a:pPr>
            <a:r>
              <a:rPr sz="1250" b="1" i="0">
                <a:solidFill>
                  <a:srgbClr val="0F172A"/>
                </a:solidFill>
                <a:latin typeface="Segoe UI"/>
              </a:rPr>
              <a:t>Why block precision is 1.000 and not impressive on its own</a:t>
            </a:r>
          </a:p>
        </p:txBody>
      </p:sp>
      <p:sp>
        <p:nvSpPr>
          <p:cNvPr id="71" name="TextBox 70"/>
          <p:cNvSpPr txBox="1"/>
          <p:nvPr/>
        </p:nvSpPr>
        <p:spPr>
          <a:xfrm>
            <a:off x="8138159" y="3727704"/>
            <a:ext cx="3193999" cy="579119"/>
          </a:xfrm>
          <a:prstGeom prst="rect">
            <a:avLst/>
          </a:prstGeom>
          <a:noFill/>
        </p:spPr>
        <p:txBody>
          <a:bodyPr wrap="square" anchor="t" lIns="0" rIns="0" tIns="0" bIns="0">
            <a:spAutoFit/>
          </a:bodyPr>
          <a:lstStyle/>
          <a:p>
            <a:pPr algn="l">
              <a:lnSpc>
                <a:spcPct val="115000"/>
              </a:lnSpc>
              <a:spcAft>
                <a:spcPts val="0"/>
              </a:spcAft>
            </a:pPr>
            <a:r>
              <a:rPr sz="1050" b="0" i="0">
                <a:solidFill>
                  <a:srgbClr val="4B5A70"/>
                </a:solidFill>
                <a:latin typeface="Segoe UI"/>
              </a:rPr>
              <a:t>A detector that flagged the whole image would also score 1.000 here. The claim that carries weight is the null condition next to it: zero false positives.</a:t>
            </a:r>
          </a:p>
        </p:txBody>
      </p:sp>
      <p:sp>
        <p:nvSpPr>
          <p:cNvPr id="72" name="Rounded Rectangle 71"/>
          <p:cNvSpPr/>
          <p:nvPr/>
        </p:nvSpPr>
        <p:spPr>
          <a:xfrm>
            <a:off x="7882127" y="4535424"/>
            <a:ext cx="3651199" cy="1316736"/>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ounded Rectangle 72"/>
          <p:cNvSpPr/>
          <p:nvPr/>
        </p:nvSpPr>
        <p:spPr>
          <a:xfrm>
            <a:off x="7882127" y="4535424"/>
            <a:ext cx="68580" cy="1316736"/>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8138159" y="4690872"/>
            <a:ext cx="3193999" cy="236220"/>
          </a:xfrm>
          <a:prstGeom prst="rect">
            <a:avLst/>
          </a:prstGeom>
          <a:noFill/>
        </p:spPr>
        <p:txBody>
          <a:bodyPr wrap="square" anchor="t" lIns="0" rIns="0" tIns="0" bIns="0">
            <a:spAutoFit/>
          </a:bodyPr>
          <a:lstStyle/>
          <a:p>
            <a:pPr algn="l">
              <a:lnSpc>
                <a:spcPct val="105000"/>
              </a:lnSpc>
              <a:spcAft>
                <a:spcPts val="0"/>
              </a:spcAft>
            </a:pPr>
            <a:r>
              <a:rPr sz="1250" b="1" i="0">
                <a:solidFill>
                  <a:srgbClr val="0F172A"/>
                </a:solidFill>
                <a:latin typeface="Segoe UI"/>
              </a:rPr>
              <a:t>The only class that ever misses</a:t>
            </a:r>
          </a:p>
        </p:txBody>
      </p:sp>
      <p:sp>
        <p:nvSpPr>
          <p:cNvPr id="75" name="TextBox 74"/>
          <p:cNvSpPr txBox="1"/>
          <p:nvPr/>
        </p:nvSpPr>
        <p:spPr>
          <a:xfrm>
            <a:off x="8138159" y="4927092"/>
            <a:ext cx="3193999" cy="769619"/>
          </a:xfrm>
          <a:prstGeom prst="rect">
            <a:avLst/>
          </a:prstGeom>
          <a:noFill/>
        </p:spPr>
        <p:txBody>
          <a:bodyPr wrap="square" anchor="t" lIns="0" rIns="0" tIns="0" bIns="0">
            <a:spAutoFit/>
          </a:bodyPr>
          <a:lstStyle/>
          <a:p>
            <a:pPr algn="l">
              <a:lnSpc>
                <a:spcPct val="115000"/>
              </a:lnSpc>
              <a:spcAft>
                <a:spcPts val="0"/>
              </a:spcAft>
            </a:pPr>
            <a:r>
              <a:rPr sz="1050" b="0" i="0">
                <a:solidFill>
                  <a:srgbClr val="4B5A70"/>
                </a:solidFill>
                <a:latin typeface="Segoe UI"/>
              </a:rPr>
              <a:t>Inpainting can reproduce a block's own top 6 bits exactly, leaving the tag valid. 22 such blocks across the whole grid — recall 0.99999, reported as a known category.</a:t>
            </a:r>
          </a:p>
        </p:txBody>
      </p:sp>
      <p:sp>
        <p:nvSpPr>
          <p:cNvPr id="76" name="Rounded Rectangle 75"/>
          <p:cNvSpPr/>
          <p:nvPr/>
        </p:nvSpPr>
        <p:spPr>
          <a:xfrm>
            <a:off x="658368" y="5833872"/>
            <a:ext cx="10874959" cy="502920"/>
          </a:xfrm>
          <a:prstGeom prst="roundRect">
            <a:avLst>
              <a:gd name="adj" fmla="val 6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ounded Rectangle 76"/>
          <p:cNvSpPr/>
          <p:nvPr/>
        </p:nvSpPr>
        <p:spPr>
          <a:xfrm>
            <a:off x="658368" y="5833872"/>
            <a:ext cx="64008" cy="5029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932688" y="5833872"/>
            <a:ext cx="10326319" cy="502920"/>
          </a:xfrm>
          <a:prstGeom prst="rect">
            <a:avLst/>
          </a:prstGeom>
          <a:noFill/>
        </p:spPr>
        <p:txBody>
          <a:bodyPr wrap="square" anchor="ctr" lIns="0" rIns="0" tIns="0" bIns="0">
            <a:spAutoFit/>
          </a:bodyPr>
          <a:lstStyle/>
          <a:p>
            <a:pPr algn="l">
              <a:lnSpc>
                <a:spcPct val="110000"/>
              </a:lnSpc>
              <a:spcAft>
                <a:spcPts val="0"/>
              </a:spcAft>
            </a:pPr>
            <a:r>
              <a:rPr sz="1300" b="1" i="0">
                <a:solidFill>
                  <a:srgbClr val="E6EDF6"/>
                </a:solidFill>
                <a:latin typeface="Segoe UI"/>
              </a:rPr>
              <a:t>Pixel precision 0.9599 is the 8×8 grid reporting a whole block when only part of it moved — quantization, not a false alarm.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10 · RESULTS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Recovery — coverage follows the structural bound</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19</a:t>
            </a:r>
          </a:p>
        </p:txBody>
      </p:sp>
      <p:pic>
        <p:nvPicPr>
          <p:cNvPr id="9" name="Picture 8" descr="rho_curve.png"/>
          <p:cNvPicPr>
            <a:picLocks noChangeAspect="1"/>
          </p:cNvPicPr>
          <p:nvPr/>
        </p:nvPicPr>
        <p:blipFill>
          <a:blip r:embed="rId2"/>
          <a:stretch>
            <a:fillRect/>
          </a:stretch>
        </p:blipFill>
        <p:spPr>
          <a:xfrm>
            <a:off x="658368" y="1645920"/>
            <a:ext cx="6537960" cy="3984069"/>
          </a:xfrm>
          <a:prstGeom prst="rect">
            <a:avLst/>
          </a:prstGeom>
        </p:spPr>
      </p:pic>
      <p:sp>
        <p:nvSpPr>
          <p:cNvPr id="10" name="Rounded Rectangle 9"/>
          <p:cNvSpPr/>
          <p:nvPr/>
        </p:nvSpPr>
        <p:spPr>
          <a:xfrm>
            <a:off x="7516368" y="1572768"/>
            <a:ext cx="4016959" cy="132588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7516368" y="1572768"/>
            <a:ext cx="68580" cy="1325880"/>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0" y="1728216"/>
            <a:ext cx="355975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ρ does not fall off a cliff</a:t>
            </a:r>
          </a:p>
        </p:txBody>
      </p:sp>
      <p:sp>
        <p:nvSpPr>
          <p:cNvPr id="13" name="TextBox 12"/>
          <p:cNvSpPr txBox="1"/>
          <p:nvPr/>
        </p:nvSpPr>
        <p:spPr>
          <a:xfrm>
            <a:off x="7772400" y="1972056"/>
            <a:ext cx="3559759" cy="771143"/>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Monotone and near-linear from 0.959 at α = 0.10 to 0.358 at α = 0.70. The seven-ratio grid refutes the collapse this project originally expected to find.</a:t>
            </a:r>
          </a:p>
        </p:txBody>
      </p:sp>
      <p:sp>
        <p:nvSpPr>
          <p:cNvPr id="14" name="Rounded Rectangle 13"/>
          <p:cNvSpPr/>
          <p:nvPr/>
        </p:nvSpPr>
        <p:spPr>
          <a:xfrm>
            <a:off x="7516368" y="3017520"/>
            <a:ext cx="4016959" cy="132588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516368" y="3017520"/>
            <a:ext cx="68580" cy="132588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772400" y="3172968"/>
            <a:ext cx="355975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It stays above the bound</a:t>
            </a:r>
          </a:p>
        </p:txBody>
      </p:sp>
      <p:sp>
        <p:nvSpPr>
          <p:cNvPr id="17" name="TextBox 16"/>
          <p:cNvSpPr txBox="1"/>
          <p:nvPr/>
        </p:nvSpPr>
        <p:spPr>
          <a:xfrm>
            <a:off x="7772400" y="3416807"/>
            <a:ext cx="3559759" cy="771143"/>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ρ sits 3–6 points above 1 − α at every ratio: contiguous tamper regions coincide with their own partners slightly less than uniform placement predicts.</a:t>
            </a:r>
          </a:p>
        </p:txBody>
      </p:sp>
      <p:sp>
        <p:nvSpPr>
          <p:cNvPr id="18" name="Rounded Rectangle 17"/>
          <p:cNvSpPr/>
          <p:nvPr/>
        </p:nvSpPr>
        <p:spPr>
          <a:xfrm>
            <a:off x="7516368" y="4462272"/>
            <a:ext cx="4016959" cy="132588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7516368" y="4462272"/>
            <a:ext cx="68580" cy="13258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0" y="4617720"/>
            <a:ext cx="355975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The ceiling is structural</a:t>
            </a:r>
          </a:p>
        </p:txBody>
      </p:sp>
      <p:sp>
        <p:nvSpPr>
          <p:cNvPr id="21" name="TextBox 20"/>
          <p:cNvSpPr txBox="1"/>
          <p:nvPr/>
        </p:nvSpPr>
        <p:spPr>
          <a:xfrm>
            <a:off x="7772400" y="4861560"/>
            <a:ext cx="3559759" cy="771143"/>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One block, one backup. Raising the tolerable ratio needs reference sharing or fountain coding — not a better descriptor.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10 · RESULTS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Recovery fidelity — two different questions</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20</a:t>
            </a:r>
          </a:p>
        </p:txBody>
      </p:sp>
      <p:pic>
        <p:nvPicPr>
          <p:cNvPr id="9" name="Picture 8" descr="psnr_split.png"/>
          <p:cNvPicPr>
            <a:picLocks noChangeAspect="1"/>
          </p:cNvPicPr>
          <p:nvPr/>
        </p:nvPicPr>
        <p:blipFill>
          <a:blip r:embed="rId2"/>
          <a:stretch>
            <a:fillRect/>
          </a:stretch>
        </p:blipFill>
        <p:spPr>
          <a:xfrm>
            <a:off x="658368" y="1645920"/>
            <a:ext cx="6537960" cy="3973854"/>
          </a:xfrm>
          <a:prstGeom prst="rect">
            <a:avLst/>
          </a:prstGeom>
        </p:spPr>
      </p:pic>
      <p:sp>
        <p:nvSpPr>
          <p:cNvPr id="10" name="Rounded Rectangle 9"/>
          <p:cNvSpPr/>
          <p:nvPr/>
        </p:nvSpPr>
        <p:spPr>
          <a:xfrm>
            <a:off x="7516368" y="1572768"/>
            <a:ext cx="4016959"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7516368" y="1572768"/>
            <a:ext cx="68580" cy="1417320"/>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0" y="1728216"/>
            <a:ext cx="355975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In-region PSNR is flat</a:t>
            </a:r>
          </a:p>
        </p:txBody>
      </p:sp>
      <p:sp>
        <p:nvSpPr>
          <p:cNvPr id="13" name="TextBox 12"/>
          <p:cNvSpPr txBox="1"/>
          <p:nvPr/>
        </p:nvSpPr>
        <p:spPr>
          <a:xfrm>
            <a:off x="7772400" y="1972056"/>
            <a:ext cx="3559759" cy="862584"/>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How good a rebuilt block looks depends on the descriptor, not on how much of the image was hit. It holds ≈28.5 dB (A) and ≈31.1 dB (C) at every ratio from 10% to 70%.</a:t>
            </a:r>
          </a:p>
        </p:txBody>
      </p:sp>
      <p:sp>
        <p:nvSpPr>
          <p:cNvPr id="14" name="Rounded Rectangle 13"/>
          <p:cNvSpPr/>
          <p:nvPr/>
        </p:nvSpPr>
        <p:spPr>
          <a:xfrm>
            <a:off x="7516368" y="3108960"/>
            <a:ext cx="4016959"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516368" y="3108960"/>
            <a:ext cx="68580" cy="1417320"/>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772400" y="3264408"/>
            <a:ext cx="355975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Whole-image PSNR falls</a:t>
            </a:r>
          </a:p>
        </p:txBody>
      </p:sp>
      <p:sp>
        <p:nvSpPr>
          <p:cNvPr id="17" name="TextBox 16"/>
          <p:cNvSpPr txBox="1"/>
          <p:nvPr/>
        </p:nvSpPr>
        <p:spPr>
          <a:xfrm>
            <a:off x="7772400" y="3508248"/>
            <a:ext cx="3559759" cy="862584"/>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That number is driven by coverage ρ, not fidelity: at high α more blocks are unrecoverable, and each one is left declared rather than rebuilt.</a:t>
            </a:r>
          </a:p>
        </p:txBody>
      </p:sp>
      <p:sp>
        <p:nvSpPr>
          <p:cNvPr id="18" name="Rounded Rectangle 17"/>
          <p:cNvSpPr/>
          <p:nvPr/>
        </p:nvSpPr>
        <p:spPr>
          <a:xfrm>
            <a:off x="7516368" y="4645152"/>
            <a:ext cx="4016959" cy="11430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7516368" y="4645152"/>
            <a:ext cx="68580" cy="114300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0" y="4800600"/>
            <a:ext cx="3559759"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Variant C earns its default</a:t>
            </a:r>
          </a:p>
        </p:txBody>
      </p:sp>
      <p:sp>
        <p:nvSpPr>
          <p:cNvPr id="21" name="TextBox 20"/>
          <p:cNvSpPr txBox="1"/>
          <p:nvPr/>
        </p:nvSpPr>
        <p:spPr>
          <a:xfrm>
            <a:off x="7772400" y="5044440"/>
            <a:ext cx="3559759" cy="588264"/>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Rate–distortion descriptor allocation buys ≈2.6 dB of in-region quality at identical watermark PSNR.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10 · RESULTS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Comparison with published work</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21</a:t>
            </a:r>
          </a:p>
        </p:txBody>
      </p:sp>
      <p:sp>
        <p:nvSpPr>
          <p:cNvPr id="9" name="Rectangle 8"/>
          <p:cNvSpPr/>
          <p:nvPr/>
        </p:nvSpPr>
        <p:spPr>
          <a:xfrm>
            <a:off x="658368" y="1773936"/>
            <a:ext cx="10874959" cy="36576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1792224"/>
            <a:ext cx="3300984" cy="365760"/>
          </a:xfrm>
          <a:prstGeom prst="rect">
            <a:avLst/>
          </a:prstGeom>
          <a:noFill/>
        </p:spPr>
        <p:txBody>
          <a:bodyPr wrap="square" anchor="ctr" lIns="0" rIns="0" tIns="0" bIns="0">
            <a:spAutoFit/>
          </a:bodyPr>
          <a:lstStyle/>
          <a:p>
            <a:pPr algn="l">
              <a:lnSpc>
                <a:spcPct val="100000"/>
              </a:lnSpc>
              <a:spcAft>
                <a:spcPts val="0"/>
              </a:spcAft>
            </a:pPr>
            <a:r>
              <a:rPr sz="1050" b="1" i="0">
                <a:solidFill>
                  <a:srgbClr val="E6EDF6"/>
                </a:solidFill>
                <a:latin typeface="Segoe UI"/>
              </a:rPr>
              <a:t>Method</a:t>
            </a:r>
          </a:p>
        </p:txBody>
      </p:sp>
      <p:sp>
        <p:nvSpPr>
          <p:cNvPr id="11" name="TextBox 10"/>
          <p:cNvSpPr txBox="1"/>
          <p:nvPr/>
        </p:nvSpPr>
        <p:spPr>
          <a:xfrm>
            <a:off x="4288536" y="1792224"/>
            <a:ext cx="101498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WM PSNR</a:t>
            </a:r>
          </a:p>
        </p:txBody>
      </p:sp>
      <p:sp>
        <p:nvSpPr>
          <p:cNvPr id="12" name="TextBox 11"/>
          <p:cNvSpPr txBox="1"/>
          <p:nvPr/>
        </p:nvSpPr>
        <p:spPr>
          <a:xfrm>
            <a:off x="5522976" y="1792224"/>
            <a:ext cx="92354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WM SSIM</a:t>
            </a:r>
          </a:p>
        </p:txBody>
      </p:sp>
      <p:sp>
        <p:nvSpPr>
          <p:cNvPr id="13" name="TextBox 12"/>
          <p:cNvSpPr txBox="1"/>
          <p:nvPr/>
        </p:nvSpPr>
        <p:spPr>
          <a:xfrm>
            <a:off x="6665976" y="1792224"/>
            <a:ext cx="1929384"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Recovered PSNR</a:t>
            </a:r>
          </a:p>
        </p:txBody>
      </p:sp>
      <p:sp>
        <p:nvSpPr>
          <p:cNvPr id="14" name="TextBox 13"/>
          <p:cNvSpPr txBox="1"/>
          <p:nvPr/>
        </p:nvSpPr>
        <p:spPr>
          <a:xfrm>
            <a:off x="8814815" y="1792224"/>
            <a:ext cx="2606039" cy="365760"/>
          </a:xfrm>
          <a:prstGeom prst="rect">
            <a:avLst/>
          </a:prstGeom>
          <a:noFill/>
        </p:spPr>
        <p:txBody>
          <a:bodyPr wrap="square" anchor="ctr" lIns="0" rIns="0" tIns="0" bIns="0">
            <a:spAutoFit/>
          </a:bodyPr>
          <a:lstStyle/>
          <a:p>
            <a:pPr algn="ctr">
              <a:lnSpc>
                <a:spcPct val="100000"/>
              </a:lnSpc>
              <a:spcAft>
                <a:spcPts val="0"/>
              </a:spcAft>
            </a:pPr>
            <a:r>
              <a:rPr sz="1050" b="1" i="0">
                <a:solidFill>
                  <a:srgbClr val="E6EDF6"/>
                </a:solidFill>
                <a:latin typeface="Segoe UI"/>
              </a:rPr>
              <a:t>Note</a:t>
            </a:r>
          </a:p>
        </p:txBody>
      </p:sp>
      <p:sp>
        <p:nvSpPr>
          <p:cNvPr id="15" name="Rectangle 14"/>
          <p:cNvSpPr/>
          <p:nvPr/>
        </p:nvSpPr>
        <p:spPr>
          <a:xfrm>
            <a:off x="658368" y="2139696"/>
            <a:ext cx="10874959" cy="402336"/>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2531059"/>
            <a:ext cx="10874959"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86384" y="2139696"/>
            <a:ext cx="3264408" cy="402336"/>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AuSR1 (Aminuddin &amp; Ernawan 2022)</a:t>
            </a:r>
          </a:p>
        </p:txBody>
      </p:sp>
      <p:sp>
        <p:nvSpPr>
          <p:cNvPr id="18" name="TextBox 17"/>
          <p:cNvSpPr txBox="1"/>
          <p:nvPr/>
        </p:nvSpPr>
        <p:spPr>
          <a:xfrm>
            <a:off x="4306824" y="2139696"/>
            <a:ext cx="97840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45.57</a:t>
            </a:r>
          </a:p>
        </p:txBody>
      </p:sp>
      <p:sp>
        <p:nvSpPr>
          <p:cNvPr id="19" name="TextBox 18"/>
          <p:cNvSpPr txBox="1"/>
          <p:nvPr/>
        </p:nvSpPr>
        <p:spPr>
          <a:xfrm>
            <a:off x="5541264" y="2139696"/>
            <a:ext cx="88696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≈0.99</a:t>
            </a:r>
          </a:p>
        </p:txBody>
      </p:sp>
      <p:sp>
        <p:nvSpPr>
          <p:cNvPr id="20" name="TextBox 19"/>
          <p:cNvSpPr txBox="1"/>
          <p:nvPr/>
        </p:nvSpPr>
        <p:spPr>
          <a:xfrm>
            <a:off x="6684264" y="2139696"/>
            <a:ext cx="189280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27.64</a:t>
            </a:r>
          </a:p>
        </p:txBody>
      </p:sp>
      <p:sp>
        <p:nvSpPr>
          <p:cNvPr id="21" name="TextBox 20"/>
          <p:cNvSpPr txBox="1"/>
          <p:nvPr/>
        </p:nvSpPr>
        <p:spPr>
          <a:xfrm>
            <a:off x="8833104" y="2139696"/>
            <a:ext cx="2569463"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worst case reported; 2×2 blocks</a:t>
            </a:r>
          </a:p>
        </p:txBody>
      </p:sp>
      <p:sp>
        <p:nvSpPr>
          <p:cNvPr id="22" name="Rectangle 21"/>
          <p:cNvSpPr/>
          <p:nvPr/>
        </p:nvSpPr>
        <p:spPr>
          <a:xfrm>
            <a:off x="658368" y="2542032"/>
            <a:ext cx="10874959"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2933395"/>
            <a:ext cx="10874959"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6384" y="2542032"/>
            <a:ext cx="3264408" cy="402336"/>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Wu et al. (CMC 2026)</a:t>
            </a:r>
          </a:p>
        </p:txBody>
      </p:sp>
      <p:sp>
        <p:nvSpPr>
          <p:cNvPr id="25" name="TextBox 24"/>
          <p:cNvSpPr txBox="1"/>
          <p:nvPr/>
        </p:nvSpPr>
        <p:spPr>
          <a:xfrm>
            <a:off x="4306824" y="2542032"/>
            <a:ext cx="97840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&gt; 41</a:t>
            </a:r>
          </a:p>
        </p:txBody>
      </p:sp>
      <p:sp>
        <p:nvSpPr>
          <p:cNvPr id="26" name="TextBox 25"/>
          <p:cNvSpPr txBox="1"/>
          <p:nvPr/>
        </p:nvSpPr>
        <p:spPr>
          <a:xfrm>
            <a:off x="5541264" y="2542032"/>
            <a:ext cx="88696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a:t>
            </a:r>
          </a:p>
        </p:txBody>
      </p:sp>
      <p:sp>
        <p:nvSpPr>
          <p:cNvPr id="27" name="TextBox 26"/>
          <p:cNvSpPr txBox="1"/>
          <p:nvPr/>
        </p:nvSpPr>
        <p:spPr>
          <a:xfrm>
            <a:off x="6684264" y="2542032"/>
            <a:ext cx="189280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&gt; 30 @ 50% tamper</a:t>
            </a:r>
          </a:p>
        </p:txBody>
      </p:sp>
      <p:sp>
        <p:nvSpPr>
          <p:cNvPr id="28" name="TextBox 27"/>
          <p:cNvSpPr txBox="1"/>
          <p:nvPr/>
        </p:nvSpPr>
        <p:spPr>
          <a:xfrm>
            <a:off x="8833104" y="2542032"/>
            <a:ext cx="2569463"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 FPR/FNR reported</a:t>
            </a:r>
          </a:p>
        </p:txBody>
      </p:sp>
      <p:sp>
        <p:nvSpPr>
          <p:cNvPr id="29" name="Rectangle 28"/>
          <p:cNvSpPr/>
          <p:nvPr/>
        </p:nvSpPr>
        <p:spPr>
          <a:xfrm>
            <a:off x="658368" y="2944368"/>
            <a:ext cx="10874959" cy="402336"/>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58368" y="3335731"/>
            <a:ext cx="10874959" cy="10972"/>
          </a:xfrm>
          <a:prstGeom prst="rect">
            <a:avLst/>
          </a:prstGeom>
          <a:solidFill>
            <a:srgbClr val="DDE4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86384" y="2944368"/>
            <a:ext cx="3264408" cy="402336"/>
          </a:xfrm>
          <a:prstGeom prst="rect">
            <a:avLst/>
          </a:prstGeom>
          <a:noFill/>
        </p:spPr>
        <p:txBody>
          <a:bodyPr wrap="square" anchor="ctr" lIns="0" rIns="0" tIns="0" bIns="0">
            <a:spAutoFit/>
          </a:bodyPr>
          <a:lstStyle/>
          <a:p>
            <a:pPr algn="l">
              <a:lnSpc>
                <a:spcPct val="100000"/>
              </a:lnSpc>
              <a:spcAft>
                <a:spcPts val="0"/>
              </a:spcAft>
            </a:pPr>
            <a:r>
              <a:rPr sz="1100" b="0" i="0">
                <a:solidFill>
                  <a:srgbClr val="0F172A"/>
                </a:solidFill>
                <a:latin typeface="Segoe UI"/>
              </a:rPr>
              <a:t>Korus &amp; Dziech (IEEE TIP 2013)</a:t>
            </a:r>
          </a:p>
        </p:txBody>
      </p:sp>
      <p:sp>
        <p:nvSpPr>
          <p:cNvPr id="32" name="TextBox 31"/>
          <p:cNvSpPr txBox="1"/>
          <p:nvPr/>
        </p:nvSpPr>
        <p:spPr>
          <a:xfrm>
            <a:off x="4306824" y="2944368"/>
            <a:ext cx="97840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a:t>
            </a:r>
          </a:p>
        </p:txBody>
      </p:sp>
      <p:sp>
        <p:nvSpPr>
          <p:cNvPr id="33" name="TextBox 32"/>
          <p:cNvSpPr txBox="1"/>
          <p:nvPr/>
        </p:nvSpPr>
        <p:spPr>
          <a:xfrm>
            <a:off x="5541264" y="2944368"/>
            <a:ext cx="88696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a:t>
            </a:r>
          </a:p>
        </p:txBody>
      </p:sp>
      <p:sp>
        <p:nvSpPr>
          <p:cNvPr id="34" name="TextBox 33"/>
          <p:cNvSpPr txBox="1"/>
          <p:nvPr/>
        </p:nvSpPr>
        <p:spPr>
          <a:xfrm>
            <a:off x="6684264" y="2944368"/>
            <a:ext cx="189280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37 @ 50% damage</a:t>
            </a:r>
          </a:p>
        </p:txBody>
      </p:sp>
      <p:sp>
        <p:nvSpPr>
          <p:cNvPr id="35" name="TextBox 34"/>
          <p:cNvSpPr txBox="1"/>
          <p:nvPr/>
        </p:nvSpPr>
        <p:spPr>
          <a:xfrm>
            <a:off x="8833104" y="2944368"/>
            <a:ext cx="2569463"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fountain codes, &gt; 10,000 images</a:t>
            </a:r>
          </a:p>
        </p:txBody>
      </p:sp>
      <p:sp>
        <p:nvSpPr>
          <p:cNvPr id="36" name="Rectangle 35"/>
          <p:cNvSpPr/>
          <p:nvPr/>
        </p:nvSpPr>
        <p:spPr>
          <a:xfrm>
            <a:off x="658368" y="3346704"/>
            <a:ext cx="10874959"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58368" y="3346704"/>
            <a:ext cx="50292" cy="40233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86384" y="3346704"/>
            <a:ext cx="3264408" cy="402336"/>
          </a:xfrm>
          <a:prstGeom prst="rect">
            <a:avLst/>
          </a:prstGeom>
          <a:noFill/>
        </p:spPr>
        <p:txBody>
          <a:bodyPr wrap="square" anchor="ctr" lIns="0" rIns="0" tIns="0" bIns="0">
            <a:spAutoFit/>
          </a:bodyPr>
          <a:lstStyle/>
          <a:p>
            <a:pPr algn="l">
              <a:lnSpc>
                <a:spcPct val="100000"/>
              </a:lnSpc>
              <a:spcAft>
                <a:spcPts val="0"/>
              </a:spcAft>
            </a:pPr>
            <a:r>
              <a:rPr sz="1100" b="1" i="0">
                <a:solidFill>
                  <a:srgbClr val="0F172A"/>
                </a:solidFill>
                <a:latin typeface="Segoe UI"/>
              </a:rPr>
              <a:t>Ours (measured, Variant A)</a:t>
            </a:r>
          </a:p>
        </p:txBody>
      </p:sp>
      <p:sp>
        <p:nvSpPr>
          <p:cNvPr id="39" name="TextBox 38"/>
          <p:cNvSpPr txBox="1"/>
          <p:nvPr/>
        </p:nvSpPr>
        <p:spPr>
          <a:xfrm>
            <a:off x="4306824" y="3346704"/>
            <a:ext cx="97840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45.48</a:t>
            </a:r>
          </a:p>
        </p:txBody>
      </p:sp>
      <p:sp>
        <p:nvSpPr>
          <p:cNvPr id="40" name="TextBox 39"/>
          <p:cNvSpPr txBox="1"/>
          <p:nvPr/>
        </p:nvSpPr>
        <p:spPr>
          <a:xfrm>
            <a:off x="5541264" y="3346704"/>
            <a:ext cx="88696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0.9885</a:t>
            </a:r>
          </a:p>
        </p:txBody>
      </p:sp>
      <p:sp>
        <p:nvSpPr>
          <p:cNvPr id="41" name="TextBox 40"/>
          <p:cNvSpPr txBox="1"/>
          <p:nvPr/>
        </p:nvSpPr>
        <p:spPr>
          <a:xfrm>
            <a:off x="6684264" y="3346704"/>
            <a:ext cx="1892808"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17.39 @ 50% tamper</a:t>
            </a:r>
          </a:p>
        </p:txBody>
      </p:sp>
      <p:sp>
        <p:nvSpPr>
          <p:cNvPr id="42" name="TextBox 41"/>
          <p:cNvSpPr txBox="1"/>
          <p:nvPr/>
        </p:nvSpPr>
        <p:spPr>
          <a:xfrm>
            <a:off x="8833104" y="3346704"/>
            <a:ext cx="2569463" cy="402336"/>
          </a:xfrm>
          <a:prstGeom prst="rect">
            <a:avLst/>
          </a:prstGeom>
          <a:noFill/>
        </p:spPr>
        <p:txBody>
          <a:bodyPr wrap="square" anchor="ctr" lIns="0" rIns="0" tIns="0" bIns="0">
            <a:spAutoFit/>
          </a:bodyPr>
          <a:lstStyle/>
          <a:p>
            <a:pPr algn="ctr">
              <a:lnSpc>
                <a:spcPct val="100000"/>
              </a:lnSpc>
              <a:spcAft>
                <a:spcPts val="0"/>
              </a:spcAft>
            </a:pPr>
            <a:r>
              <a:rPr sz="1100" b="0" i="0">
                <a:solidFill>
                  <a:srgbClr val="0F172A"/>
                </a:solidFill>
                <a:latin typeface="Segoe UI"/>
              </a:rPr>
              <a:t>marked (honest) output: 12.40 dB</a:t>
            </a:r>
          </a:p>
        </p:txBody>
      </p:sp>
      <p:sp>
        <p:nvSpPr>
          <p:cNvPr id="43" name="TextBox 42"/>
          <p:cNvSpPr txBox="1"/>
          <p:nvPr/>
        </p:nvSpPr>
        <p:spPr>
          <a:xfrm>
            <a:off x="658368" y="1499616"/>
            <a:ext cx="10874959" cy="274320"/>
          </a:xfrm>
          <a:prstGeom prst="rect">
            <a:avLst/>
          </a:prstGeom>
          <a:noFill/>
        </p:spPr>
        <p:txBody>
          <a:bodyPr wrap="square" anchor="t" lIns="0" rIns="0" tIns="0" bIns="0">
            <a:spAutoFit/>
          </a:bodyPr>
          <a:lstStyle/>
          <a:p>
            <a:pPr algn="l">
              <a:lnSpc>
                <a:spcPct val="100000"/>
              </a:lnSpc>
              <a:spcAft>
                <a:spcPts val="0"/>
              </a:spcAft>
            </a:pPr>
            <a:r>
              <a:rPr sz="1000" b="1" i="0">
                <a:solidFill>
                  <a:srgbClr val="0EA5A4"/>
                </a:solidFill>
                <a:latin typeface="Segoe UI"/>
              </a:rPr>
              <a:t>CITED FROM PUBLICATIONS, NOT RE-IMPLEMENTED</a:t>
            </a:r>
          </a:p>
        </p:txBody>
      </p:sp>
      <p:sp>
        <p:nvSpPr>
          <p:cNvPr id="44" name="Rounded Rectangle 43"/>
          <p:cNvSpPr/>
          <p:nvPr/>
        </p:nvSpPr>
        <p:spPr>
          <a:xfrm>
            <a:off x="658368" y="3968496"/>
            <a:ext cx="3478682" cy="148132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658368" y="3968496"/>
            <a:ext cx="68580" cy="148132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14400" y="4123944"/>
            <a:ext cx="3021482"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The gap is real and it is ours</a:t>
            </a:r>
          </a:p>
        </p:txBody>
      </p:sp>
      <p:sp>
        <p:nvSpPr>
          <p:cNvPr id="47" name="TextBox 46"/>
          <p:cNvSpPr txBox="1"/>
          <p:nvPr/>
        </p:nvSpPr>
        <p:spPr>
          <a:xfrm>
            <a:off x="914400" y="4367784"/>
            <a:ext cx="3021482" cy="926592"/>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Korus &amp; Dziech report 37 dB at 50% damage where this scheme reaches 17.39 dB. Fountain coding degrades gracefully; one-to-one mapping does not.</a:t>
            </a:r>
          </a:p>
        </p:txBody>
      </p:sp>
      <p:sp>
        <p:nvSpPr>
          <p:cNvPr id="48" name="Rounded Rectangle 47"/>
          <p:cNvSpPr/>
          <p:nvPr/>
        </p:nvSpPr>
        <p:spPr>
          <a:xfrm>
            <a:off x="4356506" y="3968496"/>
            <a:ext cx="3478682" cy="148132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4356506" y="3968496"/>
            <a:ext cx="68580" cy="148132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612538" y="4123944"/>
            <a:ext cx="3021482" cy="44196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Two conventions, stated plainly</a:t>
            </a:r>
          </a:p>
        </p:txBody>
      </p:sp>
      <p:sp>
        <p:nvSpPr>
          <p:cNvPr id="51" name="TextBox 50"/>
          <p:cNvSpPr txBox="1"/>
          <p:nvPr/>
        </p:nvSpPr>
        <p:spPr>
          <a:xfrm>
            <a:off x="4612538" y="4565904"/>
            <a:ext cx="3021482" cy="728472"/>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17.39 dB leaves unrecoverable regions as received, the convention those papers use. Our actual default marks them instead — 12.40 dB, and honest.</a:t>
            </a:r>
          </a:p>
        </p:txBody>
      </p:sp>
      <p:sp>
        <p:nvSpPr>
          <p:cNvPr id="52" name="Rounded Rectangle 51"/>
          <p:cNvSpPr/>
          <p:nvPr/>
        </p:nvSpPr>
        <p:spPr>
          <a:xfrm>
            <a:off x="8054644" y="3968496"/>
            <a:ext cx="3478682" cy="148132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8054644" y="3968496"/>
            <a:ext cx="68580" cy="1481328"/>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310676" y="4123944"/>
            <a:ext cx="3021482" cy="243840"/>
          </a:xfrm>
          <a:prstGeom prst="rect">
            <a:avLst/>
          </a:prstGeom>
          <a:noFill/>
        </p:spPr>
        <p:txBody>
          <a:bodyPr wrap="square" anchor="t" lIns="0" rIns="0" tIns="0" bIns="0">
            <a:spAutoFit/>
          </a:bodyPr>
          <a:lstStyle/>
          <a:p>
            <a:pPr algn="l">
              <a:lnSpc>
                <a:spcPct val="105000"/>
              </a:lnSpc>
              <a:spcAft>
                <a:spcPts val="0"/>
              </a:spcAft>
            </a:pPr>
            <a:r>
              <a:rPr sz="1300" b="1" i="0">
                <a:solidFill>
                  <a:srgbClr val="0F172A"/>
                </a:solidFill>
                <a:latin typeface="Segoe UI"/>
              </a:rPr>
              <a:t>What is defensible here</a:t>
            </a:r>
          </a:p>
        </p:txBody>
      </p:sp>
      <p:sp>
        <p:nvSpPr>
          <p:cNvPr id="55" name="TextBox 54"/>
          <p:cNvSpPr txBox="1"/>
          <p:nvPr/>
        </p:nvSpPr>
        <p:spPr>
          <a:xfrm>
            <a:off x="8310676" y="4367784"/>
            <a:ext cx="3021482" cy="926592"/>
          </a:xfrm>
          <a:prstGeom prst="rect">
            <a:avLst/>
          </a:prstGeom>
          <a:noFill/>
        </p:spPr>
        <p:txBody>
          <a:bodyPr wrap="square" anchor="t" lIns="0" rIns="0" tIns="0" bIns="0">
            <a:spAutoFit/>
          </a:bodyPr>
          <a:lstStyle/>
          <a:p>
            <a:pPr algn="l">
              <a:lnSpc>
                <a:spcPct val="115000"/>
              </a:lnSpc>
              <a:spcAft>
                <a:spcPts val="0"/>
              </a:spcAft>
            </a:pPr>
            <a:r>
              <a:rPr sz="1100" b="0" i="0">
                <a:solidFill>
                  <a:srgbClr val="4B5A70"/>
                </a:solidFill>
                <a:latin typeface="Segoe UI"/>
              </a:rPr>
              <a:t>Not recovery itself. Zero training data, zero GPU, deterministic output, and every decision re-checkable by a third party holding the key.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10 · RESULTS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Limitations, stated before anyone asks</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22</a:t>
            </a:r>
          </a:p>
        </p:txBody>
      </p:sp>
      <p:sp>
        <p:nvSpPr>
          <p:cNvPr id="9" name="TextBox 8"/>
          <p:cNvSpPr txBox="1"/>
          <p:nvPr/>
        </p:nvSpPr>
        <p:spPr>
          <a:xfrm>
            <a:off x="658368" y="1499616"/>
            <a:ext cx="5806440" cy="274320"/>
          </a:xfrm>
          <a:prstGeom prst="rect">
            <a:avLst/>
          </a:prstGeom>
          <a:noFill/>
        </p:spPr>
        <p:txBody>
          <a:bodyPr wrap="square" anchor="t" lIns="0" rIns="0" tIns="0" bIns="0">
            <a:spAutoFit/>
          </a:bodyPr>
          <a:lstStyle/>
          <a:p>
            <a:pPr algn="l">
              <a:lnSpc>
                <a:spcPct val="100000"/>
              </a:lnSpc>
              <a:spcAft>
                <a:spcPts val="0"/>
              </a:spcAft>
            </a:pPr>
            <a:r>
              <a:rPr sz="1050" b="1" i="0">
                <a:solidFill>
                  <a:srgbClr val="E11D48"/>
                </a:solidFill>
                <a:latin typeface="Segoe UI"/>
              </a:rPr>
              <a:t>LIMITATIONS</a:t>
            </a:r>
          </a:p>
        </p:txBody>
      </p:sp>
      <p:sp>
        <p:nvSpPr>
          <p:cNvPr id="10" name="Rounded Rectangle 9"/>
          <p:cNvSpPr/>
          <p:nvPr/>
        </p:nvSpPr>
        <p:spPr>
          <a:xfrm>
            <a:off x="658368" y="1810512"/>
            <a:ext cx="5806440"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58368" y="1810512"/>
            <a:ext cx="50292" cy="65836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1892807"/>
            <a:ext cx="548640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Fragile to benign processing</a:t>
            </a:r>
          </a:p>
        </p:txBody>
      </p:sp>
      <p:sp>
        <p:nvSpPr>
          <p:cNvPr id="13" name="TextBox 12"/>
          <p:cNvSpPr txBox="1"/>
          <p:nvPr/>
        </p:nvSpPr>
        <p:spPr>
          <a:xfrm>
            <a:off x="877824" y="2157984"/>
            <a:ext cx="54864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JPEG, resizing and filtering destroy the mark. The pipeline must be lossless end to end.</a:t>
            </a:r>
          </a:p>
        </p:txBody>
      </p:sp>
      <p:sp>
        <p:nvSpPr>
          <p:cNvPr id="14" name="Rounded Rectangle 13"/>
          <p:cNvSpPr/>
          <p:nvPr/>
        </p:nvSpPr>
        <p:spPr>
          <a:xfrm>
            <a:off x="658368" y="2532888"/>
            <a:ext cx="5806440"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58368" y="2532888"/>
            <a:ext cx="50292" cy="65836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2615184"/>
            <a:ext cx="548640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Legacy images cannot be checked</a:t>
            </a:r>
          </a:p>
        </p:txBody>
      </p:sp>
      <p:sp>
        <p:nvSpPr>
          <p:cNvPr id="17" name="TextBox 16"/>
          <p:cNvSpPr txBox="1"/>
          <p:nvPr/>
        </p:nvSpPr>
        <p:spPr>
          <a:xfrm>
            <a:off x="877824" y="2880360"/>
            <a:ext cx="54864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Nothing to verify against unless the image was marked before distribution.</a:t>
            </a:r>
          </a:p>
        </p:txBody>
      </p:sp>
      <p:sp>
        <p:nvSpPr>
          <p:cNvPr id="18" name="Rounded Rectangle 17"/>
          <p:cNvSpPr/>
          <p:nvPr/>
        </p:nvSpPr>
        <p:spPr>
          <a:xfrm>
            <a:off x="658368" y="3255264"/>
            <a:ext cx="5806440"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58368" y="3255264"/>
            <a:ext cx="50292" cy="65836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77824" y="3337560"/>
            <a:ext cx="548640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Recovery is approximate</a:t>
            </a:r>
          </a:p>
        </p:txBody>
      </p:sp>
      <p:sp>
        <p:nvSpPr>
          <p:cNvPr id="21" name="TextBox 20"/>
          <p:cNvSpPr txBox="1"/>
          <p:nvPr/>
        </p:nvSpPr>
        <p:spPr>
          <a:xfrm>
            <a:off x="877824" y="3602736"/>
            <a:ext cx="54864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A 96-bit descriptor is not a copy. ≈28–31 dB in-region, not pixel-exact.</a:t>
            </a:r>
          </a:p>
        </p:txBody>
      </p:sp>
      <p:sp>
        <p:nvSpPr>
          <p:cNvPr id="22" name="Rounded Rectangle 21"/>
          <p:cNvSpPr/>
          <p:nvPr/>
        </p:nvSpPr>
        <p:spPr>
          <a:xfrm>
            <a:off x="658368" y="3977639"/>
            <a:ext cx="5806440"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58368" y="3977639"/>
            <a:ext cx="50292" cy="65836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4059935"/>
            <a:ext cx="548640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Large-area tampering</a:t>
            </a:r>
          </a:p>
        </p:txBody>
      </p:sp>
      <p:sp>
        <p:nvSpPr>
          <p:cNvPr id="25" name="TextBox 24"/>
          <p:cNvSpPr txBox="1"/>
          <p:nvPr/>
        </p:nvSpPr>
        <p:spPr>
          <a:xfrm>
            <a:off x="877824" y="4325112"/>
            <a:ext cx="54864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Block and partner both destroyed ⇒ unrecoverable. ρ tracks 1 − α.</a:t>
            </a:r>
          </a:p>
        </p:txBody>
      </p:sp>
      <p:sp>
        <p:nvSpPr>
          <p:cNvPr id="26" name="Rounded Rectangle 25"/>
          <p:cNvSpPr/>
          <p:nvPr/>
        </p:nvSpPr>
        <p:spPr>
          <a:xfrm>
            <a:off x="658368" y="4700016"/>
            <a:ext cx="5806440"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58368" y="4700016"/>
            <a:ext cx="50292" cy="65836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77824" y="4782312"/>
            <a:ext cx="548640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Security is key-dependent</a:t>
            </a:r>
          </a:p>
        </p:txBody>
      </p:sp>
      <p:sp>
        <p:nvSpPr>
          <p:cNvPr id="29" name="TextBox 28"/>
          <p:cNvSpPr txBox="1"/>
          <p:nvPr/>
        </p:nvSpPr>
        <p:spPr>
          <a:xfrm>
            <a:off x="877824" y="5047488"/>
            <a:ext cx="54864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The whole guarantee rests on the key staying secret.</a:t>
            </a:r>
          </a:p>
        </p:txBody>
      </p:sp>
      <p:sp>
        <p:nvSpPr>
          <p:cNvPr id="30" name="Rounded Rectangle 29"/>
          <p:cNvSpPr/>
          <p:nvPr/>
        </p:nvSpPr>
        <p:spPr>
          <a:xfrm>
            <a:off x="658368" y="5422392"/>
            <a:ext cx="5806440"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58368" y="5422392"/>
            <a:ext cx="50292" cy="65836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77824" y="5504688"/>
            <a:ext cx="5486400"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Block-size trade-off</a:t>
            </a:r>
          </a:p>
        </p:txBody>
      </p:sp>
      <p:sp>
        <p:nvSpPr>
          <p:cNvPr id="33" name="TextBox 32"/>
          <p:cNvSpPr txBox="1"/>
          <p:nvPr/>
        </p:nvSpPr>
        <p:spPr>
          <a:xfrm>
            <a:off x="877824" y="5769864"/>
            <a:ext cx="54864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4×4 localizes better but drops the tag to 16 bits, raising false-accept to 2⁻¹⁶.</a:t>
            </a:r>
          </a:p>
        </p:txBody>
      </p:sp>
      <p:sp>
        <p:nvSpPr>
          <p:cNvPr id="34" name="TextBox 33"/>
          <p:cNvSpPr txBox="1"/>
          <p:nvPr/>
        </p:nvSpPr>
        <p:spPr>
          <a:xfrm>
            <a:off x="6720840" y="1499616"/>
            <a:ext cx="4812487" cy="274320"/>
          </a:xfrm>
          <a:prstGeom prst="rect">
            <a:avLst/>
          </a:prstGeom>
          <a:noFill/>
        </p:spPr>
        <p:txBody>
          <a:bodyPr wrap="square" anchor="t" lIns="0" rIns="0" tIns="0" bIns="0">
            <a:spAutoFit/>
          </a:bodyPr>
          <a:lstStyle/>
          <a:p>
            <a:pPr algn="l">
              <a:lnSpc>
                <a:spcPct val="100000"/>
              </a:lnSpc>
              <a:spcAft>
                <a:spcPts val="0"/>
              </a:spcAft>
            </a:pPr>
            <a:r>
              <a:rPr sz="1050" b="1" i="0">
                <a:solidFill>
                  <a:srgbClr val="109881"/>
                </a:solidFill>
                <a:latin typeface="Segoe UI"/>
              </a:rPr>
              <a:t>FUTURE SCOPE</a:t>
            </a:r>
          </a:p>
        </p:txBody>
      </p:sp>
      <p:sp>
        <p:nvSpPr>
          <p:cNvPr id="35" name="Rounded Rectangle 34"/>
          <p:cNvSpPr/>
          <p:nvPr/>
        </p:nvSpPr>
        <p:spPr>
          <a:xfrm>
            <a:off x="6720840" y="1810512"/>
            <a:ext cx="4812487" cy="86868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6720840" y="1810512"/>
            <a:ext cx="50292" cy="868680"/>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40296" y="1892807"/>
            <a:ext cx="4401007"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Reference sharing / fountain codes</a:t>
            </a:r>
          </a:p>
        </p:txBody>
      </p:sp>
      <p:sp>
        <p:nvSpPr>
          <p:cNvPr id="38" name="TextBox 37"/>
          <p:cNvSpPr txBox="1"/>
          <p:nvPr/>
        </p:nvSpPr>
        <p:spPr>
          <a:xfrm>
            <a:off x="6940296" y="2157984"/>
            <a:ext cx="4401007" cy="484632"/>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The single highest-value upgrade — it is what buys Korus &amp; Dziech their 37 dB. A rate-1/3 prototype already holds ρ = 1.000 up to a sharp cliff at α ≈ 0.64.</a:t>
            </a:r>
          </a:p>
        </p:txBody>
      </p:sp>
      <p:sp>
        <p:nvSpPr>
          <p:cNvPr id="39" name="Rounded Rectangle 38"/>
          <p:cNvSpPr/>
          <p:nvPr/>
        </p:nvSpPr>
        <p:spPr>
          <a:xfrm>
            <a:off x="6720840" y="2743200"/>
            <a:ext cx="4812487"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6720840" y="2743200"/>
            <a:ext cx="50292" cy="658368"/>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940296" y="2825496"/>
            <a:ext cx="4401007"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Hierarchical verification</a:t>
            </a:r>
          </a:p>
        </p:txBody>
      </p:sp>
      <p:sp>
        <p:nvSpPr>
          <p:cNvPr id="42" name="TextBox 41"/>
          <p:cNvSpPr txBox="1"/>
          <p:nvPr/>
        </p:nvSpPr>
        <p:spPr>
          <a:xfrm>
            <a:off x="6940296" y="3090672"/>
            <a:ext cx="4401007"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Decouple localization resolution from per-block payload (Lin et al. 2005).</a:t>
            </a:r>
          </a:p>
        </p:txBody>
      </p:sp>
      <p:sp>
        <p:nvSpPr>
          <p:cNvPr id="43" name="Rounded Rectangle 42"/>
          <p:cNvSpPr/>
          <p:nvPr/>
        </p:nvSpPr>
        <p:spPr>
          <a:xfrm>
            <a:off x="6720840" y="3465576"/>
            <a:ext cx="4812487"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6720840" y="3465576"/>
            <a:ext cx="50292" cy="658368"/>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40296" y="3547872"/>
            <a:ext cx="4401007"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Semi-fragile extension</a:t>
            </a:r>
          </a:p>
        </p:txBody>
      </p:sp>
      <p:sp>
        <p:nvSpPr>
          <p:cNvPr id="46" name="TextBox 45"/>
          <p:cNvSpPr txBox="1"/>
          <p:nvPr/>
        </p:nvSpPr>
        <p:spPr>
          <a:xfrm>
            <a:off x="6940296" y="3813048"/>
            <a:ext cx="4401007"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Tolerate a bounded, declared amount of JPEG re-compression.</a:t>
            </a:r>
          </a:p>
        </p:txBody>
      </p:sp>
      <p:sp>
        <p:nvSpPr>
          <p:cNvPr id="47" name="Rounded Rectangle 46"/>
          <p:cNvSpPr/>
          <p:nvPr/>
        </p:nvSpPr>
        <p:spPr>
          <a:xfrm>
            <a:off x="6720840" y="4187952"/>
            <a:ext cx="4812487"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6720840" y="4187952"/>
            <a:ext cx="50292" cy="658368"/>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940296" y="4270248"/>
            <a:ext cx="4401007"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Reversible embedding</a:t>
            </a:r>
          </a:p>
        </p:txBody>
      </p:sp>
      <p:sp>
        <p:nvSpPr>
          <p:cNvPr id="50" name="TextBox 49"/>
          <p:cNvSpPr txBox="1"/>
          <p:nvPr/>
        </p:nvSpPr>
        <p:spPr>
          <a:xfrm>
            <a:off x="6940296" y="4535424"/>
            <a:ext cx="4401007"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Bit-exact restoration of images that verify as authentic.</a:t>
            </a:r>
          </a:p>
        </p:txBody>
      </p:sp>
      <p:sp>
        <p:nvSpPr>
          <p:cNvPr id="51" name="Rounded Rectangle 50"/>
          <p:cNvSpPr/>
          <p:nvPr/>
        </p:nvSpPr>
        <p:spPr>
          <a:xfrm>
            <a:off x="6720840" y="4910328"/>
            <a:ext cx="4812487"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6720840" y="4910328"/>
            <a:ext cx="50292" cy="658368"/>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6940296" y="4992624"/>
            <a:ext cx="4401007"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Video and colour-space extension</a:t>
            </a:r>
          </a:p>
        </p:txBody>
      </p:sp>
      <p:sp>
        <p:nvSpPr>
          <p:cNvPr id="54" name="TextBox 53"/>
          <p:cNvSpPr txBox="1"/>
          <p:nvPr/>
        </p:nvSpPr>
        <p:spPr>
          <a:xfrm>
            <a:off x="6940296" y="5257800"/>
            <a:ext cx="4401007"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Inter-frame mapping widens the recovery-data space.</a:t>
            </a:r>
          </a:p>
        </p:txBody>
      </p:sp>
      <p:sp>
        <p:nvSpPr>
          <p:cNvPr id="55" name="Rounded Rectangle 54"/>
          <p:cNvSpPr/>
          <p:nvPr/>
        </p:nvSpPr>
        <p:spPr>
          <a:xfrm>
            <a:off x="6720840" y="5632704"/>
            <a:ext cx="4812487" cy="658368"/>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6720840" y="5632704"/>
            <a:ext cx="50292" cy="658368"/>
          </a:xfrm>
          <a:prstGeom prst="roundRect">
            <a:avLst>
              <a:gd name="adj" fmla="val 50000"/>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940296" y="5715000"/>
            <a:ext cx="4401007" cy="256032"/>
          </a:xfrm>
          <a:prstGeom prst="rect">
            <a:avLst/>
          </a:prstGeom>
          <a:noFill/>
        </p:spPr>
        <p:txBody>
          <a:bodyPr wrap="square" anchor="t" lIns="0" rIns="0" tIns="0" bIns="0">
            <a:spAutoFit/>
          </a:bodyPr>
          <a:lstStyle/>
          <a:p>
            <a:pPr algn="l">
              <a:lnSpc>
                <a:spcPct val="100000"/>
              </a:lnSpc>
              <a:spcAft>
                <a:spcPts val="0"/>
              </a:spcAft>
            </a:pPr>
            <a:r>
              <a:rPr sz="1250" b="1" i="0">
                <a:solidFill>
                  <a:srgbClr val="0F172A"/>
                </a:solidFill>
                <a:latin typeface="Segoe UI"/>
              </a:rPr>
              <a:t>Hybrid with passive forensics</a:t>
            </a:r>
          </a:p>
        </p:txBody>
      </p:sp>
      <p:sp>
        <p:nvSpPr>
          <p:cNvPr id="58" name="TextBox 57"/>
          <p:cNvSpPr txBox="1"/>
          <p:nvPr/>
        </p:nvSpPr>
        <p:spPr>
          <a:xfrm>
            <a:off x="6940296" y="5980176"/>
            <a:ext cx="4401007" cy="274320"/>
          </a:xfrm>
          <a:prstGeom prst="rect">
            <a:avLst/>
          </a:prstGeom>
          <a:noFill/>
        </p:spPr>
        <p:txBody>
          <a:bodyPr wrap="square" anchor="t" lIns="0" rIns="0" tIns="0" bIns="0">
            <a:spAutoFit/>
          </a:bodyPr>
          <a:lstStyle/>
          <a:p>
            <a:pPr algn="l">
              <a:lnSpc>
                <a:spcPct val="110000"/>
              </a:lnSpc>
              <a:spcAft>
                <a:spcPts val="0"/>
              </a:spcAft>
            </a:pPr>
            <a:r>
              <a:rPr sz="1050" b="0" i="0">
                <a:solidFill>
                  <a:srgbClr val="4B5A70"/>
                </a:solidFill>
                <a:latin typeface="Segoe UI"/>
              </a:rPr>
              <a:t>Use the exact mask as a trusted prior for unmarked images.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7724"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19695" y="320040"/>
            <a:ext cx="4023360" cy="5486400"/>
          </a:xfrm>
          <a:prstGeom prst="rect">
            <a:avLst/>
          </a:prstGeom>
          <a:noFill/>
        </p:spPr>
        <p:txBody>
          <a:bodyPr wrap="square" anchor="ctr" lIns="0" rIns="0" tIns="0" bIns="0">
            <a:spAutoFit/>
          </a:bodyPr>
          <a:lstStyle/>
          <a:p>
            <a:pPr algn="r">
              <a:lnSpc>
                <a:spcPct val="100000"/>
              </a:lnSpc>
              <a:spcAft>
                <a:spcPts val="0"/>
              </a:spcAft>
            </a:pPr>
            <a:r>
              <a:rPr sz="26000" b="1" i="0">
                <a:solidFill>
                  <a:srgbClr val="1B2C48"/>
                </a:solidFill>
                <a:latin typeface="Segoe UI"/>
              </a:rPr>
              <a:t>11</a:t>
            </a:r>
          </a:p>
        </p:txBody>
      </p:sp>
      <p:sp>
        <p:nvSpPr>
          <p:cNvPr id="5" name="TextBox 4"/>
          <p:cNvSpPr txBox="1"/>
          <p:nvPr/>
        </p:nvSpPr>
        <p:spPr>
          <a:xfrm>
            <a:off x="978407" y="2331720"/>
            <a:ext cx="6949440" cy="365760"/>
          </a:xfrm>
          <a:prstGeom prst="rect">
            <a:avLst/>
          </a:prstGeom>
          <a:noFill/>
        </p:spPr>
        <p:txBody>
          <a:bodyPr wrap="square" anchor="t" lIns="0" rIns="0" tIns="0" bIns="0">
            <a:spAutoFit/>
          </a:bodyPr>
          <a:lstStyle/>
          <a:p>
            <a:pPr algn="l">
              <a:lnSpc>
                <a:spcPct val="100000"/>
              </a:lnSpc>
              <a:spcAft>
                <a:spcPts val="0"/>
              </a:spcAft>
            </a:pPr>
            <a:r>
              <a:rPr sz="1250" b="1" i="0">
                <a:solidFill>
                  <a:srgbClr val="22D3EE"/>
                </a:solidFill>
                <a:latin typeface="Segoe UI"/>
              </a:rPr>
              <a:t>SECTION 11</a:t>
            </a:r>
          </a:p>
        </p:txBody>
      </p:sp>
      <p:sp>
        <p:nvSpPr>
          <p:cNvPr id="6" name="TextBox 5"/>
          <p:cNvSpPr txBox="1"/>
          <p:nvPr/>
        </p:nvSpPr>
        <p:spPr>
          <a:xfrm>
            <a:off x="978407" y="2743200"/>
            <a:ext cx="7680960" cy="1005840"/>
          </a:xfrm>
          <a:prstGeom prst="rect">
            <a:avLst/>
          </a:prstGeom>
          <a:noFill/>
        </p:spPr>
        <p:txBody>
          <a:bodyPr wrap="square" anchor="t" lIns="0" rIns="0" tIns="0" bIns="0">
            <a:spAutoFit/>
          </a:bodyPr>
          <a:lstStyle/>
          <a:p>
            <a:pPr algn="l">
              <a:lnSpc>
                <a:spcPct val="100000"/>
              </a:lnSpc>
              <a:spcAft>
                <a:spcPts val="0"/>
              </a:spcAft>
            </a:pPr>
            <a:r>
              <a:rPr sz="4400" b="1" i="0">
                <a:solidFill>
                  <a:srgbClr val="E6EDF6"/>
                </a:solidFill>
                <a:latin typeface="Segoe UI"/>
              </a:rPr>
              <a:t>Conclusion</a:t>
            </a:r>
          </a:p>
        </p:txBody>
      </p:sp>
      <p:sp>
        <p:nvSpPr>
          <p:cNvPr id="7" name="Rectangle 6"/>
          <p:cNvSpPr/>
          <p:nvPr/>
        </p:nvSpPr>
        <p:spPr>
          <a:xfrm>
            <a:off x="978407" y="3858768"/>
            <a:ext cx="123444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78407" y="4133087"/>
            <a:ext cx="6766560" cy="91440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What was delivered, what it costs, and what comes next.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11 · CONCLUSION</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What was built, measured and learned</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23</a:t>
            </a:r>
          </a:p>
        </p:txBody>
      </p:sp>
      <p:sp>
        <p:nvSpPr>
          <p:cNvPr id="9" name="Rounded Rectangle 8"/>
          <p:cNvSpPr/>
          <p:nvPr/>
        </p:nvSpPr>
        <p:spPr>
          <a:xfrm>
            <a:off x="658368" y="1527048"/>
            <a:ext cx="2567863"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527048"/>
            <a:ext cx="2567863" cy="502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1725472"/>
            <a:ext cx="2311831" cy="623620"/>
          </a:xfrm>
          <a:prstGeom prst="rect">
            <a:avLst/>
          </a:prstGeom>
          <a:noFill/>
        </p:spPr>
        <p:txBody>
          <a:bodyPr wrap="square" anchor="ctr" lIns="0" rIns="0" tIns="0" bIns="0">
            <a:spAutoFit/>
          </a:bodyPr>
          <a:lstStyle/>
          <a:p>
            <a:pPr algn="ctr">
              <a:lnSpc>
                <a:spcPct val="100000"/>
              </a:lnSpc>
              <a:spcAft>
                <a:spcPts val="0"/>
              </a:spcAft>
            </a:pPr>
            <a:r>
              <a:rPr sz="3200" b="1" i="0">
                <a:solidFill>
                  <a:srgbClr val="0F172A"/>
                </a:solidFill>
                <a:latin typeface="Segoe UI"/>
              </a:rPr>
              <a:t>45.49 dB</a:t>
            </a:r>
          </a:p>
        </p:txBody>
      </p:sp>
      <p:sp>
        <p:nvSpPr>
          <p:cNvPr id="12" name="TextBox 11"/>
          <p:cNvSpPr txBox="1"/>
          <p:nvPr/>
        </p:nvSpPr>
        <p:spPr>
          <a:xfrm>
            <a:off x="786384" y="2377440"/>
            <a:ext cx="2311831" cy="283464"/>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imperceptibility</a:t>
            </a:r>
          </a:p>
        </p:txBody>
      </p:sp>
      <p:sp>
        <p:nvSpPr>
          <p:cNvPr id="13" name="TextBox 12"/>
          <p:cNvSpPr txBox="1"/>
          <p:nvPr/>
        </p:nvSpPr>
        <p:spPr>
          <a:xfrm>
            <a:off x="768096" y="2646730"/>
            <a:ext cx="2348407" cy="269290"/>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SSIM ≥ 0.978 on every image</a:t>
            </a:r>
          </a:p>
        </p:txBody>
      </p:sp>
      <p:sp>
        <p:nvSpPr>
          <p:cNvPr id="14" name="Rounded Rectangle 13"/>
          <p:cNvSpPr/>
          <p:nvPr/>
        </p:nvSpPr>
        <p:spPr>
          <a:xfrm>
            <a:off x="3427399" y="1527048"/>
            <a:ext cx="2567863" cy="137160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27399" y="1527048"/>
            <a:ext cx="2567863" cy="50292"/>
          </a:xfrm>
          <a:prstGeom prst="rect">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55415" y="1719072"/>
            <a:ext cx="2311831" cy="603504"/>
          </a:xfrm>
          <a:prstGeom prst="rect">
            <a:avLst/>
          </a:prstGeom>
          <a:noFill/>
        </p:spPr>
        <p:txBody>
          <a:bodyPr wrap="square" anchor="ctr" lIns="0" rIns="0" tIns="0" bIns="0">
            <a:spAutoFit/>
          </a:bodyPr>
          <a:lstStyle/>
          <a:p>
            <a:pPr algn="ctr">
              <a:lnSpc>
                <a:spcPct val="100000"/>
              </a:lnSpc>
              <a:spcAft>
                <a:spcPts val="0"/>
              </a:spcAft>
            </a:pPr>
            <a:r>
              <a:rPr sz="4200" b="1" i="0">
                <a:solidFill>
                  <a:srgbClr val="0F172A"/>
                </a:solidFill>
                <a:latin typeface="Segoe UI"/>
              </a:rPr>
              <a:t>1.0000</a:t>
            </a:r>
          </a:p>
        </p:txBody>
      </p:sp>
      <p:sp>
        <p:nvSpPr>
          <p:cNvPr id="17" name="TextBox 16"/>
          <p:cNvSpPr txBox="1"/>
          <p:nvPr/>
        </p:nvSpPr>
        <p:spPr>
          <a:xfrm>
            <a:off x="3555415" y="2350008"/>
            <a:ext cx="2311831" cy="274320"/>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localization precision</a:t>
            </a:r>
          </a:p>
        </p:txBody>
      </p:sp>
      <p:sp>
        <p:nvSpPr>
          <p:cNvPr id="18" name="TextBox 17"/>
          <p:cNvSpPr txBox="1"/>
          <p:nvPr/>
        </p:nvSpPr>
        <p:spPr>
          <a:xfrm>
            <a:off x="3537127" y="2610612"/>
            <a:ext cx="2348407" cy="260604"/>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recall 1.000 on 3 of 4 classes</a:t>
            </a:r>
          </a:p>
        </p:txBody>
      </p:sp>
      <p:sp>
        <p:nvSpPr>
          <p:cNvPr id="19" name="Rounded Rectangle 18"/>
          <p:cNvSpPr/>
          <p:nvPr/>
        </p:nvSpPr>
        <p:spPr>
          <a:xfrm>
            <a:off x="6196431" y="1527048"/>
            <a:ext cx="2567863"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96431" y="1527048"/>
            <a:ext cx="2567863"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24447" y="1725472"/>
            <a:ext cx="2311831" cy="623620"/>
          </a:xfrm>
          <a:prstGeom prst="rect">
            <a:avLst/>
          </a:prstGeom>
          <a:noFill/>
        </p:spPr>
        <p:txBody>
          <a:bodyPr wrap="square" anchor="ctr" lIns="0" rIns="0" tIns="0" bIns="0">
            <a:spAutoFit/>
          </a:bodyPr>
          <a:lstStyle/>
          <a:p>
            <a:pPr algn="ctr">
              <a:lnSpc>
                <a:spcPct val="100000"/>
              </a:lnSpc>
              <a:spcAft>
                <a:spcPts val="0"/>
              </a:spcAft>
            </a:pPr>
            <a:r>
              <a:rPr sz="2400" b="1" i="0">
                <a:solidFill>
                  <a:srgbClr val="0F172A"/>
                </a:solidFill>
                <a:latin typeface="Segoe UI"/>
              </a:rPr>
              <a:t>28.5 / 31.1 dB</a:t>
            </a:r>
          </a:p>
        </p:txBody>
      </p:sp>
      <p:sp>
        <p:nvSpPr>
          <p:cNvPr id="22" name="TextBox 21"/>
          <p:cNvSpPr txBox="1"/>
          <p:nvPr/>
        </p:nvSpPr>
        <p:spPr>
          <a:xfrm>
            <a:off x="6324447" y="2377440"/>
            <a:ext cx="2311831" cy="283464"/>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in-region recovery</a:t>
            </a:r>
          </a:p>
        </p:txBody>
      </p:sp>
      <p:sp>
        <p:nvSpPr>
          <p:cNvPr id="23" name="TextBox 22"/>
          <p:cNvSpPr txBox="1"/>
          <p:nvPr/>
        </p:nvSpPr>
        <p:spPr>
          <a:xfrm>
            <a:off x="6306159" y="2646730"/>
            <a:ext cx="2348407" cy="269290"/>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Variant A / C, flat in α</a:t>
            </a:r>
          </a:p>
        </p:txBody>
      </p:sp>
      <p:sp>
        <p:nvSpPr>
          <p:cNvPr id="24" name="Rounded Rectangle 23"/>
          <p:cNvSpPr/>
          <p:nvPr/>
        </p:nvSpPr>
        <p:spPr>
          <a:xfrm>
            <a:off x="8965463" y="1527048"/>
            <a:ext cx="2567863" cy="1417320"/>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965463" y="1527048"/>
            <a:ext cx="2567863"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093479" y="1725472"/>
            <a:ext cx="2311831" cy="623620"/>
          </a:xfrm>
          <a:prstGeom prst="rect">
            <a:avLst/>
          </a:prstGeom>
          <a:noFill/>
        </p:spPr>
        <p:txBody>
          <a:bodyPr wrap="square" anchor="ctr" lIns="0" rIns="0" tIns="0" bIns="0">
            <a:spAutoFit/>
          </a:bodyPr>
          <a:lstStyle/>
          <a:p>
            <a:pPr algn="ctr">
              <a:lnSpc>
                <a:spcPct val="100000"/>
              </a:lnSpc>
              <a:spcAft>
                <a:spcPts val="0"/>
              </a:spcAft>
            </a:pPr>
            <a:r>
              <a:rPr sz="3200" b="1" i="0">
                <a:solidFill>
                  <a:srgbClr val="0F172A"/>
                </a:solidFill>
                <a:latin typeface="Segoe UI"/>
              </a:rPr>
              <a:t>3,232</a:t>
            </a:r>
          </a:p>
        </p:txBody>
      </p:sp>
      <p:sp>
        <p:nvSpPr>
          <p:cNvPr id="27" name="TextBox 26"/>
          <p:cNvSpPr txBox="1"/>
          <p:nvPr/>
        </p:nvSpPr>
        <p:spPr>
          <a:xfrm>
            <a:off x="9093479" y="2377440"/>
            <a:ext cx="2311831" cy="283464"/>
          </a:xfrm>
          <a:prstGeom prst="rect">
            <a:avLst/>
          </a:prstGeom>
          <a:noFill/>
        </p:spPr>
        <p:txBody>
          <a:bodyPr wrap="square" anchor="ctr" lIns="0" rIns="0" tIns="0" bIns="0">
            <a:spAutoFit/>
          </a:bodyPr>
          <a:lstStyle/>
          <a:p>
            <a:pPr algn="ctr">
              <a:lnSpc>
                <a:spcPct val="100000"/>
              </a:lnSpc>
              <a:spcAft>
                <a:spcPts val="0"/>
              </a:spcAft>
            </a:pPr>
            <a:r>
              <a:rPr sz="1200" b="1" i="0">
                <a:solidFill>
                  <a:srgbClr val="0F172A"/>
                </a:solidFill>
                <a:latin typeface="Segoe UI"/>
              </a:rPr>
              <a:t>measured runs</a:t>
            </a:r>
          </a:p>
        </p:txBody>
      </p:sp>
      <p:sp>
        <p:nvSpPr>
          <p:cNvPr id="28" name="TextBox 27"/>
          <p:cNvSpPr txBox="1"/>
          <p:nvPr/>
        </p:nvSpPr>
        <p:spPr>
          <a:xfrm>
            <a:off x="9075191" y="2646730"/>
            <a:ext cx="2348407" cy="269290"/>
          </a:xfrm>
          <a:prstGeom prst="rect">
            <a:avLst/>
          </a:prstGeom>
          <a:noFill/>
        </p:spPr>
        <p:txBody>
          <a:bodyPr wrap="square" anchor="ctr" lIns="0" rIns="0" tIns="0" bIns="0">
            <a:spAutoFit/>
          </a:bodyPr>
          <a:lstStyle/>
          <a:p>
            <a:pPr algn="ctr">
              <a:lnSpc>
                <a:spcPct val="105000"/>
              </a:lnSpc>
              <a:spcAft>
                <a:spcPts val="0"/>
              </a:spcAft>
            </a:pPr>
            <a:r>
              <a:rPr sz="950" b="0" i="0">
                <a:solidFill>
                  <a:srgbClr val="4B5A70"/>
                </a:solidFill>
                <a:latin typeface="Segoe UI"/>
              </a:rPr>
              <a:t>32-image public corpus</a:t>
            </a:r>
          </a:p>
        </p:txBody>
      </p:sp>
      <p:sp>
        <p:nvSpPr>
          <p:cNvPr id="29" name="Rounded Rectangle 28"/>
          <p:cNvSpPr/>
          <p:nvPr/>
        </p:nvSpPr>
        <p:spPr>
          <a:xfrm>
            <a:off x="658368" y="3236976"/>
            <a:ext cx="3478682" cy="162763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58368" y="3236976"/>
            <a:ext cx="68580" cy="1627632"/>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4400" y="3392424"/>
            <a:ext cx="3021482" cy="266700"/>
          </a:xfrm>
          <a:prstGeom prst="rect">
            <a:avLst/>
          </a:prstGeom>
          <a:noFill/>
        </p:spPr>
        <p:txBody>
          <a:bodyPr wrap="square" anchor="t" lIns="0" rIns="0" tIns="0" bIns="0">
            <a:spAutoFit/>
          </a:bodyPr>
          <a:lstStyle/>
          <a:p>
            <a:pPr algn="l">
              <a:lnSpc>
                <a:spcPct val="105000"/>
              </a:lnSpc>
              <a:spcAft>
                <a:spcPts val="0"/>
              </a:spcAft>
            </a:pPr>
            <a:r>
              <a:rPr sz="1450" b="1" i="0">
                <a:solidFill>
                  <a:srgbClr val="0F172A"/>
                </a:solidFill>
                <a:latin typeface="Segoe UI"/>
              </a:rPr>
              <a:t>Delivered</a:t>
            </a:r>
          </a:p>
        </p:txBody>
      </p:sp>
      <p:sp>
        <p:nvSpPr>
          <p:cNvPr id="32" name="TextBox 31"/>
          <p:cNvSpPr txBox="1"/>
          <p:nvPr/>
        </p:nvSpPr>
        <p:spPr>
          <a:xfrm>
            <a:off x="914400" y="3659124"/>
            <a:ext cx="3021482" cy="1050036"/>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A complete self-embedding pipeline — protect, detect, localize, recover — with a web application, a reproducible experiment grid, an IEEE-format paper and a deployment guide.</a:t>
            </a:r>
          </a:p>
        </p:txBody>
      </p:sp>
      <p:sp>
        <p:nvSpPr>
          <p:cNvPr id="33" name="Rounded Rectangle 32"/>
          <p:cNvSpPr/>
          <p:nvPr/>
        </p:nvSpPr>
        <p:spPr>
          <a:xfrm>
            <a:off x="4356506" y="3236976"/>
            <a:ext cx="3478682" cy="162763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4356506" y="3236976"/>
            <a:ext cx="68580" cy="1627632"/>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612538" y="3392424"/>
            <a:ext cx="3021482" cy="266700"/>
          </a:xfrm>
          <a:prstGeom prst="rect">
            <a:avLst/>
          </a:prstGeom>
          <a:noFill/>
        </p:spPr>
        <p:txBody>
          <a:bodyPr wrap="square" anchor="t" lIns="0" rIns="0" tIns="0" bIns="0">
            <a:spAutoFit/>
          </a:bodyPr>
          <a:lstStyle/>
          <a:p>
            <a:pPr algn="l">
              <a:lnSpc>
                <a:spcPct val="105000"/>
              </a:lnSpc>
              <a:spcAft>
                <a:spcPts val="0"/>
              </a:spcAft>
            </a:pPr>
            <a:r>
              <a:rPr sz="1450" b="1" i="0">
                <a:solidFill>
                  <a:srgbClr val="0F172A"/>
                </a:solidFill>
                <a:latin typeface="Segoe UI"/>
              </a:rPr>
              <a:t>Learned</a:t>
            </a:r>
          </a:p>
        </p:txBody>
      </p:sp>
      <p:sp>
        <p:nvSpPr>
          <p:cNvPr id="36" name="TextBox 35"/>
          <p:cNvSpPr txBox="1"/>
          <p:nvPr/>
        </p:nvSpPr>
        <p:spPr>
          <a:xfrm>
            <a:off x="4612538" y="3659124"/>
            <a:ext cx="3021482" cy="1050036"/>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The collapse this project set out to characterize does not exist in this design. Across seven ratios ρ is monotone, near-linear, and consistently above 1 − α.</a:t>
            </a:r>
          </a:p>
        </p:txBody>
      </p:sp>
      <p:sp>
        <p:nvSpPr>
          <p:cNvPr id="37" name="Rounded Rectangle 36"/>
          <p:cNvSpPr/>
          <p:nvPr/>
        </p:nvSpPr>
        <p:spPr>
          <a:xfrm>
            <a:off x="8054644" y="3236976"/>
            <a:ext cx="3478682" cy="1627632"/>
          </a:xfrm>
          <a:prstGeom prst="roundRect">
            <a:avLst>
              <a:gd name="adj" fmla="val 4500"/>
            </a:avLst>
          </a:prstGeom>
          <a:solidFill>
            <a:srgbClr val="F3F6FA"/>
          </a:solidFill>
          <a:ln w="12700">
            <a:solidFill>
              <a:srgbClr val="DDE4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8054644" y="3236976"/>
            <a:ext cx="68580" cy="1627632"/>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10676" y="3392424"/>
            <a:ext cx="3021482" cy="266700"/>
          </a:xfrm>
          <a:prstGeom prst="rect">
            <a:avLst/>
          </a:prstGeom>
          <a:noFill/>
        </p:spPr>
        <p:txBody>
          <a:bodyPr wrap="square" anchor="t" lIns="0" rIns="0" tIns="0" bIns="0">
            <a:spAutoFit/>
          </a:bodyPr>
          <a:lstStyle/>
          <a:p>
            <a:pPr algn="l">
              <a:lnSpc>
                <a:spcPct val="105000"/>
              </a:lnSpc>
              <a:spcAft>
                <a:spcPts val="0"/>
              </a:spcAft>
            </a:pPr>
            <a:r>
              <a:rPr sz="1450" b="1" i="0">
                <a:solidFill>
                  <a:srgbClr val="0F172A"/>
                </a:solidFill>
                <a:latin typeface="Segoe UI"/>
              </a:rPr>
              <a:t>Honest about cost</a:t>
            </a:r>
          </a:p>
        </p:txBody>
      </p:sp>
      <p:sp>
        <p:nvSpPr>
          <p:cNvPr id="40" name="TextBox 39"/>
          <p:cNvSpPr txBox="1"/>
          <p:nvPr/>
        </p:nvSpPr>
        <p:spPr>
          <a:xfrm>
            <a:off x="8310676" y="3659124"/>
            <a:ext cx="3021482" cy="1050036"/>
          </a:xfrm>
          <a:prstGeom prst="rect">
            <a:avLst/>
          </a:prstGeom>
          <a:noFill/>
        </p:spPr>
        <p:txBody>
          <a:bodyPr wrap="square" anchor="t" lIns="0" rIns="0" tIns="0" bIns="0">
            <a:spAutoFit/>
          </a:bodyPr>
          <a:lstStyle/>
          <a:p>
            <a:pPr algn="l">
              <a:lnSpc>
                <a:spcPct val="115000"/>
              </a:lnSpc>
              <a:spcAft>
                <a:spcPts val="0"/>
              </a:spcAft>
            </a:pPr>
            <a:r>
              <a:rPr sz="1150" b="0" i="0">
                <a:solidFill>
                  <a:srgbClr val="4B5A70"/>
                </a:solidFill>
                <a:latin typeface="Segoe UI"/>
              </a:rPr>
              <a:t>Fragile by construction, approximate by design, and roughly 20 dB behind a fountain-coded scheme at 50% tampering. All three are reported, none are worked around.</a:t>
            </a:r>
          </a:p>
        </p:txBody>
      </p:sp>
      <p:sp>
        <p:nvSpPr>
          <p:cNvPr id="41" name="Rounded Rectangle 40"/>
          <p:cNvSpPr/>
          <p:nvPr/>
        </p:nvSpPr>
        <p:spPr>
          <a:xfrm>
            <a:off x="658368" y="4956048"/>
            <a:ext cx="10874959" cy="868680"/>
          </a:xfrm>
          <a:prstGeom prst="roundRect">
            <a:avLst>
              <a:gd name="adj" fmla="val 5000"/>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658368" y="4956048"/>
            <a:ext cx="64008" cy="86868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50976" y="4956048"/>
            <a:ext cx="10234879" cy="868680"/>
          </a:xfrm>
          <a:prstGeom prst="rect">
            <a:avLst/>
          </a:prstGeom>
          <a:noFill/>
        </p:spPr>
        <p:txBody>
          <a:bodyPr wrap="square" anchor="ctr" lIns="0" rIns="0" tIns="0" bIns="0">
            <a:spAutoFit/>
          </a:bodyPr>
          <a:lstStyle/>
          <a:p>
            <a:pPr algn="l">
              <a:lnSpc>
                <a:spcPct val="115000"/>
              </a:lnSpc>
              <a:spcAft>
                <a:spcPts val="0"/>
              </a:spcAft>
            </a:pPr>
            <a:r>
              <a:rPr sz="1500" b="1" i="0">
                <a:solidFill>
                  <a:srgbClr val="E6EDF6"/>
                </a:solidFill>
                <a:latin typeface="Segoe UI"/>
              </a:rPr>
              <a:t>A conventional detector tells you an image is probably fake. This one names the blocks, proves the rest untouched, rebuilds what it can — and declares what it cannot.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777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02336"/>
            <a:ext cx="10874959" cy="237744"/>
          </a:xfrm>
          <a:prstGeom prst="rect">
            <a:avLst/>
          </a:prstGeom>
          <a:noFill/>
        </p:spPr>
        <p:txBody>
          <a:bodyPr wrap="square" anchor="t" lIns="0" rIns="0" tIns="0" bIns="0">
            <a:spAutoFit/>
          </a:bodyPr>
          <a:lstStyle/>
          <a:p>
            <a:pPr algn="l">
              <a:lnSpc>
                <a:spcPct val="100000"/>
              </a:lnSpc>
              <a:spcAft>
                <a:spcPts val="0"/>
              </a:spcAft>
            </a:pPr>
            <a:r>
              <a:rPr sz="1050" b="1" i="0">
                <a:solidFill>
                  <a:srgbClr val="0EA5A4"/>
                </a:solidFill>
                <a:latin typeface="Segoe UI"/>
              </a:rPr>
              <a:t>REFERENCES</a:t>
            </a:r>
          </a:p>
        </p:txBody>
      </p:sp>
      <p:sp>
        <p:nvSpPr>
          <p:cNvPr id="5" name="TextBox 4"/>
          <p:cNvSpPr txBox="1"/>
          <p:nvPr/>
        </p:nvSpPr>
        <p:spPr>
          <a:xfrm>
            <a:off x="658368" y="658368"/>
            <a:ext cx="10874959" cy="566928"/>
          </a:xfrm>
          <a:prstGeom prst="rect">
            <a:avLst/>
          </a:prstGeom>
          <a:noFill/>
        </p:spPr>
        <p:txBody>
          <a:bodyPr wrap="square" anchor="t" lIns="0" rIns="0" tIns="0" bIns="0">
            <a:spAutoFit/>
          </a:bodyPr>
          <a:lstStyle/>
          <a:p>
            <a:pPr algn="l">
              <a:lnSpc>
                <a:spcPct val="100000"/>
              </a:lnSpc>
              <a:spcAft>
                <a:spcPts val="0"/>
              </a:spcAft>
            </a:pPr>
            <a:r>
              <a:rPr sz="2900" b="1" i="0">
                <a:solidFill>
                  <a:srgbClr val="0F172A"/>
                </a:solidFill>
                <a:latin typeface="Segoe UI"/>
              </a:rPr>
              <a:t>Selected references</a:t>
            </a:r>
          </a:p>
        </p:txBody>
      </p:sp>
      <p:sp>
        <p:nvSpPr>
          <p:cNvPr id="6" name="Rectangle 5"/>
          <p:cNvSpPr/>
          <p:nvPr/>
        </p:nvSpPr>
        <p:spPr>
          <a:xfrm>
            <a:off x="658368" y="1298448"/>
            <a:ext cx="96012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6437376"/>
            <a:ext cx="7315200" cy="274320"/>
          </a:xfrm>
          <a:prstGeom prst="rect">
            <a:avLst/>
          </a:prstGeom>
          <a:noFill/>
        </p:spPr>
        <p:txBody>
          <a:bodyPr wrap="square" anchor="t" lIns="0" rIns="0" tIns="0" bIns="0">
            <a:spAutoFit/>
          </a:bodyPr>
          <a:lstStyle/>
          <a:p>
            <a:pPr algn="l">
              <a:lnSpc>
                <a:spcPct val="100000"/>
              </a:lnSpc>
              <a:spcAft>
                <a:spcPts val="0"/>
              </a:spcAft>
            </a:pPr>
            <a:r>
              <a:rPr sz="900" b="0" i="0">
                <a:solidFill>
                  <a:srgbClr val="8A97A8"/>
                </a:solidFill>
                <a:latin typeface="Segoe UI"/>
              </a:rPr>
              <a:t>Watermark-Guided Tamper Localization and Recovery</a:t>
            </a:r>
          </a:p>
        </p:txBody>
      </p:sp>
      <p:sp>
        <p:nvSpPr>
          <p:cNvPr id="8" name="TextBox 7"/>
          <p:cNvSpPr txBox="1"/>
          <p:nvPr/>
        </p:nvSpPr>
        <p:spPr>
          <a:xfrm>
            <a:off x="10436047" y="6437376"/>
            <a:ext cx="1097280" cy="274320"/>
          </a:xfrm>
          <a:prstGeom prst="rect">
            <a:avLst/>
          </a:prstGeom>
          <a:noFill/>
        </p:spPr>
        <p:txBody>
          <a:bodyPr wrap="square" anchor="t" lIns="0" rIns="0" tIns="0" bIns="0">
            <a:spAutoFit/>
          </a:bodyPr>
          <a:lstStyle/>
          <a:p>
            <a:pPr algn="r">
              <a:lnSpc>
                <a:spcPct val="100000"/>
              </a:lnSpc>
              <a:spcAft>
                <a:spcPts val="0"/>
              </a:spcAft>
            </a:pPr>
            <a:r>
              <a:rPr sz="1000" b="1" i="0">
                <a:solidFill>
                  <a:srgbClr val="8A97A8"/>
                </a:solidFill>
                <a:latin typeface="Segoe UI"/>
              </a:rPr>
              <a:t>24</a:t>
            </a:r>
          </a:p>
        </p:txBody>
      </p:sp>
      <p:sp>
        <p:nvSpPr>
          <p:cNvPr id="9" name="TextBox 8"/>
          <p:cNvSpPr txBox="1"/>
          <p:nvPr/>
        </p:nvSpPr>
        <p:spPr>
          <a:xfrm>
            <a:off x="658368" y="1527048"/>
            <a:ext cx="5231739" cy="4754880"/>
          </a:xfrm>
          <a:prstGeom prst="rect">
            <a:avLst/>
          </a:prstGeom>
          <a:noFill/>
        </p:spPr>
        <p:txBody>
          <a:bodyPr wrap="square" anchor="t" lIns="0" rIns="0" tIns="0" bIns="0">
            <a:spAutoFit/>
          </a:bodyPr>
          <a:lstStyle/>
          <a:p>
            <a:pPr algn="l">
              <a:lnSpc>
                <a:spcPct val="112000"/>
              </a:lnSpc>
              <a:spcAft>
                <a:spcPts val="600"/>
              </a:spcAft>
            </a:pPr>
            <a:r>
              <a:rPr sz="950" b="0" i="0">
                <a:solidFill>
                  <a:srgbClr val="4B5A70"/>
                </a:solidFill>
                <a:latin typeface="Segoe UI"/>
              </a:rPr>
              <a:t>[1]  J. Fridrich and M. Goljan, “Protection of digital images using self-embedding,” Proc. Symp. Content Security and Data Hiding in Digital Media, 1999.</a:t>
            </a:r>
          </a:p>
          <a:p>
            <a:pPr algn="l">
              <a:lnSpc>
                <a:spcPct val="112000"/>
              </a:lnSpc>
              <a:spcAft>
                <a:spcPts val="600"/>
              </a:spcAft>
            </a:pPr>
            <a:r>
              <a:rPr sz="950" b="0" i="0">
                <a:solidFill>
                  <a:srgbClr val="4B5A70"/>
                </a:solidFill>
                <a:latin typeface="Segoe UI"/>
              </a:rPr>
              <a:t>[2]  J. Fridrich and M. Goljan, “Images with self-correcting capabilities,” Proc. IEEE ICIP, vol. 3, 1999, pp. 792–796.</a:t>
            </a:r>
          </a:p>
          <a:p>
            <a:pPr algn="l">
              <a:lnSpc>
                <a:spcPct val="112000"/>
              </a:lnSpc>
              <a:spcAft>
                <a:spcPts val="600"/>
              </a:spcAft>
            </a:pPr>
            <a:r>
              <a:rPr sz="950" b="0" i="0">
                <a:solidFill>
                  <a:srgbClr val="4B5A70"/>
                </a:solidFill>
                <a:latin typeface="Segoe UI"/>
              </a:rPr>
              <a:t>[3]  C.-Y. Lin and S.-F. Chang, “Semi-fragile watermarking for authenticating JPEG visual content,” Proc. SPIE 3971, 2000, pp. 140–151.</a:t>
            </a:r>
          </a:p>
          <a:p>
            <a:pPr algn="l">
              <a:lnSpc>
                <a:spcPct val="112000"/>
              </a:lnSpc>
              <a:spcAft>
                <a:spcPts val="600"/>
              </a:spcAft>
            </a:pPr>
            <a:r>
              <a:rPr sz="950" b="0" i="0">
                <a:solidFill>
                  <a:srgbClr val="4B5A70"/>
                </a:solidFill>
                <a:latin typeface="Segoe UI"/>
              </a:rPr>
              <a:t>[4]  M. Holliman and N. Memon, “Counterfeiting attacks on oblivious block-wise independent invisible watermarking schemes,” IEEE TIP, vol. 9, no. 3, 2000.</a:t>
            </a:r>
          </a:p>
          <a:p>
            <a:pPr algn="l">
              <a:lnSpc>
                <a:spcPct val="112000"/>
              </a:lnSpc>
              <a:spcAft>
                <a:spcPts val="600"/>
              </a:spcAft>
            </a:pPr>
            <a:r>
              <a:rPr sz="950" b="0" i="0">
                <a:solidFill>
                  <a:srgbClr val="4B5A70"/>
                </a:solidFill>
                <a:latin typeface="Segoe UI"/>
              </a:rPr>
              <a:t>[5]  P. W. Wong and N. Memon, “Secret and public key image watermarking schemes,” IEEE TIP, vol. 10, no. 10, 2001, pp. 1593–1601.</a:t>
            </a:r>
          </a:p>
          <a:p>
            <a:pPr algn="l">
              <a:lnSpc>
                <a:spcPct val="112000"/>
              </a:lnSpc>
              <a:spcAft>
                <a:spcPts val="600"/>
              </a:spcAft>
            </a:pPr>
            <a:r>
              <a:rPr sz="950" b="0" i="0">
                <a:solidFill>
                  <a:srgbClr val="4B5A70"/>
                </a:solidFill>
                <a:latin typeface="Segoe UI"/>
              </a:rPr>
              <a:t>[6]  J. Fridrich, “Security of fragile authentication watermarks with localization,” Proc. SPIE 4675, 2002, pp. 691–700.</a:t>
            </a:r>
          </a:p>
          <a:p>
            <a:pPr algn="l">
              <a:lnSpc>
                <a:spcPct val="112000"/>
              </a:lnSpc>
              <a:spcAft>
                <a:spcPts val="600"/>
              </a:spcAft>
            </a:pPr>
            <a:r>
              <a:rPr sz="950" b="0" i="0">
                <a:solidFill>
                  <a:srgbClr val="4B5A70"/>
                </a:solidFill>
                <a:latin typeface="Segoe UI"/>
              </a:rPr>
              <a:t>[7]  C. Rey and J.-L. Dugelay, “A survey of watermarking algorithms for image authentication,” EURASIP J. Appl. Signal Process., 2002.</a:t>
            </a:r>
          </a:p>
          <a:p>
            <a:pPr algn="l">
              <a:lnSpc>
                <a:spcPct val="112000"/>
              </a:lnSpc>
              <a:spcAft>
                <a:spcPts val="600"/>
              </a:spcAft>
            </a:pPr>
            <a:r>
              <a:rPr sz="950" b="0" i="0">
                <a:solidFill>
                  <a:srgbClr val="4B5A70"/>
                </a:solidFill>
                <a:latin typeface="Segoe UI"/>
              </a:rPr>
              <a:t>[8]  P.-L. Lin, C.-K. Hsieh, and P.-W. Huang, “A hierarchical digital watermarking method for image tamper detection and recovery,” Pattern Recognit., vol. 38, no. 12, 2005.</a:t>
            </a:r>
          </a:p>
          <a:p>
            <a:pPr algn="l">
              <a:lnSpc>
                <a:spcPct val="112000"/>
              </a:lnSpc>
              <a:spcAft>
                <a:spcPts val="600"/>
              </a:spcAft>
            </a:pPr>
            <a:r>
              <a:rPr sz="950" b="0" i="0">
                <a:solidFill>
                  <a:srgbClr val="4B5A70"/>
                </a:solidFill>
                <a:latin typeface="Segoe UI"/>
              </a:rPr>
              <a:t>[9]  X. Zhang and S. Wang, “Fragile watermarking with error-free restoration capability,” IEEE Trans. Multimedia, vol. 10, no. 8, 2008.</a:t>
            </a:r>
          </a:p>
          <a:p>
            <a:pPr algn="l">
              <a:lnSpc>
                <a:spcPct val="112000"/>
              </a:lnSpc>
              <a:spcAft>
                <a:spcPts val="600"/>
              </a:spcAft>
            </a:pPr>
            <a:r>
              <a:rPr sz="950" b="0" i="0">
                <a:solidFill>
                  <a:srgbClr val="4B5A70"/>
                </a:solidFill>
                <a:latin typeface="Segoe UI"/>
              </a:rPr>
              <a:t>[10]  X. Zhang, S. Wang, Z. Qian, and G. Feng, “Reference sharing mechanism for watermark self-embedding,” IEEE TIP, vol. 20, no. 2, 2011, pp. 485–495.</a:t>
            </a:r>
          </a:p>
          <a:p>
            <a:pPr algn="l">
              <a:lnSpc>
                <a:spcPct val="112000"/>
              </a:lnSpc>
              <a:spcAft>
                <a:spcPts val="600"/>
              </a:spcAft>
            </a:pPr>
            <a:r>
              <a:rPr sz="950" b="0" i="0">
                <a:solidFill>
                  <a:srgbClr val="4B5A70"/>
                </a:solidFill>
                <a:latin typeface="Segoe UI"/>
              </a:rPr>
              <a:t>[11]  P. Korus and A. Dziech, “Efficient method for content reconstruction with self-embedding,” IEEE TIP, vol. 22, no. 3, 2013, pp. 1134–1147.</a:t>
            </a:r>
          </a:p>
        </p:txBody>
      </p:sp>
      <p:sp>
        <p:nvSpPr>
          <p:cNvPr id="10" name="TextBox 9"/>
          <p:cNvSpPr txBox="1"/>
          <p:nvPr/>
        </p:nvSpPr>
        <p:spPr>
          <a:xfrm>
            <a:off x="6301587" y="1527048"/>
            <a:ext cx="5231739" cy="4754880"/>
          </a:xfrm>
          <a:prstGeom prst="rect">
            <a:avLst/>
          </a:prstGeom>
          <a:noFill/>
        </p:spPr>
        <p:txBody>
          <a:bodyPr wrap="square" anchor="t" lIns="0" rIns="0" tIns="0" bIns="0">
            <a:spAutoFit/>
          </a:bodyPr>
          <a:lstStyle/>
          <a:p>
            <a:pPr algn="l">
              <a:lnSpc>
                <a:spcPct val="112000"/>
              </a:lnSpc>
              <a:spcAft>
                <a:spcPts val="600"/>
              </a:spcAft>
            </a:pPr>
            <a:r>
              <a:rPr sz="950" b="0" i="0">
                <a:solidFill>
                  <a:srgbClr val="4B5A70"/>
                </a:solidFill>
                <a:latin typeface="Segoe UI"/>
              </a:rPr>
              <a:t>[12]  I. J. Cox, J. Kilian, F. T. Leighton, and T. Shamoon, “Secure spread spectrum watermarking for multimedia,” IEEE TIP, vol. 6, no. 12, 1997.</a:t>
            </a:r>
          </a:p>
          <a:p>
            <a:pPr algn="l">
              <a:lnSpc>
                <a:spcPct val="112000"/>
              </a:lnSpc>
              <a:spcAft>
                <a:spcPts val="600"/>
              </a:spcAft>
            </a:pPr>
            <a:r>
              <a:rPr sz="950" b="0" i="0">
                <a:solidFill>
                  <a:srgbClr val="4B5A70"/>
                </a:solidFill>
                <a:latin typeface="Segoe UI"/>
              </a:rPr>
              <a:t>[13]  Z. Wang, A. C. Bovik, H. R. Sheikh, and E. P. Simoncelli, “Image quality assessment: from error visibility to structural similarity,” IEEE TIP, vol. 13, no. 4, 2004.</a:t>
            </a:r>
          </a:p>
          <a:p>
            <a:pPr algn="l">
              <a:lnSpc>
                <a:spcPct val="112000"/>
              </a:lnSpc>
              <a:spcAft>
                <a:spcPts val="600"/>
              </a:spcAft>
            </a:pPr>
            <a:r>
              <a:rPr sz="950" b="0" i="0">
                <a:solidFill>
                  <a:srgbClr val="4B5A70"/>
                </a:solidFill>
                <a:latin typeface="Segoe UI"/>
              </a:rPr>
              <a:t>[14]  P. Zhou, X. Han, V. I. Morariu, and L. S. Davis, “Learning rich features for image manipulation detection,” Proc. IEEE/CVF CVPR, 2018.</a:t>
            </a:r>
          </a:p>
          <a:p>
            <a:pPr algn="l">
              <a:lnSpc>
                <a:spcPct val="112000"/>
              </a:lnSpc>
              <a:spcAft>
                <a:spcPts val="600"/>
              </a:spcAft>
            </a:pPr>
            <a:r>
              <a:rPr sz="950" b="0" i="0">
                <a:solidFill>
                  <a:srgbClr val="4B5A70"/>
                </a:solidFill>
                <a:latin typeface="Segoe UI"/>
              </a:rPr>
              <a:t>[15]  Y. Wu, W. AbdAlmageed, and P. Natarajan, “ManTra-Net: manipulation tracing network,” Proc. IEEE/CVF CVPR, 2019.</a:t>
            </a:r>
          </a:p>
          <a:p>
            <a:pPr algn="l">
              <a:lnSpc>
                <a:spcPct val="112000"/>
              </a:lnSpc>
              <a:spcAft>
                <a:spcPts val="600"/>
              </a:spcAft>
            </a:pPr>
            <a:r>
              <a:rPr sz="950" b="0" i="0">
                <a:solidFill>
                  <a:srgbClr val="4B5A70"/>
                </a:solidFill>
                <a:latin typeface="Segoe UI"/>
              </a:rPr>
              <a:t>[16]  A. Aminuddin and F. Ernawan, “AuSR1: authentication and self-recovery with LSB shifting in fragile image watermarking,” J. King Saud Univ. – CIS, 2022.</a:t>
            </a:r>
          </a:p>
          <a:p>
            <a:pPr algn="l">
              <a:lnSpc>
                <a:spcPct val="112000"/>
              </a:lnSpc>
              <a:spcAft>
                <a:spcPts val="600"/>
              </a:spcAft>
            </a:pPr>
            <a:r>
              <a:rPr sz="950" b="0" i="0">
                <a:solidFill>
                  <a:srgbClr val="4B5A70"/>
                </a:solidFill>
                <a:latin typeface="Segoe UI"/>
              </a:rPr>
              <a:t>[17]  A. Aminuddin and F. Ernawan, “AuSR2: watermarking for authentication and self-recovery with texture preservation,” Comput. Electr. Eng., vol. 102, 2022.</a:t>
            </a:r>
          </a:p>
          <a:p>
            <a:pPr algn="l">
              <a:lnSpc>
                <a:spcPct val="112000"/>
              </a:lnSpc>
              <a:spcAft>
                <a:spcPts val="600"/>
              </a:spcAft>
            </a:pPr>
            <a:r>
              <a:rPr sz="950" b="0" i="0">
                <a:solidFill>
                  <a:srgbClr val="4B5A70"/>
                </a:solidFill>
                <a:latin typeface="Segoe UI"/>
              </a:rPr>
              <a:t>[18]  A. Aminuddin and F. Ernawan, “AuSR3: a new block mapping technique to avoid the tamper coincidence problem,” J. King Saud Univ. – CIS, vol. 35, no. 9, 2023.</a:t>
            </a:r>
          </a:p>
          <a:p>
            <a:pPr algn="l">
              <a:lnSpc>
                <a:spcPct val="112000"/>
              </a:lnSpc>
              <a:spcAft>
                <a:spcPts val="600"/>
              </a:spcAft>
            </a:pPr>
            <a:r>
              <a:rPr sz="950" b="0" i="0">
                <a:solidFill>
                  <a:srgbClr val="4B5A70"/>
                </a:solidFill>
                <a:latin typeface="Segoe UI"/>
              </a:rPr>
              <a:t>[19]  A. Aminuddin et al., “TCBR and TCBD: evaluation metrics for the tamper coincidence problem,” Eng. Sci. Technol. Int. J., vol. 56, 2024.</a:t>
            </a:r>
          </a:p>
          <a:p>
            <a:pPr algn="l">
              <a:lnSpc>
                <a:spcPct val="112000"/>
              </a:lnSpc>
              <a:spcAft>
                <a:spcPts val="600"/>
              </a:spcAft>
            </a:pPr>
            <a:r>
              <a:rPr sz="950" b="0" i="0">
                <a:solidFill>
                  <a:srgbClr val="4B5A70"/>
                </a:solidFill>
                <a:latin typeface="Segoe UI"/>
              </a:rPr>
              <a:t>[20]  X. Zhang, R. Li, J. Yu, Y. Xu, W. Li, and J. Zhang, “EditGuard: versatile image watermarking for tamper localization and copyright protection,” Proc. IEEE/CVF CVPR, 2024.</a:t>
            </a:r>
          </a:p>
          <a:p>
            <a:pPr algn="l">
              <a:lnSpc>
                <a:spcPct val="112000"/>
              </a:lnSpc>
              <a:spcAft>
                <a:spcPts val="600"/>
              </a:spcAft>
            </a:pPr>
            <a:r>
              <a:rPr sz="950" b="0" i="0">
                <a:solidFill>
                  <a:srgbClr val="4B5A70"/>
                </a:solidFill>
                <a:latin typeface="Segoe UI"/>
              </a:rPr>
              <a:t>[21]  Q. Wu, H. Li, M. Li, and M. Wang, “Multi-feature fragile image watermarking for tampering blind-detection and content self-recovery,” CMC, vol. 86, no. 1, 2026.</a:t>
            </a:r>
          </a:p>
          <a:p>
            <a:pPr algn="l">
              <a:lnSpc>
                <a:spcPct val="112000"/>
              </a:lnSpc>
              <a:spcAft>
                <a:spcPts val="600"/>
              </a:spcAft>
            </a:pPr>
            <a:r>
              <a:rPr sz="950" b="0" i="0">
                <a:solidFill>
                  <a:srgbClr val="4B5A70"/>
                </a:solidFill>
                <a:latin typeface="Segoe UI"/>
              </a:rPr>
              <a:t>[22]  NIST, “Secure Hash Standard (SHS),” FIPS PUB 180-4, 2015.  ·  USC-SIPI Image Database, sipi.usc.edu/database.  ·  Kodak Lossless True Color Image Suite.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42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7985455" y="0"/>
            <a:ext cx="50292" cy="6858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2331720"/>
            <a:ext cx="7132320" cy="914400"/>
          </a:xfrm>
          <a:prstGeom prst="rect">
            <a:avLst/>
          </a:prstGeom>
          <a:noFill/>
        </p:spPr>
        <p:txBody>
          <a:bodyPr wrap="square" anchor="t" lIns="0" rIns="0" tIns="0" bIns="0">
            <a:spAutoFit/>
          </a:bodyPr>
          <a:lstStyle/>
          <a:p>
            <a:pPr algn="l">
              <a:lnSpc>
                <a:spcPct val="100000"/>
              </a:lnSpc>
              <a:spcAft>
                <a:spcPts val="0"/>
              </a:spcAft>
            </a:pPr>
            <a:r>
              <a:rPr sz="5200" b="1" i="0">
                <a:solidFill>
                  <a:srgbClr val="E6EDF6"/>
                </a:solidFill>
                <a:latin typeface="Segoe UI"/>
              </a:rPr>
              <a:t>Thank you</a:t>
            </a:r>
          </a:p>
        </p:txBody>
      </p:sp>
      <p:sp>
        <p:nvSpPr>
          <p:cNvPr id="7" name="Rectangle 6"/>
          <p:cNvSpPr/>
          <p:nvPr/>
        </p:nvSpPr>
        <p:spPr>
          <a:xfrm>
            <a:off x="658368" y="3520440"/>
            <a:ext cx="1371600" cy="457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3794760"/>
            <a:ext cx="6949440" cy="731520"/>
          </a:xfrm>
          <a:prstGeom prst="rect">
            <a:avLst/>
          </a:prstGeom>
          <a:noFill/>
        </p:spPr>
        <p:txBody>
          <a:bodyPr wrap="square" anchor="t" lIns="0" rIns="0" tIns="0" bIns="0">
            <a:spAutoFit/>
          </a:bodyPr>
          <a:lstStyle/>
          <a:p>
            <a:pPr algn="l">
              <a:lnSpc>
                <a:spcPct val="125000"/>
              </a:lnSpc>
              <a:spcAft>
                <a:spcPts val="0"/>
              </a:spcAft>
            </a:pPr>
            <a:r>
              <a:rPr sz="1400" b="0" i="0">
                <a:solidFill>
                  <a:srgbClr val="9FB2CA"/>
                </a:solidFill>
                <a:latin typeface="Segoe UI"/>
              </a:rPr>
              <a:t>Questions and discussion — a live demonstration is available: upload an image, tamper it, and watch the system name the damage and repair it.</a:t>
            </a:r>
          </a:p>
        </p:txBody>
      </p:sp>
      <p:sp>
        <p:nvSpPr>
          <p:cNvPr id="9" name="TextBox 8"/>
          <p:cNvSpPr txBox="1"/>
          <p:nvPr/>
        </p:nvSpPr>
        <p:spPr>
          <a:xfrm>
            <a:off x="658368" y="5120640"/>
            <a:ext cx="6949440" cy="822960"/>
          </a:xfrm>
          <a:prstGeom prst="rect">
            <a:avLst/>
          </a:prstGeom>
          <a:noFill/>
        </p:spPr>
        <p:txBody>
          <a:bodyPr wrap="square" anchor="t" lIns="0" rIns="0" tIns="0" bIns="0">
            <a:spAutoFit/>
          </a:bodyPr>
          <a:lstStyle/>
          <a:p>
            <a:pPr algn="l">
              <a:lnSpc>
                <a:spcPct val="130000"/>
              </a:lnSpc>
              <a:spcAft>
                <a:spcPts val="0"/>
              </a:spcAft>
            </a:pPr>
            <a:r>
              <a:rPr sz="1100" b="0" i="0">
                <a:solidFill>
                  <a:srgbClr val="8A97A8"/>
                </a:solidFill>
                <a:latin typeface="Segoe UI"/>
              </a:rPr>
              <a:t>[Student Name 1]  ·  [Student Name 2]  ·  [Student Name 3]  ·  [Student Name 4]
Guide: [Guide Name, Designation]
Department of Computer Science &amp; Engineering / Information Technology, Ajeenkya D Y Patil School of Engineering, Charholi Bk., Pune</a:t>
            </a:r>
          </a:p>
        </p:txBody>
      </p:sp>
      <p:sp>
        <p:nvSpPr>
          <p:cNvPr id="10" name="TextBox 9"/>
          <p:cNvSpPr txBox="1"/>
          <p:nvPr/>
        </p:nvSpPr>
        <p:spPr>
          <a:xfrm>
            <a:off x="8396935" y="2377440"/>
            <a:ext cx="3291840" cy="320040"/>
          </a:xfrm>
          <a:prstGeom prst="rect">
            <a:avLst/>
          </a:prstGeom>
          <a:noFill/>
        </p:spPr>
        <p:txBody>
          <a:bodyPr wrap="square" anchor="t" lIns="0" rIns="0" tIns="0" bIns="0">
            <a:spAutoFit/>
          </a:bodyPr>
          <a:lstStyle/>
          <a:p>
            <a:pPr algn="l">
              <a:lnSpc>
                <a:spcPct val="100000"/>
              </a:lnSpc>
              <a:spcAft>
                <a:spcPts val="0"/>
              </a:spcAft>
            </a:pPr>
            <a:r>
              <a:rPr sz="2000" b="1" i="0">
                <a:solidFill>
                  <a:srgbClr val="22D3EE"/>
                </a:solidFill>
                <a:latin typeface="Segoe UI"/>
              </a:rPr>
              <a:t>Protect</a:t>
            </a:r>
          </a:p>
        </p:txBody>
      </p:sp>
      <p:sp>
        <p:nvSpPr>
          <p:cNvPr id="11" name="TextBox 10"/>
          <p:cNvSpPr txBox="1"/>
          <p:nvPr/>
        </p:nvSpPr>
        <p:spPr>
          <a:xfrm>
            <a:off x="8396935" y="2724912"/>
            <a:ext cx="3291840" cy="274320"/>
          </a:xfrm>
          <a:prstGeom prst="rect">
            <a:avLst/>
          </a:prstGeom>
          <a:noFill/>
        </p:spPr>
        <p:txBody>
          <a:bodyPr wrap="square" anchor="t" lIns="0" rIns="0" tIns="0" bIns="0">
            <a:spAutoFit/>
          </a:bodyPr>
          <a:lstStyle/>
          <a:p>
            <a:pPr algn="l">
              <a:lnSpc>
                <a:spcPct val="100000"/>
              </a:lnSpc>
              <a:spcAft>
                <a:spcPts val="0"/>
              </a:spcAft>
            </a:pPr>
            <a:r>
              <a:rPr sz="1100" b="0" i="0">
                <a:solidFill>
                  <a:srgbClr val="9FB2CA"/>
                </a:solidFill>
                <a:latin typeface="Segoe UI"/>
              </a:rPr>
              <a:t>embed in seconds</a:t>
            </a:r>
          </a:p>
        </p:txBody>
      </p:sp>
      <p:sp>
        <p:nvSpPr>
          <p:cNvPr id="12" name="TextBox 11"/>
          <p:cNvSpPr txBox="1"/>
          <p:nvPr/>
        </p:nvSpPr>
        <p:spPr>
          <a:xfrm>
            <a:off x="8396935" y="3337560"/>
            <a:ext cx="3291840" cy="320040"/>
          </a:xfrm>
          <a:prstGeom prst="rect">
            <a:avLst/>
          </a:prstGeom>
          <a:noFill/>
        </p:spPr>
        <p:txBody>
          <a:bodyPr wrap="square" anchor="t" lIns="0" rIns="0" tIns="0" bIns="0">
            <a:spAutoFit/>
          </a:bodyPr>
          <a:lstStyle/>
          <a:p>
            <a:pPr algn="l">
              <a:lnSpc>
                <a:spcPct val="100000"/>
              </a:lnSpc>
              <a:spcAft>
                <a:spcPts val="0"/>
              </a:spcAft>
            </a:pPr>
            <a:r>
              <a:rPr sz="2000" b="1" i="0">
                <a:solidFill>
                  <a:srgbClr val="22D3EE"/>
                </a:solidFill>
                <a:latin typeface="Segoe UI"/>
              </a:rPr>
              <a:t>Verify</a:t>
            </a:r>
          </a:p>
        </p:txBody>
      </p:sp>
      <p:sp>
        <p:nvSpPr>
          <p:cNvPr id="13" name="TextBox 12"/>
          <p:cNvSpPr txBox="1"/>
          <p:nvPr/>
        </p:nvSpPr>
        <p:spPr>
          <a:xfrm>
            <a:off x="8396935" y="3685032"/>
            <a:ext cx="3291840" cy="274320"/>
          </a:xfrm>
          <a:prstGeom prst="rect">
            <a:avLst/>
          </a:prstGeom>
          <a:noFill/>
        </p:spPr>
        <p:txBody>
          <a:bodyPr wrap="square" anchor="t" lIns="0" rIns="0" tIns="0" bIns="0">
            <a:spAutoFit/>
          </a:bodyPr>
          <a:lstStyle/>
          <a:p>
            <a:pPr algn="l">
              <a:lnSpc>
                <a:spcPct val="100000"/>
              </a:lnSpc>
              <a:spcAft>
                <a:spcPts val="0"/>
              </a:spcAft>
            </a:pPr>
            <a:r>
              <a:rPr sz="1100" b="0" i="0">
                <a:solidFill>
                  <a:srgbClr val="9FB2CA"/>
                </a:solidFill>
                <a:latin typeface="Segoe UI"/>
              </a:rPr>
              <a:t>block-exact mask</a:t>
            </a:r>
          </a:p>
        </p:txBody>
      </p:sp>
      <p:sp>
        <p:nvSpPr>
          <p:cNvPr id="14" name="TextBox 13"/>
          <p:cNvSpPr txBox="1"/>
          <p:nvPr/>
        </p:nvSpPr>
        <p:spPr>
          <a:xfrm>
            <a:off x="8396935" y="4297680"/>
            <a:ext cx="3291840" cy="320040"/>
          </a:xfrm>
          <a:prstGeom prst="rect">
            <a:avLst/>
          </a:prstGeom>
          <a:noFill/>
        </p:spPr>
        <p:txBody>
          <a:bodyPr wrap="square" anchor="t" lIns="0" rIns="0" tIns="0" bIns="0">
            <a:spAutoFit/>
          </a:bodyPr>
          <a:lstStyle/>
          <a:p>
            <a:pPr algn="l">
              <a:lnSpc>
                <a:spcPct val="100000"/>
              </a:lnSpc>
              <a:spcAft>
                <a:spcPts val="0"/>
              </a:spcAft>
            </a:pPr>
            <a:r>
              <a:rPr sz="2000" b="1" i="0">
                <a:solidFill>
                  <a:srgbClr val="22D3EE"/>
                </a:solidFill>
                <a:latin typeface="Segoe UI"/>
              </a:rPr>
              <a:t>Recover</a:t>
            </a:r>
          </a:p>
        </p:txBody>
      </p:sp>
      <p:sp>
        <p:nvSpPr>
          <p:cNvPr id="15" name="TextBox 14"/>
          <p:cNvSpPr txBox="1"/>
          <p:nvPr/>
        </p:nvSpPr>
        <p:spPr>
          <a:xfrm>
            <a:off x="8396935" y="4645152"/>
            <a:ext cx="3291840" cy="274320"/>
          </a:xfrm>
          <a:prstGeom prst="rect">
            <a:avLst/>
          </a:prstGeom>
          <a:noFill/>
        </p:spPr>
        <p:txBody>
          <a:bodyPr wrap="square" anchor="t" lIns="0" rIns="0" tIns="0" bIns="0">
            <a:spAutoFit/>
          </a:bodyPr>
          <a:lstStyle/>
          <a:p>
            <a:pPr algn="l">
              <a:lnSpc>
                <a:spcPct val="100000"/>
              </a:lnSpc>
              <a:spcAft>
                <a:spcPts val="0"/>
              </a:spcAft>
            </a:pPr>
            <a:r>
              <a:rPr sz="1100" b="0" i="0">
                <a:solidFill>
                  <a:srgbClr val="9FB2CA"/>
                </a:solidFill>
                <a:latin typeface="Segoe UI"/>
              </a:rPr>
              <a:t>rebuild or declare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